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8439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82296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WEEK 2 SESSION 3 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(ER) Diagrams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A0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data structures that power real-world applications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B8E0"/>
                </a:solidFill>
              </a:rPr>
              <a:t>Trainer Name: Prachi Kabra  |  Duration: 1 Hour</a:t>
            </a:r>
            <a:endParaRPr lang="en-US" sz="11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0CCBEB1-5448-C390-0100-180FAA6D79DF}"/>
              </a:ext>
            </a:extLst>
          </p:cNvPr>
          <p:cNvSpPr/>
          <p:nvPr/>
        </p:nvSpPr>
        <p:spPr>
          <a:xfrm>
            <a:off x="724487" y="1190478"/>
            <a:ext cx="27748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</a:rPr>
              <a:t>Enterprise Data Engineering, Analytics &amp; AI 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</a:rPr>
              <a:t>SESSION AGENDA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804672"/>
          </a:xfrm>
          <a:prstGeom prst="rect">
            <a:avLst/>
          </a:prstGeom>
          <a:solidFill>
            <a:srgbClr val="EEF4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73152" cy="8046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91440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78408" y="9875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What is an ER Diagram?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31673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Foundation &amp; Purpose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411480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20240"/>
            <a:ext cx="73152" cy="8046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192024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78408" y="19933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Core Building Blocks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78408" y="232257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Entities, Attributes, Relationships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114800" cy="804672"/>
          </a:xfrm>
          <a:prstGeom prst="rect">
            <a:avLst/>
          </a:prstGeom>
          <a:solidFill>
            <a:srgbClr val="EEF4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26080"/>
            <a:ext cx="73152" cy="8046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" y="292608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78408" y="29992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Keys &amp; Identifiers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8408" y="332841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Primary, Foreign &amp; Composite Keys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931920"/>
            <a:ext cx="411480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931920"/>
            <a:ext cx="73152" cy="8046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" y="393192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78408" y="40050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Relationship Types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8408" y="433425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One-to-One, Many-to-One, One-to-Many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914400"/>
            <a:ext cx="4114800" cy="804672"/>
          </a:xfrm>
          <a:prstGeom prst="rect">
            <a:avLst/>
          </a:prstGeom>
          <a:solidFill>
            <a:srgbClr val="EEF4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14400"/>
            <a:ext cx="73152" cy="8046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91440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13248" y="9875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Cardinality &amp; Notation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13248" y="131673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Crow's Foot, Chen, Min-Max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920240"/>
            <a:ext cx="411480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920240"/>
            <a:ext cx="73152" cy="8046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4919472" y="192024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413248" y="19933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Designing for Applications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13248" y="232257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Real-World Modeling Best Practices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926080"/>
            <a:ext cx="4114800" cy="804672"/>
          </a:xfrm>
          <a:prstGeom prst="rect">
            <a:avLst/>
          </a:prstGeom>
          <a:solidFill>
            <a:srgbClr val="EEF4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926080"/>
            <a:ext cx="73152" cy="8046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4919472" y="292608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413248" y="29992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Common Mistakes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13248" y="332841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Pitfalls &amp; How to Avoid Them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931920"/>
            <a:ext cx="411480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931920"/>
            <a:ext cx="73152" cy="8046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4919472" y="393192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413248" y="40050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Draw.io Lab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13248" y="433425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Hands-on ER Design Exercise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</a:rPr>
              <a:t>WHAT IS AN ER DIAGRAM?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914400"/>
          </a:xfrm>
          <a:prstGeom prst="rect">
            <a:avLst/>
          </a:prstGeom>
          <a:solidFill>
            <a:srgbClr val="EEF4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6868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3B82F6"/>
                </a:solidFill>
              </a:rPr>
              <a:t>Definition: </a:t>
            </a:r>
            <a:r>
              <a:rPr lang="en-US" sz="1350" dirty="0">
                <a:solidFill>
                  <a:srgbClr val="1E293B"/>
                </a:solidFill>
              </a:rPr>
              <a:t>An Entity-Relationship (ER) diagram is a visual blueprint of a database that shows how data entities relate to each other — used by data engineers, architects, and developers to design efficient, scalable databases.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1965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920240"/>
            <a:ext cx="19659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20574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7249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6E"/>
                </a:solidFill>
              </a:rPr>
              <a:t>Visual Blueprint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163824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Shows the structure before a single line of SQL is written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1920240"/>
            <a:ext cx="1965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920240"/>
            <a:ext cx="19659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20574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60320" y="27249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6E"/>
                </a:solidFill>
              </a:rPr>
              <a:t>Relationships First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3163824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Forces you to think about how data connects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1920240"/>
            <a:ext cx="1965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920240"/>
            <a:ext cx="19659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0574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09160" y="27249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6E"/>
                </a:solidFill>
              </a:rPr>
              <a:t>Universal Language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3163824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Used across industries — banking, healthcare, e-commerce, logistics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66560" y="1920240"/>
            <a:ext cx="1965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1920240"/>
            <a:ext cx="19659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20574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58000" y="27249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6E"/>
                </a:solidFill>
              </a:rPr>
              <a:t>Design Tool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3163824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Translates directly into table schemas and foreign key constraints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400E"/>
                </a:solidFill>
              </a:rPr>
              <a:t>💡  Analogy: Think of an ER diagram like an architectural floor plan — you wouldn't build a house without one!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</a:rPr>
              <a:t>CORE BUILDING BLOCKS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560320" cy="411480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56032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22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ENTITY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286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3A6E"/>
                </a:solidFill>
              </a:rPr>
              <a:t>A real-world object or concept
</a:t>
            </a:r>
            <a:r>
              <a:rPr lang="en-US" sz="1100" dirty="0">
                <a:solidFill>
                  <a:srgbClr val="1E293B"/>
                </a:solidFill>
              </a:rPr>
              <a:t>Represented as a </a:t>
            </a:r>
            <a:r>
              <a:rPr lang="en-US" sz="1100" b="1" dirty="0">
                <a:solidFill>
                  <a:srgbClr val="3B82F6"/>
                </a:solidFill>
              </a:rPr>
              <a:t>rectangle</a:t>
            </a:r>
            <a:r>
              <a:rPr lang="en-US" sz="1100" dirty="0">
                <a:solidFill>
                  <a:srgbClr val="1E293B"/>
                </a:solidFill>
              </a:rPr>
              <a:t> in ER diagrams
</a:t>
            </a:r>
            <a:r>
              <a:rPr lang="en-US" sz="1100" b="1" dirty="0">
                <a:solidFill>
                  <a:srgbClr val="1E3A6E"/>
                </a:solidFill>
              </a:rPr>
              <a:t>Examples:
</a:t>
            </a:r>
            <a:r>
              <a:rPr lang="en-US" sz="1100" dirty="0">
                <a:solidFill>
                  <a:srgbClr val="1E293B"/>
                </a:solidFill>
              </a:rPr>
              <a:t>• Customer
• Product
• Order
• Employee
• Department
</a:t>
            </a:r>
            <a:r>
              <a:rPr lang="en-US" sz="1100" b="1" dirty="0">
                <a:solidFill>
                  <a:srgbClr val="1E3A6E"/>
                </a:solidFill>
              </a:rPr>
              <a:t>Rule: </a:t>
            </a:r>
            <a:r>
              <a:rPr lang="en-US" sz="1100" dirty="0">
                <a:solidFill>
                  <a:srgbClr val="1E293B"/>
                </a:solidFill>
              </a:rPr>
              <a:t>Entities become tables in your database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822960"/>
            <a:ext cx="2560320" cy="411480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822960"/>
            <a:ext cx="256032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822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ATTRIBUTE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371600"/>
            <a:ext cx="2286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65F46"/>
                </a:solidFill>
              </a:rPr>
              <a:t>Properties that describe an entity
</a:t>
            </a:r>
            <a:r>
              <a:rPr lang="en-US" sz="1100" dirty="0">
                <a:solidFill>
                  <a:srgbClr val="1E293B"/>
                </a:solidFill>
              </a:rPr>
              <a:t>Represented as an </a:t>
            </a:r>
            <a:r>
              <a:rPr lang="en-US" sz="1100" b="1" dirty="0">
                <a:solidFill>
                  <a:srgbClr val="059669"/>
                </a:solidFill>
              </a:rPr>
              <a:t>oval/ellipse</a:t>
            </a:r>
            <a:r>
              <a:rPr lang="en-US" sz="1100" dirty="0">
                <a:solidFill>
                  <a:srgbClr val="1E293B"/>
                </a:solidFill>
              </a:rPr>
              <a:t>
</a:t>
            </a:r>
            <a:r>
              <a:rPr lang="en-US" sz="1100" b="1" dirty="0">
                <a:solidFill>
                  <a:srgbClr val="065F46"/>
                </a:solidFill>
              </a:rPr>
              <a:t>Types:
</a:t>
            </a:r>
            <a:r>
              <a:rPr lang="en-US" sz="1100" dirty="0">
                <a:solidFill>
                  <a:srgbClr val="1E293B"/>
                </a:solidFill>
              </a:rPr>
              <a:t>• Simple: CustomerName
• Composite: FullAddress
• Derived: Age (from DOB)
• Multi-valued: PhoneNumbers
</a:t>
            </a:r>
            <a:r>
              <a:rPr lang="en-US" sz="1100" b="1" dirty="0">
                <a:solidFill>
                  <a:srgbClr val="065F46"/>
                </a:solidFill>
              </a:rPr>
              <a:t>Rule: </a:t>
            </a:r>
            <a:r>
              <a:rPr lang="en-US" sz="1100" dirty="0">
                <a:solidFill>
                  <a:srgbClr val="1E293B"/>
                </a:solidFill>
              </a:rPr>
              <a:t>Attributes become columns in a table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822960"/>
            <a:ext cx="2560320" cy="411480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822960"/>
            <a:ext cx="256032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822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RELATIONSHIP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1371600"/>
            <a:ext cx="2286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2400E"/>
                </a:solidFill>
              </a:rPr>
              <a:t>How entities are connected
</a:t>
            </a:r>
            <a:r>
              <a:rPr lang="en-US" sz="1100" dirty="0">
                <a:solidFill>
                  <a:srgbClr val="1E293B"/>
                </a:solidFill>
              </a:rPr>
              <a:t>Represented as a </a:t>
            </a:r>
            <a:r>
              <a:rPr lang="en-US" sz="1100" b="1" dirty="0">
                <a:solidFill>
                  <a:srgbClr val="D97706"/>
                </a:solidFill>
              </a:rPr>
              <a:t>diamond/rhombus</a:t>
            </a:r>
            <a:r>
              <a:rPr lang="en-US" sz="1100" dirty="0">
                <a:solidFill>
                  <a:srgbClr val="1E293B"/>
                </a:solidFill>
              </a:rPr>
              <a:t>
</a:t>
            </a:r>
            <a:r>
              <a:rPr lang="en-US" sz="1100" b="1" dirty="0">
                <a:solidFill>
                  <a:srgbClr val="92400E"/>
                </a:solidFill>
              </a:rPr>
              <a:t>Examples:
</a:t>
            </a:r>
            <a:r>
              <a:rPr lang="en-US" sz="1100" dirty="0">
                <a:solidFill>
                  <a:srgbClr val="1E293B"/>
                </a:solidFill>
              </a:rPr>
              <a:t>• Customer PLACES Order
• Employee MANAGES Dept
• Product BELONGS_TO Category
• Student ENROLLS_IN Course
</a:t>
            </a:r>
            <a:r>
              <a:rPr lang="en-US" sz="1100" b="1" dirty="0">
                <a:solidFill>
                  <a:srgbClr val="92400E"/>
                </a:solidFill>
              </a:rPr>
              <a:t>Rule: </a:t>
            </a:r>
            <a:r>
              <a:rPr lang="en-US" sz="1100" dirty="0">
                <a:solidFill>
                  <a:srgbClr val="1E293B"/>
                </a:solidFill>
              </a:rPr>
              <a:t>Relationships become foreign keys or junction tables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</a:rPr>
              <a:t>KEYS &amp; IDENTIFIERS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Keys uniquely identify records and establish relationships between tables.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850392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91440" cy="11155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Primary Key (PK)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Uniquely identifies every row in a table. Cannot be NULL or duplicate.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31920" y="137160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B82F6"/>
                </a:solidFill>
              </a:rPr>
              <a:t>Rules: </a:t>
            </a:r>
            <a:r>
              <a:rPr lang="en-US" sz="1000" dirty="0">
                <a:solidFill>
                  <a:srgbClr val="1E293B"/>
                </a:solidFill>
              </a:rPr>
              <a:t>Must be unique across all rows  •  Must never be NULL  •  Should be stable — avoid using changeable values  •  Ideally a single column (simple key)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0" y="195681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Example: </a:t>
            </a:r>
            <a:r>
              <a:rPr lang="en-US" sz="1000" i="1" dirty="0">
                <a:solidFill>
                  <a:srgbClr val="1E293B"/>
                </a:solidFill>
              </a:rPr>
              <a:t>CustomerID, OrderID, ProductID, EmployeeID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532888"/>
            <a:ext cx="8503920" cy="1115568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532888"/>
            <a:ext cx="91440" cy="11155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Foreign Key (FK)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88036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A column that references the Primary Key of another table. Enforces referential integrity.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931920" y="260604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59669"/>
                </a:solidFill>
              </a:rPr>
              <a:t>Rules: </a:t>
            </a:r>
            <a:r>
              <a:rPr lang="en-US" sz="1000" dirty="0">
                <a:solidFill>
                  <a:srgbClr val="1E293B"/>
                </a:solidFill>
              </a:rPr>
              <a:t>Must match a valid PK in the referenced table  •  Can be NULL (optional relationship)  •  Enables JOINs between tables  •  Prevents orphaned records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319125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Example: </a:t>
            </a:r>
            <a:r>
              <a:rPr lang="en-US" sz="1000" i="1" dirty="0">
                <a:solidFill>
                  <a:srgbClr val="1E293B"/>
                </a:solidFill>
              </a:rPr>
              <a:t>Orders.CustomerID → Customers.CustomerID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767328"/>
            <a:ext cx="8503920" cy="1115568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767328"/>
            <a:ext cx="91440" cy="11155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840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Composite Key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A Primary Key made up of two or more columns. Used when no single column is unique enough.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31920" y="384048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97706"/>
                </a:solidFill>
              </a:rPr>
              <a:t>Rules: </a:t>
            </a:r>
            <a:r>
              <a:rPr lang="en-US" sz="1000" dirty="0">
                <a:solidFill>
                  <a:srgbClr val="1E293B"/>
                </a:solidFill>
              </a:rPr>
              <a:t>Combination of columns must be unique  •  Common in junction/bridge tables  •  More complex to reference as FK  •  Avoid when a surrogate key works better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31920" y="442569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Example: </a:t>
            </a:r>
            <a:r>
              <a:rPr lang="en-US" sz="1000" i="1" dirty="0">
                <a:solidFill>
                  <a:srgbClr val="1E293B"/>
                </a:solidFill>
              </a:rPr>
              <a:t>Enrollment(StudentID + CourseID), OrderItem(OrderID + ProductID)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910328"/>
            <a:ext cx="845820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88289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🔑  Natural Key: Uses existing business data (Email, SSN)  |  Surrogate Key: System-generated (AUTO_INCREMENT, UUID) — preferred in practice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</a:rPr>
              <a:t>RELATIONSHIP TYPES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206240" cy="205740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20624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804672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One-to-One (1:1)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243584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Each record in Table A relates to exactly ONE record in Table B, and vice versa.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9768" y="164592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e.g. </a:t>
            </a:r>
            <a:r>
              <a:rPr lang="en-US" sz="1000" i="1" dirty="0">
                <a:solidFill>
                  <a:srgbClr val="1E293B"/>
                </a:solidFill>
              </a:rPr>
              <a:t>Person ↔ Passport  |  Employee ↔ Company Car  |  Country ↔ Capital City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938528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3B82F6"/>
                </a:solidFill>
              </a:rPr>
              <a:t>Implementation: </a:t>
            </a:r>
            <a:r>
              <a:rPr lang="en-US" sz="950" dirty="0">
                <a:solidFill>
                  <a:srgbClr val="1E293B"/>
                </a:solidFill>
              </a:rPr>
              <a:t>FK in either table (usually the weaker entity) with UNIQUE constraint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2304288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3B82F6"/>
                </a:solidFill>
              </a:rPr>
              <a:t>Use when: </a:t>
            </a:r>
            <a:r>
              <a:rPr lang="en-US" sz="950" i="1" dirty="0">
                <a:solidFill>
                  <a:srgbClr val="64748B"/>
                </a:solidFill>
              </a:rPr>
              <a:t>Use when splitting a large table for performance or security (e.g., user + user_credentials)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804672"/>
            <a:ext cx="4206240" cy="205740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04672"/>
            <a:ext cx="4206240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804672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Many-to-One (N:1)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1243584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Multiple records in Table A relate to ONE record in Table B (reading from A to B).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64608" y="164592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e.g. </a:t>
            </a:r>
            <a:r>
              <a:rPr lang="en-US" sz="1000" i="1" dirty="0">
                <a:solidFill>
                  <a:srgbClr val="1E293B"/>
                </a:solidFill>
              </a:rPr>
              <a:t>Employees → Department  |  Orders → Customer  |  Products → Category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64608" y="1938528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59669"/>
                </a:solidFill>
              </a:rPr>
              <a:t>Implementation: </a:t>
            </a:r>
            <a:r>
              <a:rPr lang="en-US" sz="950" dirty="0">
                <a:solidFill>
                  <a:srgbClr val="1E293B"/>
                </a:solidFill>
              </a:rPr>
              <a:t>FK in the 'Many' side table pointing to the 'One' side PK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64608" y="2304288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59669"/>
                </a:solidFill>
              </a:rPr>
              <a:t>Use when: </a:t>
            </a:r>
            <a:r>
              <a:rPr lang="en-US" sz="950" i="1" dirty="0">
                <a:solidFill>
                  <a:srgbClr val="64748B"/>
                </a:solidFill>
              </a:rPr>
              <a:t>Most common type — whenever multiple items share a single parent or owner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980944"/>
            <a:ext cx="4206240" cy="205740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80944"/>
            <a:ext cx="420624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" y="2980944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One-to-Many (1:N)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9768" y="3419856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ONE record in Table A relates to MANY records in Table B (the flip of N:1).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" y="382219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e.g. </a:t>
            </a:r>
            <a:r>
              <a:rPr lang="en-US" sz="1000" i="1" dirty="0">
                <a:solidFill>
                  <a:srgbClr val="1E293B"/>
                </a:solidFill>
              </a:rPr>
              <a:t>Customer → Orders  |  Department → Employees  |  Category → Products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" y="411480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D97706"/>
                </a:solidFill>
              </a:rPr>
              <a:t>Implementation: </a:t>
            </a:r>
            <a:r>
              <a:rPr lang="en-US" sz="950" dirty="0">
                <a:solidFill>
                  <a:srgbClr val="1E293B"/>
                </a:solidFill>
              </a:rPr>
              <a:t>FK in the 'Many' side table (same as N:1 — it's just perspective!)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9768" y="4480560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D97706"/>
                </a:solidFill>
              </a:rPr>
              <a:t>Use when: </a:t>
            </a:r>
            <a:r>
              <a:rPr lang="en-US" sz="950" i="1" dirty="0">
                <a:solidFill>
                  <a:srgbClr val="64748B"/>
                </a:solidFill>
              </a:rPr>
              <a:t>Modelling parent-child relationships; hierarchy structures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980944"/>
            <a:ext cx="4206240" cy="20574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980944"/>
            <a:ext cx="42062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2980944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Many-to-Many (N:M)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64608" y="3419856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Multiple records in Table A relate to MULTIPLE records in Table B.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64608" y="382219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e.g. </a:t>
            </a:r>
            <a:r>
              <a:rPr lang="en-US" sz="1000" i="1" dirty="0">
                <a:solidFill>
                  <a:srgbClr val="1E293B"/>
                </a:solidFill>
              </a:rPr>
              <a:t>Students ↔ Courses  |  Orders ↔ Products  |  Actors ↔ Movies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64608" y="411480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DC2626"/>
                </a:solidFill>
              </a:rPr>
              <a:t>Implementation: </a:t>
            </a:r>
            <a:r>
              <a:rPr lang="en-US" sz="950" dirty="0">
                <a:solidFill>
                  <a:srgbClr val="1E293B"/>
                </a:solidFill>
              </a:rPr>
              <a:t>Requires a JUNCTION TABLE with FKs to both tables (e.g., Enrollment, OrderItem)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64608" y="4480560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DC2626"/>
                </a:solidFill>
              </a:rPr>
              <a:t>Use when: </a:t>
            </a:r>
            <a:r>
              <a:rPr lang="en-US" sz="950" i="1" dirty="0">
                <a:solidFill>
                  <a:srgbClr val="64748B"/>
                </a:solidFill>
              </a:rPr>
              <a:t>Any time both entities can have multiple associations with the other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</a:rPr>
              <a:t>CARDINALITY &amp; CROW'S FOOT NOTATION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</a:rPr>
              <a:t>Cardinality defines how many instances of one entity relate to another. The most widely used notation in industry is Crow's Foot.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07008"/>
          <a:ext cx="8503920" cy="26060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Business Example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 SQL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||  (double bar)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Exactly One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Employee must have exactly 1 department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NOT NULL + UNIQUE FK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|O  (bar + circle)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Zero or One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Employee may have 0 or 1 company car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NULL FK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&gt;|  (crow + bar)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One and Only One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Order must have exactly 1 customer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NOT NULL FK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&gt;O  (crow + circle)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Zero or Many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Customer may have 0 or many orders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NULL FK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&gt;||  (crow + bar+bar)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One or Many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Department has 1 or many employees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NOT NULL FK with CHECK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3931920"/>
            <a:ext cx="850392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3931920"/>
            <a:ext cx="91440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5"/>
          <p:cNvSpPr/>
          <p:nvPr/>
        </p:nvSpPr>
        <p:spPr>
          <a:xfrm>
            <a:off x="548640" y="39867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Alternative: Min-Max Notation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27939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Written as (min, max) beside each entity.   </a:t>
            </a:r>
            <a:r>
              <a:rPr lang="en-US" sz="1100" b="1" dirty="0">
                <a:solidFill>
                  <a:srgbClr val="0891B2"/>
                </a:solidFill>
              </a:rPr>
              <a:t>(0,1)</a:t>
            </a:r>
            <a:r>
              <a:rPr lang="en-US" sz="1100" dirty="0">
                <a:solidFill>
                  <a:srgbClr val="1E293B"/>
                </a:solidFill>
              </a:rPr>
              <a:t> = optional one   </a:t>
            </a:r>
            <a:r>
              <a:rPr lang="en-US" sz="1100" b="1" dirty="0">
                <a:solidFill>
                  <a:srgbClr val="0891B2"/>
                </a:solidFill>
              </a:rPr>
              <a:t>(1,1)</a:t>
            </a:r>
            <a:r>
              <a:rPr lang="en-US" sz="1100" dirty="0">
                <a:solidFill>
                  <a:srgbClr val="1E293B"/>
                </a:solidFill>
              </a:rPr>
              <a:t> = mandatory one   </a:t>
            </a:r>
            <a:r>
              <a:rPr lang="en-US" sz="1100" b="1" dirty="0">
                <a:solidFill>
                  <a:srgbClr val="0891B2"/>
                </a:solidFill>
              </a:rPr>
              <a:t>(0,N)</a:t>
            </a:r>
            <a:r>
              <a:rPr lang="en-US" sz="1100" dirty="0">
                <a:solidFill>
                  <a:srgbClr val="1E293B"/>
                </a:solidFill>
              </a:rPr>
              <a:t> = optional many   </a:t>
            </a:r>
            <a:r>
              <a:rPr lang="en-US" sz="1100" b="1" dirty="0">
                <a:solidFill>
                  <a:srgbClr val="0891B2"/>
                </a:solidFill>
              </a:rPr>
              <a:t>(1,N)</a:t>
            </a:r>
            <a:r>
              <a:rPr lang="en-US" sz="1100" dirty="0">
                <a:solidFill>
                  <a:srgbClr val="1E293B"/>
                </a:solidFill>
              </a:rPr>
              <a:t> = mandatory many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</a:rPr>
              <a:t>DESIGNING DATA FOR APPLICATIONS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6E"/>
                </a:solidFill>
              </a:rPr>
              <a:t>Case Study: E-Commerce Platform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</a:rPr>
              <a:t>Entities &amp; Key Attributes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72768"/>
            <a:ext cx="73152" cy="4754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Customer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CustomerID (PK), Name, Email, Phone, Address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212140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21408"/>
            <a:ext cx="73152" cy="4754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5798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Product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3591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ProductID (PK), Name, Price, StockQty, CategoryID (FK)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67004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70048"/>
            <a:ext cx="73152" cy="4754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70662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</a:rPr>
              <a:t>Category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9077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CategoryID (PK), CategoryName, Description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21868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218688"/>
            <a:ext cx="73152" cy="4754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25526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Order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4564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OrderID (PK), CustomerID (FK), OrderDate, Status, Total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76732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767328"/>
            <a:ext cx="73152" cy="4754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8039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OrderItem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0050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OrderItemID (PK), OrderID (FK), ProductID (FK), Qty, UnitPrice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4324409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315968"/>
            <a:ext cx="73152" cy="47548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3525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6E"/>
                </a:solidFill>
              </a:rPr>
              <a:t>Payment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5537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PaymentID (PK), OrderID (FK), Method, Amount, PaidAt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6344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</a:rPr>
              <a:t>Relationships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1572768"/>
            <a:ext cx="4160520" cy="566928"/>
          </a:xfrm>
          <a:prstGeom prst="rect">
            <a:avLst/>
          </a:prstGeom>
          <a:solidFill>
            <a:srgbClr val="EEF4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00600" y="16276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6E"/>
                </a:solidFill>
              </a:rPr>
              <a:t>Customer → Orders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79792" y="1645920"/>
            <a:ext cx="118872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79792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1:N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18745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One customer places many orders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2231136"/>
            <a:ext cx="4160520" cy="566928"/>
          </a:xfrm>
          <a:prstGeom prst="rect">
            <a:avLst/>
          </a:prstGeom>
          <a:solidFill>
            <a:srgbClr val="EEF4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00600" y="22860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6E"/>
                </a:solidFill>
              </a:rPr>
              <a:t>Order → OrderItems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79792" y="2304288"/>
            <a:ext cx="118872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79792" y="23042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1:N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0600" y="25328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One order has many line items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2889504"/>
            <a:ext cx="4160520" cy="566928"/>
          </a:xfrm>
          <a:prstGeom prst="rect">
            <a:avLst/>
          </a:prstGeom>
          <a:solidFill>
            <a:srgbClr val="EEF4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00600" y="29443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6E"/>
                </a:solidFill>
              </a:rPr>
              <a:t>Product ↔ Orders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79792" y="2962656"/>
            <a:ext cx="118872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79792" y="2962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N:M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00600" y="31912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Via OrderItem junction table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3547872"/>
            <a:ext cx="4160520" cy="566928"/>
          </a:xfrm>
          <a:prstGeom prst="rect">
            <a:avLst/>
          </a:prstGeom>
          <a:solidFill>
            <a:srgbClr val="EEF4F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800600" y="360273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6E"/>
                </a:solidFill>
              </a:rPr>
              <a:t>Product → Category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479792" y="3621024"/>
            <a:ext cx="11887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79792" y="36210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N:1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00600" y="384962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Many products in one category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63440" y="4206240"/>
            <a:ext cx="4160520" cy="566928"/>
          </a:xfrm>
          <a:prstGeom prst="rect">
            <a:avLst/>
          </a:prstGeom>
          <a:solidFill>
            <a:srgbClr val="EEF4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800600" y="426110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6E"/>
                </a:solidFill>
              </a:rPr>
              <a:t>Order → Payment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479792" y="4279392"/>
            <a:ext cx="118872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79792" y="4279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1:1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800600" y="45079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One order has one payment record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74320" y="4847023"/>
            <a:ext cx="8503920" cy="27432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486109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400E"/>
                </a:solidFill>
              </a:rPr>
              <a:t>💡  Design tip: Always start with entities and relationships on paper/whiteboard BEFORE opening Draw.io or writing SQL.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</a:rPr>
              <a:t>ER DESIGN BEST PRACTICES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73152" cy="1325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87782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8961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01 </a:t>
            </a:r>
            <a:r>
              <a:rPr lang="en-US" sz="1200" b="1" dirty="0">
                <a:solidFill>
                  <a:srgbClr val="1A2744"/>
                </a:solidFill>
              </a:rPr>
              <a:t>Avoid Redundancy (Normalize)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307592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Don't store the same data in multiple places. If Customer Address appears in Orders, Customer, and Shipments — that's a design flaw. Store it once in Customers and reference via FK.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73152" cy="1325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87782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8961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02 </a:t>
            </a:r>
            <a:r>
              <a:rPr lang="en-US" sz="1200" b="1" dirty="0">
                <a:solidFill>
                  <a:srgbClr val="1A2744"/>
                </a:solidFill>
              </a:rPr>
              <a:t>Use Surrogate Keys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307592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Prefer system-generated integer IDs (AUTO_INCREMENT / UUID) over natural keys like Email or SSN. Natural keys change; surrogate keys don't.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249424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249424"/>
            <a:ext cx="73152" cy="1325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" y="232257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23408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03 </a:t>
            </a:r>
            <a:r>
              <a:rPr lang="en-US" sz="1200" b="1" dirty="0">
                <a:solidFill>
                  <a:srgbClr val="1A2744"/>
                </a:solidFill>
              </a:rPr>
              <a:t>Name Entities as Singular Nouns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2752344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Use 'Customer' not 'Customers'. Use 'Order' not 'Orders'. Consistent naming prevents confusion when writing SQL queries and joins.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9424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49424"/>
            <a:ext cx="73152" cy="1325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232257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94960" y="23408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04 </a:t>
            </a:r>
            <a:r>
              <a:rPr lang="en-US" sz="1200" b="1" dirty="0">
                <a:solidFill>
                  <a:srgbClr val="1A2744"/>
                </a:solidFill>
              </a:rPr>
              <a:t>Resolve Many-to-Many with Junction Tables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2752344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Never create M:N relationships directly. Always introduce a bridge/junction table with FKs to both entities. Add extra attributes to the junction table as needed.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694176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94176"/>
            <a:ext cx="73152" cy="1325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" y="37673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0120" y="378561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05 </a:t>
            </a:r>
            <a:r>
              <a:rPr lang="en-US" sz="1200" b="1" dirty="0">
                <a:solidFill>
                  <a:srgbClr val="1A2744"/>
                </a:solidFill>
              </a:rPr>
              <a:t>Document All Relationships &amp; Cardinality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" y="4197096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Every relationship line must have notation showing min and max cardinality. A diagram without cardinality is incomplete — it leaves implementation ambiguous.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94176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94176"/>
            <a:ext cx="73152" cy="132588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1" name="Text 29"/>
          <p:cNvSpPr/>
          <p:nvPr/>
        </p:nvSpPr>
        <p:spPr>
          <a:xfrm>
            <a:off x="4919472" y="37673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94960" y="378561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6E"/>
                </a:solidFill>
              </a:rPr>
              <a:t>06 </a:t>
            </a:r>
            <a:r>
              <a:rPr lang="en-US" sz="1200" b="1" dirty="0">
                <a:solidFill>
                  <a:srgbClr val="1A2744"/>
                </a:solidFill>
              </a:rPr>
              <a:t>Validate Against Business Rules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9472" y="4197096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Walk through real business scenarios: 'Can a product exist without a category?' 'Can an order have zero items?' The answers drive your cardinality choices and NOT NULL constraints.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</a:rPr>
              <a:t>COMMON ER DESIGN MISTAKES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206240" cy="292608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804672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❌  Missing Primary Keys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152144"/>
            <a:ext cx="3986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Every entity MUST have a PK. Without it, you cannot uniquely identify rows or create FK references.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67335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</a:rPr>
              <a:t>✅  </a:t>
            </a:r>
            <a:r>
              <a:rPr lang="en-US" sz="1000" b="1" dirty="0">
                <a:solidFill>
                  <a:srgbClr val="059669"/>
                </a:solidFill>
              </a:rPr>
              <a:t>Fix: Add a surrogate INT PK (id) to every table.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206240" cy="292608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804672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❌  Storing Derived 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64608" y="1152144"/>
            <a:ext cx="3986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Don't store Age when you have DateOfBirth. Don't store OrderTotal when you can calculate SUM(UnitPrice × Qty).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64608" y="167335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</a:rPr>
              <a:t>✅  </a:t>
            </a:r>
            <a:r>
              <a:rPr lang="en-US" sz="1000" b="1" dirty="0">
                <a:solidFill>
                  <a:srgbClr val="059669"/>
                </a:solidFill>
              </a:rPr>
              <a:t>Fix: Store source data; derive values in queries.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249424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249424"/>
            <a:ext cx="4206240" cy="292608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2249424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❌  M:N Without Junction Table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" y="2596896"/>
            <a:ext cx="3986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Directly linking two tables in a Many-to-Many relationship is impossible in relational databases.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" y="3118104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</a:rPr>
              <a:t>✅  </a:t>
            </a:r>
            <a:r>
              <a:rPr lang="en-US" sz="1000" b="1" dirty="0">
                <a:solidFill>
                  <a:srgbClr val="059669"/>
                </a:solidFill>
              </a:rPr>
              <a:t>Fix: Create OrderItems, StudentCourses, ActorMovies bridge tables.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9424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49424"/>
            <a:ext cx="4206240" cy="292608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2249424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❌  Overloading Entities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2596896"/>
            <a:ext cx="3986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Putting too many unrelated attributes into one entity (GodTable antipattern) kills performance and maintainability.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64608" y="3118104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</a:rPr>
              <a:t>✅  </a:t>
            </a:r>
            <a:r>
              <a:rPr lang="en-US" sz="1000" b="1" dirty="0">
                <a:solidFill>
                  <a:srgbClr val="059669"/>
                </a:solidFill>
              </a:rPr>
              <a:t>Fix: Split into related entities with proper FK relationships.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694176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94176"/>
            <a:ext cx="4206240" cy="2926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" y="3694176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6E"/>
                </a:solidFill>
              </a:rPr>
              <a:t>❌  Ignoring NULL Semantics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" y="4041648"/>
            <a:ext cx="3986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'Optional' vs 'required' attributes must be defined up front — they map to NULL vs NOT NULL constraints.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" y="4562856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</a:rPr>
              <a:t>✅  </a:t>
            </a:r>
            <a:r>
              <a:rPr lang="en-US" sz="1000" b="1" dirty="0">
                <a:solidFill>
                  <a:srgbClr val="059669"/>
                </a:solidFill>
              </a:rPr>
              <a:t>Fix: For each attribute, explicitly decide: can this ever be empty?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94176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94176"/>
            <a:ext cx="4206240" cy="2926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1" name="Text 29"/>
          <p:cNvSpPr/>
          <p:nvPr/>
        </p:nvSpPr>
        <p:spPr>
          <a:xfrm>
            <a:off x="4864608" y="3694176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❌  Skipping Business Validation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64608" y="4041648"/>
            <a:ext cx="3986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Designing only from technical needs, ignoring business rules like 'An order must always have a customer'.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64608" y="4562856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</a:rPr>
              <a:t>✅  </a:t>
            </a:r>
            <a:r>
              <a:rPr lang="en-US" sz="1000" b="1" dirty="0">
                <a:solidFill>
                  <a:srgbClr val="059669"/>
                </a:solidFill>
              </a:rPr>
              <a:t>Fix: Validate every cardinality decision against real scenarios.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</a:rPr>
              <a:t>HANDS-ON LAB — DRAW.IO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</a:rPr>
              <a:t>Build the E-Commerce ER Diagram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530352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1005840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2588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44752" y="1371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 Draw.io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44752" y="1600200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B8E0"/>
                </a:solidFill>
              </a:rPr>
              <a:t>Go to draw.io → New Diagram → Entity Relationship template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929384"/>
            <a:ext cx="8503920" cy="530352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29384"/>
            <a:ext cx="1005840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92938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44752" y="197510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Add Entities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44752" y="2203704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B8E0"/>
                </a:solidFill>
              </a:rPr>
              <a:t>Create boxes for: Customer, Product, Category, Order, OrderItem, Payment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532888"/>
            <a:ext cx="8503920" cy="530352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532888"/>
            <a:ext cx="1005840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53288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44752" y="25786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Add Attributes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44752" y="2807208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B8E0"/>
                </a:solidFill>
              </a:rPr>
              <a:t>For each entity, add columns with data types (INT, VARCHAR, DECIMAL, DATETIME)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136392"/>
            <a:ext cx="8503920" cy="530352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136392"/>
            <a:ext cx="1005840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13639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44752" y="31821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Mark Keys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44752" y="3410712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B8E0"/>
                </a:solidFill>
              </a:rPr>
              <a:t>Underline Primary Keys. Mark Foreign Keys with (FK) notation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739896"/>
            <a:ext cx="8503920" cy="530352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739896"/>
            <a:ext cx="1005840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73989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44752" y="378561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Draw Relationships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44752" y="4014216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B8E0"/>
                </a:solidFill>
              </a:rPr>
              <a:t>Connect entities using Crow's Foot notation — set correct cardinality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343400"/>
            <a:ext cx="8503920" cy="530352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4343400"/>
            <a:ext cx="1005840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434340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444752" y="43891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444752" y="4617720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B8E0"/>
                </a:solidFill>
              </a:rPr>
              <a:t>Check: Can every entity be uniquely identified? Are all M:N resolved? Are all FKs valid?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E68A"/>
                </a:solidFill>
              </a:rPr>
              <a:t>🎯  Bonus Challenge: Add a Review entity (CustomerID FK, ProductID FK, Rating, Comment, ReviewDate) — what relationship type is this?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</a:rPr>
              <a:t>SESSION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0B8E0"/>
                </a:solidFill>
              </a:rPr>
              <a:t>Key Takeaways from S3: ER Diagrams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448056"/>
          </a:xfrm>
          <a:prstGeom prst="rect">
            <a:avLst/>
          </a:prstGeom>
          <a:solidFill>
            <a:srgbClr val="1E3A6E"/>
          </a:solidFill>
          <a:ln w="12700">
            <a:solidFill>
              <a:srgbClr val="2D4D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64008" cy="44805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34440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ER Diagrams:  </a:t>
            </a:r>
            <a:r>
              <a:rPr lang="en-US" sz="1100" dirty="0">
                <a:solidFill>
                  <a:srgbClr val="D0E2FF"/>
                </a:solidFill>
              </a:rPr>
              <a:t>Are visual blueprints of databases — essential before writing a single line of SQL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755648"/>
            <a:ext cx="8503920" cy="448056"/>
          </a:xfrm>
          <a:prstGeom prst="rect">
            <a:avLst/>
          </a:prstGeom>
          <a:solidFill>
            <a:srgbClr val="1E3A6E"/>
          </a:solidFill>
          <a:ln w="12700">
            <a:solidFill>
              <a:srgbClr val="2D4D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755648"/>
            <a:ext cx="64008" cy="44805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755648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3 Building Blocks:  </a:t>
            </a:r>
            <a:r>
              <a:rPr lang="en-US" sz="1100" dirty="0">
                <a:solidFill>
                  <a:srgbClr val="D0E2FF"/>
                </a:solidFill>
              </a:rPr>
              <a:t>Entities (rectangles), Attributes (ovals), Relationships (diamonds)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76856"/>
            <a:ext cx="8503920" cy="448056"/>
          </a:xfrm>
          <a:prstGeom prst="rect">
            <a:avLst/>
          </a:prstGeom>
          <a:solidFill>
            <a:srgbClr val="1E3A6E"/>
          </a:solidFill>
          <a:ln w="12700">
            <a:solidFill>
              <a:srgbClr val="2D4D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276856"/>
            <a:ext cx="64008" cy="4480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276856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Keys Matter:  </a:t>
            </a:r>
            <a:r>
              <a:rPr lang="en-US" sz="1100" dirty="0">
                <a:solidFill>
                  <a:srgbClr val="D0E2FF"/>
                </a:solidFill>
              </a:rPr>
              <a:t>PKs uniquely identify rows; FKs enforce referential integrity between tables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798064"/>
            <a:ext cx="8503920" cy="448056"/>
          </a:xfrm>
          <a:prstGeom prst="rect">
            <a:avLst/>
          </a:prstGeom>
          <a:solidFill>
            <a:srgbClr val="1E3A6E"/>
          </a:solidFill>
          <a:ln w="12700">
            <a:solidFill>
              <a:srgbClr val="2D4D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798064"/>
            <a:ext cx="64008" cy="4480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798064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</a:rPr>
              <a:t>4 Relationship Types:  </a:t>
            </a:r>
            <a:r>
              <a:rPr lang="en-US" sz="1100" dirty="0">
                <a:solidFill>
                  <a:srgbClr val="D0E2FF"/>
                </a:solidFill>
              </a:rPr>
              <a:t>1:1, N:1, 1:N, and N:M — each implemented differently in SQL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319272"/>
            <a:ext cx="8503920" cy="448056"/>
          </a:xfrm>
          <a:prstGeom prst="rect">
            <a:avLst/>
          </a:prstGeom>
          <a:solidFill>
            <a:srgbClr val="1E3A6E"/>
          </a:solidFill>
          <a:ln w="12700">
            <a:solidFill>
              <a:srgbClr val="2D4D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319272"/>
            <a:ext cx="64008" cy="4480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3192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Crow's Foot Notation:  </a:t>
            </a:r>
            <a:r>
              <a:rPr lang="en-US" sz="1100" dirty="0">
                <a:solidFill>
                  <a:srgbClr val="D0E2FF"/>
                </a:solidFill>
              </a:rPr>
              <a:t>Industry standard for expressing cardinality (minimum and maximum)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840480"/>
            <a:ext cx="8503920" cy="448056"/>
          </a:xfrm>
          <a:prstGeom prst="rect">
            <a:avLst/>
          </a:prstGeom>
          <a:solidFill>
            <a:srgbClr val="1E3A6E"/>
          </a:solidFill>
          <a:ln w="12700">
            <a:solidFill>
              <a:srgbClr val="2D4D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840480"/>
            <a:ext cx="64008" cy="44805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840480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Design for Business Rules:  </a:t>
            </a:r>
            <a:r>
              <a:rPr lang="en-US" sz="1100" dirty="0">
                <a:solidFill>
                  <a:srgbClr val="D0E2FF"/>
                </a:solidFill>
              </a:rPr>
              <a:t>Always validate every cardinality decision against real scenarios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361688"/>
            <a:ext cx="8503920" cy="448056"/>
          </a:xfrm>
          <a:prstGeom prst="rect">
            <a:avLst/>
          </a:prstGeom>
          <a:solidFill>
            <a:srgbClr val="1E3A6E"/>
          </a:solidFill>
          <a:ln w="12700">
            <a:solidFill>
              <a:srgbClr val="2D4D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361688"/>
            <a:ext cx="64008" cy="44805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4361688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Junction Tables:  </a:t>
            </a:r>
            <a:r>
              <a:rPr lang="en-US" sz="1100" dirty="0">
                <a:solidFill>
                  <a:srgbClr val="D0E2FF"/>
                </a:solidFill>
              </a:rPr>
              <a:t>Required for ALL many-to-many relationships — never skip this step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681728"/>
            <a:ext cx="8503920" cy="301752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8172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B8E0"/>
                </a:solidFill>
              </a:rPr>
              <a:t>Next Session → W13: ETL/ELT in Practice  |  Questions? Drop them in the chat!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1973</Words>
  <Application>Microsoft Office PowerPoint</Application>
  <PresentationFormat>On-screen Show (16:9)</PresentationFormat>
  <Paragraphs>230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Entity-Relationship (ER) Diagrams</dc:title>
  <dc:subject>PptxGenJS Presentation</dc:subject>
  <dc:creator>Corporate Training – Data Engineering</dc:creator>
  <cp:lastModifiedBy>Prachi Kabra</cp:lastModifiedBy>
  <cp:revision>3</cp:revision>
  <dcterms:created xsi:type="dcterms:W3CDTF">2026-05-09T17:38:54Z</dcterms:created>
  <dcterms:modified xsi:type="dcterms:W3CDTF">2026-05-09T17:52:56Z</dcterms:modified>
</cp:coreProperties>
</file>