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094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486400" cy="5486400"/>
          </a:xfrm>
          <a:prstGeom prst="line">
            <a:avLst/>
          </a:prstGeom>
          <a:solidFill>
            <a:srgbClr val="2D6A4F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114800" cy="4114800"/>
          </a:xfrm>
          <a:prstGeom prst="line">
            <a:avLst/>
          </a:prstGeom>
          <a:solidFill>
            <a:srgbClr val="40916C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2926080"/>
            <a:ext cx="4572000" cy="4572000"/>
          </a:xfrm>
          <a:prstGeom prst="lin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75488"/>
            <a:ext cx="1920240" cy="32918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754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332"/>
                </a:solidFill>
              </a:rPr>
              <a:t>WEEK 2  ·  SESSION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4C69D"/>
                </a:solidFill>
              </a:rPr>
              <a:t>Enterprise Data Engineering, Analytics &amp;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02920" y="28529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02920" y="37124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4C69D"/>
                </a:solidFill>
              </a:rPr>
              <a:t>Fact Tables · Dimension Tables · Star Schema · Snowflake Schema · Modelling Decisions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4773168"/>
            <a:ext cx="8686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4C69D"/>
                </a:solidFill>
              </a:rPr>
              <a:t>Duration: 1 Hour  |  Trainer: Prachi Kabra  |  Foundation Phase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Session…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84048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C757D"/>
                </a:solidFill>
              </a:rPr>
              <a:t>You will understand how enterprise data is organised for analysis — the architecture behind every BI dashboard you'll ever build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463040"/>
            <a:ext cx="457200" cy="457200"/>
          </a:xfrm>
          <a:prstGeom prst="lin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270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417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Define Fact &amp; Dimension tables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719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Understand the roles of each and what kinds of data belong where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2039112"/>
            <a:ext cx="8046720" cy="0"/>
          </a:xfrm>
          <a:prstGeom prst="line">
            <a:avLst/>
          </a:prstGeom>
          <a:noFill/>
          <a:ln w="9525">
            <a:solidFill>
              <a:srgbClr val="DEE2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" y="2167128"/>
            <a:ext cx="457200" cy="457200"/>
          </a:xfrm>
          <a:prstGeom prst="lin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311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121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Design a Star Schema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The most widely used analytical data model in enterprise BI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68680" y="2743200"/>
            <a:ext cx="8046720" cy="0"/>
          </a:xfrm>
          <a:prstGeom prst="line">
            <a:avLst/>
          </a:prstGeom>
          <a:noFill/>
          <a:ln w="9525">
            <a:solidFill>
              <a:srgbClr val="DEE2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6032" y="2871216"/>
            <a:ext cx="457200" cy="457200"/>
          </a:xfrm>
          <a:prstGeom prst="lin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3522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28254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Understand Snowflake Schema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6868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When and why to extend Star schema into Snowflake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68680" y="3447288"/>
            <a:ext cx="8046720" cy="0"/>
          </a:xfrm>
          <a:prstGeom prst="line">
            <a:avLst/>
          </a:prstGeom>
          <a:noFill/>
          <a:ln w="9525">
            <a:solidFill>
              <a:srgbClr val="DEE2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56032" y="3575304"/>
            <a:ext cx="457200" cy="457200"/>
          </a:xfrm>
          <a:prstGeom prst="lin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6393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3529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Apply models to real-life examples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3831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Map retail, banking and healthcare data into fact-dimension models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68680" y="4151376"/>
            <a:ext cx="8046720" cy="0"/>
          </a:xfrm>
          <a:prstGeom prst="line">
            <a:avLst/>
          </a:prstGeom>
          <a:noFill/>
          <a:ln w="9525">
            <a:solidFill>
              <a:srgbClr val="DEE2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56032" y="4279392"/>
            <a:ext cx="457200" cy="457200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434340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4233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Make data modelling decisions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68680" y="45354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Know what questions to ask before designing any model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dashboard you've ever seen…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C69D"/>
                </a:solidFill>
              </a:rPr>
              <a:t>…is powered by a data model built by someone like you. Today we learn how that model is designed.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53312"/>
            <a:ext cx="2697480" cy="352044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53312"/>
            <a:ext cx="26974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8132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29768" y="21945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</a:rPr>
              <a:t>E-Commerce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" y="2633472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"How did each product category perform this quarter, by region?"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3657600"/>
            <a:ext cx="2478024" cy="54864"/>
          </a:xfrm>
          <a:prstGeom prst="rect">
            <a:avLst/>
          </a:prstGeom>
          <a:solidFill>
            <a:srgbClr val="74C69D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3767328"/>
            <a:ext cx="24780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</a:rPr>
              <a:t>Needs: sales data + product info + region info + dates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53312"/>
            <a:ext cx="2697480" cy="352044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53312"/>
            <a:ext cx="26974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8132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🏦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10128" y="21945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</a:rPr>
              <a:t>Banking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2633472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"What is the total loan amount disbursed per branch per month?"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0128" y="3657600"/>
            <a:ext cx="2478024" cy="54864"/>
          </a:xfrm>
          <a:prstGeom prst="rect">
            <a:avLst/>
          </a:prstGeom>
          <a:solidFill>
            <a:srgbClr val="74C69D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3767328"/>
            <a:ext cx="24780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</a:rPr>
              <a:t>Needs: loan data + branch info + time info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353312"/>
            <a:ext cx="2697480" cy="352044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353312"/>
            <a:ext cx="26974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48132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🏥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90488" y="21945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</a:rPr>
              <a:t>Healthcare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90488" y="2633472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"How many patients per doctor per department were seen last week?"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0488" y="3657600"/>
            <a:ext cx="2478024" cy="54864"/>
          </a:xfrm>
          <a:prstGeom prst="rect">
            <a:avLst/>
          </a:prstGeom>
          <a:solidFill>
            <a:srgbClr val="74C69D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3767328"/>
            <a:ext cx="24780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</a:rPr>
              <a:t>Needs: appointment data + doctor info + department info + dates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Data Modelling?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7498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</a:rPr>
              <a:t>Data Modelling  </a:t>
            </a:r>
            <a:r>
              <a:rPr lang="en-US" sz="1400" dirty="0">
                <a:solidFill>
                  <a:srgbClr val="FFFFFF"/>
                </a:solidFill>
              </a:rPr>
              <a:t>is the process of defining HOW data is </a:t>
            </a:r>
            <a:r>
              <a:rPr lang="en-US" sz="1400" b="1" dirty="0">
                <a:solidFill>
                  <a:srgbClr val="74C69D"/>
                </a:solidFill>
              </a:rPr>
              <a:t>organised, stored and related </a:t>
            </a:r>
            <a:r>
              <a:rPr lang="en-US" sz="1400" dirty="0">
                <a:solidFill>
                  <a:srgbClr val="FFFFFF"/>
                </a:solidFill>
              </a:rPr>
              <a:t>so that it can be queried efficiently for business decisions.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3931920" cy="40233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Without a Model — Raw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22576"/>
            <a:ext cx="3931920" cy="393192"/>
          </a:xfrm>
          <a:prstGeom prst="rect">
            <a:avLst/>
          </a:prstGeom>
          <a:solidFill>
            <a:srgbClr val="FFF3F3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340864"/>
            <a:ext cx="3785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TxnID | Product | Category | Region | SalesRep | Date | Amount | Discount | Tax | Cost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734056"/>
            <a:ext cx="3931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752344"/>
            <a:ext cx="3785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 | iPhone 15 | Electronics | West | Rahul | 2024-01-05 | 89000 | 5% | 18% | 62000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3931920" cy="393192"/>
          </a:xfrm>
          <a:prstGeom prst="rect">
            <a:avLst/>
          </a:prstGeom>
          <a:solidFill>
            <a:srgbClr val="FFF3F3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163824"/>
            <a:ext cx="3785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1002 | Shirt | Apparel | North | Priya | 2024-01-05 | 1200 | 0% | 12% | 800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3931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75304"/>
            <a:ext cx="3785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1003 | iPhone 15 | Electronics | West | Rahul | 2024-01-06 | 89000 | 5% | 18% | 62000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8912" y="4005072"/>
            <a:ext cx="3785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C3545"/>
                </a:solidFill>
              </a:rPr>
              <a:t>Problems: Repeated data · Slow queries · Hard to update · No clear structure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192024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1920240"/>
            <a:ext cx="4251960" cy="40233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920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With a Model — Structured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2414016"/>
            <a:ext cx="1828800" cy="2011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2414016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FactSales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2615184"/>
            <a:ext cx="182880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261518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TxnID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17720" y="2798064"/>
            <a:ext cx="1828800" cy="182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4296" y="279806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DateKey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980944"/>
            <a:ext cx="182880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298094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ProductKey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17720" y="3163824"/>
            <a:ext cx="1828800" cy="182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54296" y="31638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RegionKey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17720" y="3346704"/>
            <a:ext cx="182880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334670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17720" y="3529584"/>
            <a:ext cx="1828800" cy="182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54296" y="352958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17720" y="3712464"/>
            <a:ext cx="182880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4296" y="371246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583680" y="2414016"/>
            <a:ext cx="201168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2414016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DimProduct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583680" y="2615184"/>
            <a:ext cx="201168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0256" y="2615184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ProductKey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583680" y="2798064"/>
            <a:ext cx="2011680" cy="182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0256" y="2798064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ProductName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583680" y="2980944"/>
            <a:ext cx="201168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2980944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583680" y="3163824"/>
            <a:ext cx="2011680" cy="182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0256" y="3163824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17720" y="3858768"/>
            <a:ext cx="182880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54296" y="3858768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DimDate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17720" y="4059936"/>
            <a:ext cx="182880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4296" y="4059936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DateKey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17720" y="4242816"/>
            <a:ext cx="1828800" cy="182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54296" y="4242816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617720" y="4425696"/>
            <a:ext cx="182880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54296" y="4425696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17720" y="4608576"/>
            <a:ext cx="1828800" cy="182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54296" y="4608576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583680" y="3858768"/>
            <a:ext cx="201168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0256" y="3858768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DimRegion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583680" y="4059936"/>
            <a:ext cx="201168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0256" y="4059936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RegionKey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583680" y="4242816"/>
            <a:ext cx="2011680" cy="182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20256" y="4242816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583680" y="4425696"/>
            <a:ext cx="201168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20256" y="4425696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Fact Table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</a:rPr>
              <a:t>The centre of every analytical data model — holds the WHAT happened and HOW MUCH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75488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417320"/>
            <a:ext cx="457200" cy="457200"/>
          </a:xfrm>
          <a:prstGeom prst="lin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167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Records business events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51560" y="1609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</a:rPr>
              <a:t>Every row = one business event: a sale, a login, a transaction, an appointment, a shipment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157984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" y="2313432"/>
            <a:ext cx="457200" cy="457200"/>
          </a:xfrm>
          <a:prstGeom prst="lin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774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2128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Contains measurable metrics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51560" y="25054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</a:rPr>
              <a:t>Sales amount, quantity, discount %, tax, profit, duration — values you can aggregate (SUM, AVG, COUNT)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054096"/>
            <a:ext cx="475488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" y="3209544"/>
            <a:ext cx="457200" cy="457200"/>
          </a:xfrm>
          <a:prstGeom prst="lin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7355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1089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Holds Foreign Keys (FKs)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51560" y="34015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</a:rPr>
              <a:t>Links to dimension tables via keys: DateKey, ProductKey, CustomerKey — NEVER stores descriptive text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3950208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" y="4105656"/>
            <a:ext cx="457200" cy="457200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6966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40050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</a:rPr>
              <a:t>Grows fast and stays wide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051560" y="4297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</a:rPr>
              <a:t>Fact tables have many rows (millions/billions) and a predictable set of columns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349240" y="1234440"/>
            <a:ext cx="342900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13248" y="1234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FactSales — Example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349240" y="1581912"/>
            <a:ext cx="3429000" cy="283464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349240" y="1581912"/>
            <a:ext cx="54864" cy="2834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40680" y="1591056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SalesID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7635240" y="1591056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PK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349240" y="1883664"/>
            <a:ext cx="3429000" cy="283464"/>
          </a:xfrm>
          <a:prstGeom prst="rect">
            <a:avLst/>
          </a:prstGeom>
          <a:solidFill>
            <a:srgbClr val="FFFBEB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349240" y="1883664"/>
            <a:ext cx="54864" cy="2834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440680" y="1892808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DateKey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7635240" y="1892808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FK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349240" y="2185416"/>
            <a:ext cx="3429000" cy="283464"/>
          </a:xfrm>
          <a:prstGeom prst="rect">
            <a:avLst/>
          </a:prstGeom>
          <a:solidFill>
            <a:srgbClr val="FFFBEB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349240" y="2185416"/>
            <a:ext cx="54864" cy="2834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440680" y="2194560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ProductKey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7635240" y="2194560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FK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349240" y="2487168"/>
            <a:ext cx="3429000" cy="283464"/>
          </a:xfrm>
          <a:prstGeom prst="rect">
            <a:avLst/>
          </a:prstGeom>
          <a:solidFill>
            <a:srgbClr val="FFFBEB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349240" y="2487168"/>
            <a:ext cx="54864" cy="2834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440680" y="2496312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CustomerKey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7635240" y="2496312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FK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5349240" y="2788920"/>
            <a:ext cx="3429000" cy="283464"/>
          </a:xfrm>
          <a:prstGeom prst="rect">
            <a:avLst/>
          </a:prstGeom>
          <a:solidFill>
            <a:srgbClr val="FFFBEB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349240" y="2788920"/>
            <a:ext cx="54864" cy="2834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440680" y="2798064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RegionKey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7635240" y="2798064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FK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5349240" y="3090672"/>
            <a:ext cx="3429000" cy="283464"/>
          </a:xfrm>
          <a:prstGeom prst="rect">
            <a:avLst/>
          </a:prstGeom>
          <a:solidFill>
            <a:srgbClr val="FFFBEB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5349240" y="3090672"/>
            <a:ext cx="54864" cy="2834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440680" y="3099816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SalesRepKey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7635240" y="3099816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FK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5349240" y="3392424"/>
            <a:ext cx="3429000" cy="283464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5349240" y="3392424"/>
            <a:ext cx="54864" cy="2834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440680" y="3401568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950" dirty="0"/>
          </a:p>
        </p:txBody>
      </p:sp>
      <p:sp>
        <p:nvSpPr>
          <p:cNvPr id="53" name="Text 47"/>
          <p:cNvSpPr/>
          <p:nvPr/>
        </p:nvSpPr>
        <p:spPr>
          <a:xfrm>
            <a:off x="7635240" y="3401568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5349240" y="3694176"/>
            <a:ext cx="3429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5349240" y="3694176"/>
            <a:ext cx="54864" cy="2834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5440680" y="3703320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UnitPrice</a:t>
            </a:r>
            <a:endParaRPr lang="en-US" sz="950" dirty="0"/>
          </a:p>
        </p:txBody>
      </p:sp>
      <p:sp>
        <p:nvSpPr>
          <p:cNvPr id="57" name="Text 51"/>
          <p:cNvSpPr/>
          <p:nvPr/>
        </p:nvSpPr>
        <p:spPr>
          <a:xfrm>
            <a:off x="7635240" y="3703320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5349240" y="3995928"/>
            <a:ext cx="3429000" cy="283464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5349240" y="3995928"/>
            <a:ext cx="54864" cy="2834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5440680" y="4005072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</a:t>
            </a:r>
            <a:endParaRPr lang="en-US" sz="950" dirty="0"/>
          </a:p>
        </p:txBody>
      </p:sp>
      <p:sp>
        <p:nvSpPr>
          <p:cNvPr id="61" name="Text 55"/>
          <p:cNvSpPr/>
          <p:nvPr/>
        </p:nvSpPr>
        <p:spPr>
          <a:xfrm>
            <a:off x="7635240" y="4005072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900" dirty="0"/>
          </a:p>
        </p:txBody>
      </p:sp>
      <p:sp>
        <p:nvSpPr>
          <p:cNvPr id="62" name="Shape 56"/>
          <p:cNvSpPr/>
          <p:nvPr/>
        </p:nvSpPr>
        <p:spPr>
          <a:xfrm>
            <a:off x="5349240" y="4297680"/>
            <a:ext cx="3429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5349240" y="4297680"/>
            <a:ext cx="54864" cy="2834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5440680" y="4306824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TaxAmount</a:t>
            </a:r>
            <a:endParaRPr lang="en-US" sz="950" dirty="0"/>
          </a:p>
        </p:txBody>
      </p:sp>
      <p:sp>
        <p:nvSpPr>
          <p:cNvPr id="65" name="Text 59"/>
          <p:cNvSpPr/>
          <p:nvPr/>
        </p:nvSpPr>
        <p:spPr>
          <a:xfrm>
            <a:off x="7635240" y="4306824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5349240" y="4599432"/>
            <a:ext cx="3429000" cy="283464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5349240" y="4599432"/>
            <a:ext cx="54864" cy="2834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5440680" y="4608576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TotalAmount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7635240" y="4608576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5349240" y="487375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</a:rPr>
              <a:t>🟩 Metric columns  🟨 Foreign key columns (FK)</a:t>
            </a:r>
            <a:endParaRPr lang="en-US" sz="900" dirty="0"/>
          </a:p>
        </p:txBody>
      </p:sp>
      <p:sp>
        <p:nvSpPr>
          <p:cNvPr id="71" name="Text 65"/>
          <p:cNvSpPr/>
          <p:nvPr/>
        </p:nvSpPr>
        <p:spPr>
          <a:xfrm>
            <a:off x="365760" y="48006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</a:rPr>
              <a:t>💬  'Which column in FactSales would you use to calculate total revenue?'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 Tables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</a:rPr>
              <a:t>The context providers — they answer WHO, WHAT, WHERE, WHEN around the facts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1609344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98448"/>
            <a:ext cx="1609344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</a:rPr>
              <a:t>WHEN?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2139696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DimDate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" y="2450592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59736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DateKey PK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" y="2798064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072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" y="3145536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5468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" y="3493008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02152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" y="3840480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9624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" y="4187952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97096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9184" y="4535424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4456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IsWeekend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29968" y="1298448"/>
            <a:ext cx="1609344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29968" y="1298448"/>
            <a:ext cx="1609344" cy="47548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29968" y="132588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029968" y="182880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0916C"/>
                </a:solidFill>
              </a:rPr>
              <a:t>WHAT?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84832" y="2139696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DimProduct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84832" y="2450592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2459736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ProductKey PK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84832" y="2798064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21408" y="28072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ProductName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84832" y="3145536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21408" y="315468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84832" y="3493008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21408" y="3502152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SubCategory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084832" y="3840480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1408" y="3849624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785616" y="1298448"/>
            <a:ext cx="1609344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785616" y="1298448"/>
            <a:ext cx="1609344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85616" y="132588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785616" y="182880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</a:rPr>
              <a:t>WHO?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840480" y="2139696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DimCustomer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0" y="2450592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77056" y="2459736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CustomerKey PK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40480" y="2798064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77056" y="28072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40480" y="3145536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77056" y="315468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40480" y="3493008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77056" y="3502152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840480" y="3840480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77056" y="3849624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840480" y="4187952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77056" y="4197096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541264" y="1298448"/>
            <a:ext cx="1609344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541264" y="1298448"/>
            <a:ext cx="1609344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41264" y="132588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541264" y="182880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</a:rPr>
              <a:t>WHERE?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596128" y="2139696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DimRegion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96128" y="2450592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32704" y="2459736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RegionKey PK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96128" y="2798064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32704" y="28072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596128" y="3145536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32704" y="315468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596128" y="3493008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32704" y="3502152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596128" y="3840480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32704" y="3849624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296912" y="1298448"/>
            <a:ext cx="1609344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296912" y="1298448"/>
            <a:ext cx="1609344" cy="47548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96912" y="132588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🧑‍💼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7296912" y="182880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61EE"/>
                </a:solidFill>
              </a:rPr>
              <a:t>BY WHOM?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7351776" y="2139696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DimSalesRep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351776" y="2450592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88352" y="2459736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RepKey PK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351776" y="2798064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88352" y="28072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RepName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351776" y="3145536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88352" y="315468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351776" y="3493008"/>
            <a:ext cx="14996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88352" y="3502152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351776" y="3840480"/>
            <a:ext cx="149961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88352" y="3849624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Joined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74320" y="4965192"/>
            <a:ext cx="8595360" cy="0"/>
          </a:xfrm>
          <a:prstGeom prst="rect">
            <a:avLst/>
          </a:prstGeom>
          <a:noFill/>
          <a:ln/>
        </p:spPr>
      </p:sp>
      <p:sp>
        <p:nvSpPr>
          <p:cNvPr id="86" name="Shape 84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1480" y="470001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🔑  Rule: Dimension tables are SMALL &amp; WIDE (few rows, many descriptive columns). Fact tables are TALL &amp; NARROW (many rows, few columns — mostly keys and metrics).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C757D"/>
                </a:solidFill>
              </a:rPr>
              <a:t>One Fact table at the centre · Dimension tables radiating outward · Looks like a star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840480" y="1399032"/>
            <a:ext cx="0" cy="960120"/>
          </a:xfrm>
          <a:prstGeom prst="line">
            <a:avLst/>
          </a:prstGeom>
          <a:noFill/>
          <a:ln w="19050">
            <a:solidFill>
              <a:srgbClr val="ADB5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2468880"/>
            <a:ext cx="0" cy="438912"/>
          </a:xfrm>
          <a:prstGeom prst="line">
            <a:avLst/>
          </a:prstGeom>
          <a:noFill/>
          <a:ln w="19050">
            <a:solidFill>
              <a:srgbClr val="ADB5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4050792"/>
            <a:ext cx="0" cy="0"/>
          </a:xfrm>
          <a:prstGeom prst="line">
            <a:avLst/>
          </a:prstGeom>
          <a:noFill/>
          <a:ln w="19050">
            <a:solidFill>
              <a:srgbClr val="ADB5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4050792"/>
            <a:ext cx="1207008" cy="0"/>
          </a:xfrm>
          <a:prstGeom prst="line">
            <a:avLst/>
          </a:prstGeom>
          <a:noFill/>
          <a:ln w="19050">
            <a:solidFill>
              <a:srgbClr val="ADB5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468880"/>
            <a:ext cx="1536192" cy="438912"/>
          </a:xfrm>
          <a:prstGeom prst="line">
            <a:avLst/>
          </a:prstGeom>
          <a:noFill/>
          <a:ln w="19050">
            <a:solidFill>
              <a:srgbClr val="ADB5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313432"/>
            <a:ext cx="1737360" cy="11704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313432"/>
            <a:ext cx="1737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078992"/>
            <a:ext cx="14173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9544" y="1078992"/>
            <a:ext cx="1307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DimDate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2148840"/>
            <a:ext cx="1417320" cy="65836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9784" y="2148840"/>
            <a:ext cx="1307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DimProduct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3730752"/>
            <a:ext cx="141732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72584" y="3730752"/>
            <a:ext cx="1307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DimCustomer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" y="3730752"/>
            <a:ext cx="1417320" cy="65836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06424" y="3730752"/>
            <a:ext cx="1307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DimRegion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148840"/>
            <a:ext cx="1417320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" y="2148840"/>
            <a:ext cx="1307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DimSalesRep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749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Why Star Schema?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35040" y="1170432"/>
            <a:ext cx="27432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08192" y="1207008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65392" y="1207008"/>
            <a:ext cx="2148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1A"/>
                </a:solidFill>
              </a:rPr>
              <a:t>Fast query performance — minimal joins needed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1920240"/>
            <a:ext cx="27432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08192" y="1956816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65392" y="1956816"/>
            <a:ext cx="2148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1A"/>
                </a:solidFill>
              </a:rPr>
              <a:t>Easy to understand — even for non-technical users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2670048"/>
            <a:ext cx="27432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08192" y="2706624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65392" y="2706624"/>
            <a:ext cx="2148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1A"/>
                </a:solidFill>
              </a:rPr>
              <a:t>Simple to maintain — add a new dimension without redesigning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3419856"/>
            <a:ext cx="27432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08192" y="3456432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565392" y="3456432"/>
            <a:ext cx="2148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1A"/>
                </a:solidFill>
              </a:rPr>
              <a:t>Native to BI tools — Power BI, Tableau optimise for it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4169664"/>
            <a:ext cx="27432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08192" y="420624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565392" y="4206240"/>
            <a:ext cx="2148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1A"/>
                </a:solidFill>
              </a:rPr>
              <a:t>Industry standard — used in 80%+ of enterprise DWs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</a:rPr>
              <a:t>💬  draw a line from FactSales to a dimension of their choice and explain why.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Snowflake Schema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C757D"/>
                </a:solidFill>
              </a:rPr>
              <a:t>An extension of Star Schema — dimension tables are further normalised into sub-dimensions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169164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488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❄️  FactSales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2532888"/>
            <a:ext cx="594360" cy="0"/>
          </a:xfrm>
          <a:prstGeom prst="line">
            <a:avLst/>
          </a:prstGeom>
          <a:noFill/>
          <a:ln w="19050">
            <a:solidFill>
              <a:srgbClr val="ADB5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212848"/>
            <a:ext cx="1600200" cy="65836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2212848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📦  DimProduct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2331720"/>
            <a:ext cx="502920" cy="0"/>
          </a:xfrm>
          <a:prstGeom prst="line">
            <a:avLst/>
          </a:prstGeom>
          <a:noFill/>
          <a:ln w="15240">
            <a:solidFill>
              <a:srgbClr val="ADB5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572768"/>
            <a:ext cx="1508760" cy="5486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57276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DimCategory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2514600"/>
            <a:ext cx="502920" cy="457200"/>
          </a:xfrm>
          <a:prstGeom prst="line">
            <a:avLst/>
          </a:prstGeom>
          <a:noFill/>
          <a:ln w="15240">
            <a:solidFill>
              <a:srgbClr val="ADB5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743200"/>
            <a:ext cx="1508760" cy="5486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7432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DimBrand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0" cy="502920"/>
          </a:xfrm>
          <a:prstGeom prst="line">
            <a:avLst/>
          </a:prstGeom>
          <a:noFill/>
          <a:ln w="19050">
            <a:solidFill>
              <a:srgbClr val="ADB5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261872"/>
            <a:ext cx="160020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1261872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📅  DimDate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57400" y="1572768"/>
            <a:ext cx="411480" cy="0"/>
          </a:xfrm>
          <a:prstGeom prst="line">
            <a:avLst/>
          </a:prstGeom>
          <a:noFill/>
          <a:ln w="15240">
            <a:solidFill>
              <a:srgbClr val="ADB5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1371600"/>
            <a:ext cx="141732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0" y="13716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DimMonth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0" cy="502920"/>
          </a:xfrm>
          <a:prstGeom prst="line">
            <a:avLst/>
          </a:prstGeom>
          <a:noFill/>
          <a:ln w="19050">
            <a:solidFill>
              <a:srgbClr val="ADB5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29000"/>
            <a:ext cx="160020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42900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🗺️  DimRegion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57400" y="3749040"/>
            <a:ext cx="502920" cy="0"/>
          </a:xfrm>
          <a:prstGeom prst="line">
            <a:avLst/>
          </a:prstGeom>
          <a:noFill/>
          <a:ln w="15240">
            <a:solidFill>
              <a:srgbClr val="ADB5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493008"/>
            <a:ext cx="141732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60320" y="349300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DimCountry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1024128"/>
            <a:ext cx="278892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1024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Star vs Snowflake — Key Differences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1481328"/>
            <a:ext cx="932688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25896" y="1499616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22008" y="1481328"/>
            <a:ext cx="932688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58584" y="1499616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⭐ Star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54696" y="1481328"/>
            <a:ext cx="932688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1499616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❄️ Snowflake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1984248"/>
            <a:ext cx="932688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25896" y="200253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Dim tables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22008" y="1984248"/>
            <a:ext cx="932688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58584" y="200253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1A"/>
                </a:solidFill>
              </a:rPr>
              <a:t>Denormalised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54696" y="1984248"/>
            <a:ext cx="932688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91272" y="200253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1A"/>
                </a:solidFill>
              </a:rPr>
              <a:t>Normalised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9320" y="2487168"/>
            <a:ext cx="932688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25896" y="250545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Joins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22008" y="2487168"/>
            <a:ext cx="9326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58584" y="250545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1A"/>
                </a:solidFill>
              </a:rPr>
              <a:t>Fewer (faster)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854696" y="2487168"/>
            <a:ext cx="9326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91272" y="250545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1A"/>
                </a:solidFill>
              </a:rPr>
              <a:t>More (slower)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89320" y="2990088"/>
            <a:ext cx="932688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25896" y="300837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22008" y="2990088"/>
            <a:ext cx="932688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58584" y="300837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1A"/>
                </a:solidFill>
              </a:rPr>
              <a:t>Uses more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854696" y="2990088"/>
            <a:ext cx="932688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91272" y="300837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1A"/>
                </a:solidFill>
              </a:rPr>
              <a:t>Uses less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989320" y="3493008"/>
            <a:ext cx="932688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25896" y="351129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Complexity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22008" y="3493008"/>
            <a:ext cx="9326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58584" y="351129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1A"/>
                </a:solidFill>
              </a:rPr>
              <a:t>Simple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854696" y="3493008"/>
            <a:ext cx="9326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91272" y="351129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1A"/>
                </a:solidFill>
              </a:rPr>
              <a:t>More complex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989320" y="3995928"/>
            <a:ext cx="932688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25896" y="401421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for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922008" y="3995928"/>
            <a:ext cx="932688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58584" y="401421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1A"/>
                </a:solidFill>
              </a:rPr>
              <a:t>BI / Dashboards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854696" y="3995928"/>
            <a:ext cx="932688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91272" y="401421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1A"/>
                </a:solidFill>
              </a:rPr>
              <a:t>Large DW, storage savings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</a:rPr>
              <a:t>💬  In which scenario would you choose Snowflake over Star?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lin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5486400" cy="5486400"/>
          </a:xfrm>
          <a:prstGeom prst="lin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QUIZ TIME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3 Questions · 4 Minutes · Use the Chat to submit your answers!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8138160" cy="82296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D4A01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920240"/>
            <a:ext cx="78272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Q1  →  What is the key difference between a Fact table and a Dimension table?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340864"/>
            <a:ext cx="7827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4C69D"/>
                </a:solidFill>
              </a:rPr>
              <a:t>Think: numbers vs. context · tall vs. wide · metrics vs. descriptors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8138160" cy="82296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D4A01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880360"/>
            <a:ext cx="78272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Q2  →  In a Star Schema for a hospital, name three Dimension tables and their primary keys.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3300984"/>
            <a:ext cx="7827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4C69D"/>
                </a:solidFill>
              </a:rPr>
              <a:t>Think: WHEN, WHO, WHERE, WHAT around a medical appointment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8138160" cy="82296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D4A01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840480"/>
            <a:ext cx="78272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Q3  →  A company's BI tool is running slowly. A consultant says 'your Snowflake Schema has too many joins.' What would they recommend instead?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4261104"/>
            <a:ext cx="7827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4C69D"/>
                </a:solidFill>
              </a:rPr>
              <a:t>Think: which schema has fewer joins and why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Life: E-Commerce Star Schema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C757D"/>
                </a:solidFill>
              </a:rPr>
              <a:t>Business question: Which product category generated the most revenue by region this quarter?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23317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207008"/>
            <a:ext cx="2185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⭐  FactOrderItem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554480"/>
            <a:ext cx="2331720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554480"/>
            <a:ext cx="54864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7276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OrderItemID  INT PK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883664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883664"/>
            <a:ext cx="54864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0195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      INT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2331720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212848"/>
            <a:ext cx="54864" cy="3108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31136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DateKey      INT FK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542032"/>
            <a:ext cx="2331720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542032"/>
            <a:ext cx="54864" cy="3108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56032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ProductKey   INT FK 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2871216"/>
            <a:ext cx="2331720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871216"/>
            <a:ext cx="54864" cy="3108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889504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CustomerKey  INT FK 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200400"/>
            <a:ext cx="2331720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200400"/>
            <a:ext cx="54864" cy="3108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21868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RegionKey    INT FK 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529584"/>
            <a:ext cx="2331720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529584"/>
            <a:ext cx="54864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54787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    INT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858768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858768"/>
            <a:ext cx="54864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877056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UnitPrice    DEC(10,2)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187952"/>
            <a:ext cx="2331720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4187952"/>
            <a:ext cx="54864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2062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     DEC(4,2)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4517136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517136"/>
            <a:ext cx="54864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535424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     DEC(12,2)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71800" y="1207008"/>
            <a:ext cx="187452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44952" y="120700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📅  DimDate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71800" y="1554480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44952" y="1563624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DateKey PK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971800" y="1856232"/>
            <a:ext cx="1874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44952" y="1865376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OrderDate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71800" y="2157984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44952" y="216712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971800" y="2459736"/>
            <a:ext cx="1874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44952" y="2468880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971800" y="2761488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4952" y="277063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71800" y="3063240"/>
            <a:ext cx="1874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44952" y="3072384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074920" y="1207008"/>
            <a:ext cx="187452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48072" y="120700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📦  DimProduct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74920" y="1554480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48072" y="1563624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ProductKey PK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74920" y="1856232"/>
            <a:ext cx="1874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48072" y="1865376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ProductName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074920" y="2157984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8072" y="216712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074920" y="2459736"/>
            <a:ext cx="1874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48072" y="2468880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074920" y="2761488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48072" y="277063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114032" y="1207008"/>
            <a:ext cx="187452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87184" y="120700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 DimCustomer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114032" y="1554480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87184" y="1563624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CustomerKey PK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114032" y="1856232"/>
            <a:ext cx="1874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87184" y="1865376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114032" y="2157984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87184" y="216712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114032" y="2459736"/>
            <a:ext cx="1874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87184" y="2468880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114032" y="2761488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87184" y="277063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971800" y="3520440"/>
            <a:ext cx="1874520" cy="3474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44952" y="3520440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🗺️  DimRegion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971800" y="3867912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44952" y="3877056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RegionKey PK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971800" y="4169664"/>
            <a:ext cx="1874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44952" y="417880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971800" y="4471416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044952" y="4480560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971800" y="4773168"/>
            <a:ext cx="1874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44952" y="478231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971800" y="5074920"/>
            <a:ext cx="187452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44952" y="5084064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937760" y="3474720"/>
            <a:ext cx="3840480" cy="1463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5047488" y="3566160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</a:rPr>
              <a:t>💡  How this model answers the question: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5047488" y="3913632"/>
            <a:ext cx="3621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p.Category, r.Region,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SUM(f.Revenue) AS TotalRevenue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FactOrderItem 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DimProduct p ON f.ProductKey=p.ProductKey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DimDate d ON f.DateKey=d.DateKey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DimRegion r ON f.RegionKey=r.RegionKey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d.Quarter = 'Q1'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p.Category, r.Region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Modelling Decisions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</a:rPr>
              <a:t>The questions every data modeller must answer BEFORE designing a schema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530352" cy="1188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530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30759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</a:rPr>
              <a:t>What is the business question?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1600200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Every model serves a purpose. Design backwards from the question — not from the data.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9293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4332"/>
                </a:solidFill>
              </a:rPr>
              <a:t>→ 'Which branch had the highest loan defaults?' → you need BranchKey, not BranchAddress in the Fact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578608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78608"/>
            <a:ext cx="530352" cy="1188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78608"/>
            <a:ext cx="530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6517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</a:rPr>
              <a:t>What is the grain of the Fact table?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2944368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Grain = the lowest level of detail one row represents. Getting this wrong corrupts every metric.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3273552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4332"/>
                </a:solidFill>
              </a:rPr>
              <a:t>→ Order grain: 1 row per order. Line-item grain: 1 row per product per order. They answer different questions.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91363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13632"/>
            <a:ext cx="530352" cy="1188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13632"/>
            <a:ext cx="530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3986784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</a:rPr>
              <a:t>Star or Snowflake?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6112" y="4279392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Star = simpler, faster queries. Snowflake = normalised, saves storage. Choose based on query needs.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6112" y="460857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4332"/>
                </a:solidFill>
              </a:rPr>
              <a:t>→ BI Dashboard → Star. Large enterprise DW with thousands of product attributes → Snowflake.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23444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234440"/>
            <a:ext cx="530352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234440"/>
            <a:ext cx="530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30952" y="130759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</a:rPr>
              <a:t>Which attributes go in Fact vs Dimension?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30952" y="1600200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Metrics and foreign keys → Fact. Descriptive, categorical, rarely changing data → Dimension.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30952" y="19293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4332"/>
                </a:solidFill>
              </a:rPr>
              <a:t>→ ProductPrice at time of sale → Fact (it measures). ProductCategory → Dimension (it describes).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578608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578608"/>
            <a:ext cx="530352" cy="118872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578608"/>
            <a:ext cx="530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30952" y="26517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</a:rPr>
              <a:t>How will the model handle change over time?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30952" y="2944368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Slowly Changing Dimensions (SCD) — what happens when a customer moves city or changes segment?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30952" y="3273552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4332"/>
                </a:solidFill>
              </a:rPr>
              <a:t>→ SCD Type 1: overwrite. Type 2: add new row with dates. Type 3: add 'Previous' column. (Advanced — Week 2 deep dive).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91363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913632"/>
            <a:ext cx="530352" cy="11887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913632"/>
            <a:ext cx="530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30952" y="3986784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</a:rPr>
              <a:t>Who will query this model?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30952" y="4279392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Analysts using SQL need star schema. Data scientists using Python need different structure. Know your consumer.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30952" y="460857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4332"/>
                </a:solidFill>
              </a:rPr>
              <a:t>→ Finance team using Power BI → optimise for DAX. ML team using Databricks → optimise for Parquet on Delta Lake.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4224528" cy="105156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15568"/>
            <a:ext cx="475488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Data modelling organises data into structures that can be queried efficiently for business decisions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2304288"/>
            <a:ext cx="4224528" cy="105156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2304288"/>
            <a:ext cx="475488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304288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Fact tables hold WHAT happened — measurable events, metrics and foreign keys. They grow tall and fast.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3493008"/>
            <a:ext cx="4224528" cy="105156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3493008"/>
            <a:ext cx="475488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493008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Dimension tables hold CONTEXT — WHO, WHAT, WHERE, WHEN. They are small, wide and descriptive.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9744" y="1115568"/>
            <a:ext cx="4224528" cy="105156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9744" y="1115568"/>
            <a:ext cx="475488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1115568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76672" y="128016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Star Schema: one Fact at centre, dimensions radiate out. Simple, fast, BI-friendly. Industry default.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9744" y="2304288"/>
            <a:ext cx="4224528" cy="105156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9744" y="2304288"/>
            <a:ext cx="475488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2304288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76672" y="246888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Snowflake Schema normalises dimensions into sub-tables — more joins, less storage duplication.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9744" y="3493008"/>
            <a:ext cx="4224528" cy="105156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9744" y="3493008"/>
            <a:ext cx="475488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493008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76672" y="365760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Great modelling starts with questions: What is the business question? What is the grain? Who queries?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" y="4681728"/>
            <a:ext cx="8449056" cy="365760"/>
          </a:xfrm>
          <a:prstGeom prst="rect">
            <a:avLst/>
          </a:prstGeom>
          <a:solidFill>
            <a:srgbClr val="D4A017">
              <a:alpha val="82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70001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⏭  Next: W2 S2 — ETL vs ELT, Batch vs Real-time, Industry Tools &amp; Platforms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828800"/>
            <a:ext cx="6400800" cy="6400800"/>
          </a:xfrm>
          <a:prstGeom prst="line">
            <a:avLst/>
          </a:prstGeom>
          <a:solidFill>
            <a:srgbClr val="2D6A4F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2926080"/>
            <a:ext cx="5943600" cy="5943600"/>
          </a:xfrm>
          <a:prstGeom prst="line">
            <a:avLst/>
          </a:prstGeom>
          <a:solidFill>
            <a:srgbClr val="2D6A4F">
              <a:alpha val="3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1097280" y="20574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"A well-designed data model is invisible.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A poorly-designed one is unforgettable."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3035808"/>
            <a:ext cx="6217920" cy="1444752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3035808"/>
            <a:ext cx="62179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31089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</a:rPr>
              <a:t>📝  Before W2 S2 — Think about this: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3493008"/>
            <a:ext cx="5943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Pick any app you use daily — Swiggy, your bank, an HR portal.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Imagine you had to build a dashboard for it.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What would your FactTable be? Name three Dimensions.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Share in the group chat at the start of the next session.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4773168"/>
            <a:ext cx="8686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</a:rPr>
              <a:t>Enterprise Data Engineering, Analytics &amp; AI  ·  Week 2, Session 1  ·  Data Modelling Concepts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1698</Words>
  <Application>Microsoft Office PowerPoint</Application>
  <PresentationFormat>On-screen Show (16:9)</PresentationFormat>
  <Paragraphs>313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Modelling Concepts — Week 2 Session 1</dc:title>
  <dc:subject>PptxGenJS Presentation</dc:subject>
  <dc:creator>PptxGenJS</dc:creator>
  <cp:lastModifiedBy>Prachi Kabra</cp:lastModifiedBy>
  <cp:revision>3</cp:revision>
  <dcterms:created xsi:type="dcterms:W3CDTF">2026-05-06T18:17:04Z</dcterms:created>
  <dcterms:modified xsi:type="dcterms:W3CDTF">2026-05-07T18:20:42Z</dcterms:modified>
</cp:coreProperties>
</file>