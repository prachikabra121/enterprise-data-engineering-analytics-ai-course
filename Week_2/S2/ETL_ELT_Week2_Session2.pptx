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94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6576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WEEK 2 · SESSION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vs ELT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 Real-Time  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Industry Tools Overview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Fundamentals — Conceptual Module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8CAE4"/>
                </a:solidFill>
              </a:rPr>
              <a:t>⏱ Duration: 60 Minutes   |   Trainer Name— Prachi Kabra </a:t>
            </a:r>
            <a:endParaRPr lang="en-US" sz="11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386C3EB4-14BB-8CB3-DAFF-88A92784D5CC}"/>
              </a:ext>
            </a:extLst>
          </p:cNvPr>
          <p:cNvSpPr/>
          <p:nvPr/>
        </p:nvSpPr>
        <p:spPr>
          <a:xfrm>
            <a:off x="502920" y="813113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4C69D"/>
                </a:solidFill>
              </a:rPr>
              <a:t>Enterprise Data Engineering, Analytics &amp;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60-Minute Roadmap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00584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is Data Pipeline?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Foundation + Quick Recap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4114800" cy="100584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77440"/>
            <a:ext cx="64008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41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ETL — Extract, Transform, Load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Concept · Flow · Real Examples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520440"/>
            <a:ext cx="4114800" cy="100584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520440"/>
            <a:ext cx="64008" cy="10058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84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ELT — Extract, Load, Transform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Concept · Flow · Real Examples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4114800" cy="100584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234440"/>
            <a:ext cx="64008" cy="10058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298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ETL vs ELT — Head to Head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When to use what &amp; Why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377440"/>
            <a:ext cx="4114800" cy="100584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377440"/>
            <a:ext cx="64008" cy="10058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441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233C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Batch vs Real-Time Processing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92040" y="2971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Definitions, Trade-offs, Examples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520440"/>
            <a:ext cx="4114800" cy="100584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520440"/>
            <a:ext cx="64008" cy="10058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5844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Industry Tools &amp; Platforms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92040" y="4114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Popular tools mapped to use cases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a Data Pipeline?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Foundation concept before diving into ETL &amp; ELT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1508760" cy="1463040"/>
          </a:xfrm>
          <a:prstGeom prst="rect">
            <a:avLst/>
          </a:prstGeom>
          <a:solidFill>
            <a:srgbClr val="13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143000"/>
            <a:ext cx="15087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3258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16916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Databases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APIs / Files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Streams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1801368"/>
            <a:ext cx="25603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143000"/>
            <a:ext cx="1508760" cy="1463040"/>
          </a:xfrm>
          <a:prstGeom prst="rect">
            <a:avLst/>
          </a:prstGeom>
          <a:solidFill>
            <a:srgbClr val="13295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1143000"/>
            <a:ext cx="150876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3258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</a:rPr>
              <a:t>Ingestion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16916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Collect raw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 reliably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801368"/>
            <a:ext cx="25603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143000"/>
            <a:ext cx="1508760" cy="1463040"/>
          </a:xfrm>
          <a:prstGeom prst="rect">
            <a:avLst/>
          </a:prstGeom>
          <a:solidFill>
            <a:srgbClr val="13295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143000"/>
            <a:ext cx="1508760" cy="914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3258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703"/>
                </a:solidFill>
              </a:rPr>
              <a:t>Transform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16916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Clean, enrich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&amp; reshape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1801368"/>
            <a:ext cx="25603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1143000"/>
            <a:ext cx="1508760" cy="1463040"/>
          </a:xfrm>
          <a:prstGeom prst="rect">
            <a:avLst/>
          </a:prstGeom>
          <a:solidFill>
            <a:srgbClr val="132952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143000"/>
            <a:ext cx="1508760" cy="914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3258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8CAE4"/>
                </a:solidFill>
              </a:rPr>
              <a:t>Store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16916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Warehouse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Lake / Mart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40880" y="1801368"/>
            <a:ext cx="25603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1143000"/>
            <a:ext cx="1508760" cy="1463040"/>
          </a:xfrm>
          <a:prstGeom prst="rect">
            <a:avLst/>
          </a:prstGeom>
          <a:solidFill>
            <a:srgbClr val="13295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1143000"/>
            <a:ext cx="1508760" cy="9144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13258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233C"/>
                </a:solidFill>
              </a:rPr>
              <a:t>Consume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16916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Reports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ML / Apps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834640"/>
            <a:ext cx="841248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🍕  Real-World Analogy: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 pizza restaurant pipeline: Raw ingredients arrive (Source) → Chef preps them (Transform) → Stored in fridge (Store) → Served to customer (Consume). A data pipeline does the same — but with data!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8CAE4"/>
                </a:solidFill>
              </a:rPr>
              <a:t>Key insight: ETL &amp; ELT are two different approaches to managing this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ETL — Extract, Transform, Load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The Traditional Approach — Processing data BEFORE storing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2926080"/>
          </a:xfrm>
          <a:prstGeom prst="rect">
            <a:avLst/>
          </a:prstGeom>
          <a:solidFill>
            <a:srgbClr val="13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960120"/>
            <a:ext cx="82296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9144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</a:rPr>
              <a:t>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EXTRACT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Pull raw data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multiple sources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633472"/>
            <a:ext cx="2468880" cy="1828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9748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Databases (MySQL, Oracle)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REST APIs &amp; Web Services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CSV / Excel files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Legacy systems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743200" cy="2926080"/>
          </a:xfrm>
          <a:prstGeom prst="rect">
            <a:avLst/>
          </a:prstGeom>
          <a:solidFill>
            <a:srgbClr val="13295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960120"/>
            <a:ext cx="822960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9144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</a:rPr>
              <a:t>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0040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03"/>
                </a:solidFill>
              </a:rPr>
              <a:t>TRANSFORM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Clean &amp; reshape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 a staging area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633472"/>
            <a:ext cx="2468880" cy="1828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69748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Remove duplicates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Validate data types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Join / aggregate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Apply business rules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2743200" cy="2926080"/>
          </a:xfrm>
          <a:prstGeom prst="rect">
            <a:avLst/>
          </a:prstGeom>
          <a:solidFill>
            <a:srgbClr val="13295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960120"/>
            <a:ext cx="822960" cy="822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9144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</a:rPr>
              <a:t>L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2648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</a:rPr>
              <a:t>LOAD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Load clean data into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the destination system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2633472"/>
            <a:ext cx="2468880" cy="1828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69748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Data Warehouse (Snowflake)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Relational DB (PostgreSQL)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OLAP Cubes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Reporting systems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702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⚡ Key: Transformation happens OUTSIDE the target system — in a dedicated staging server or ETL tool, before loading.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ETL in Action — Real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</a:rPr>
              <a:t>🏦  Scenario: A Bank generating a nightly customer loan summary report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8595360" cy="868680"/>
          </a:xfrm>
          <a:prstGeom prst="rect">
            <a:avLst/>
          </a:prstGeom>
          <a:solidFill>
            <a:srgbClr val="13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4592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1. EXTRACT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Each night at 11 PM, pull transaction records from Oracle DB, account data from MySQL, and KYC data from a flat CSV file exported by the compliance team.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8595360" cy="868680"/>
          </a:xfrm>
          <a:prstGeom prst="rect">
            <a:avLst/>
          </a:prstGeom>
          <a:solidFill>
            <a:srgbClr val="13295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651760"/>
            <a:ext cx="64008" cy="868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2. TRANSFORM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 an ETL server (e.g., Informatica): remove test/dummy accounts, convert all currencies to INR, calculate loan utilization %, flag high-risk accounts, join all three sources.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8595360" cy="868680"/>
          </a:xfrm>
          <a:prstGeom prst="rect">
            <a:avLst/>
          </a:prstGeom>
          <a:solidFill>
            <a:srgbClr val="13295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657600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3. LOAD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Cleaned, structured data is loaded into the bank's central Data Warehouse (Teradata) — ready for the morning dashboard reports &amp; risk team.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Result: Every morning, the risk dashboard shows clean, standardized, up-to-date loan data — made possible by overnight ETL.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ELT — Extract, Load, Transform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The Modern Approach — Load raw data FIRST, transform INSIDE the target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2926080"/>
          </a:xfrm>
          <a:prstGeom prst="rect">
            <a:avLst/>
          </a:prstGeom>
          <a:solidFill>
            <a:srgbClr val="13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960120"/>
            <a:ext cx="82296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9144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</a:rPr>
              <a:t>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EXTRACT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Pull raw data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sources as-is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633472"/>
            <a:ext cx="2468880" cy="1828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9748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Cloud APIs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Event streams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Databases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SaaS platforms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743200" cy="2926080"/>
          </a:xfrm>
          <a:prstGeom prst="rect">
            <a:avLst/>
          </a:prstGeom>
          <a:solidFill>
            <a:srgbClr val="13295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960120"/>
            <a:ext cx="822960" cy="822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9144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</a:rPr>
              <a:t>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0040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</a:rPr>
              <a:t>LOAD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Load RAW data directly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into cloud storage / lake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633472"/>
            <a:ext cx="2468880" cy="1828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69748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Amazon S3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Azure Data Lake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BigQuery raw tables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Snowflake staging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2743200" cy="2926080"/>
          </a:xfrm>
          <a:prstGeom prst="rect">
            <a:avLst/>
          </a:prstGeom>
          <a:solidFill>
            <a:srgbClr val="13295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960120"/>
            <a:ext cx="822960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9144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</a:rPr>
              <a:t>T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2648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03"/>
                </a:solidFill>
              </a:rPr>
              <a:t>TRANSFORM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Transform inside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target using SQL / dbt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2633472"/>
            <a:ext cx="2468880" cy="1828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69748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SQL transforms in-DB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dbt models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Spark on cloud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• In-warehouse compute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702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⚡ Key: Raw data is stored first — transformation happens INSIDE the data warehouse using its own compute power (e.g., BigQuery, Snowflake).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ELT in Action — Real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🛒  Scenario: An E-Commerce Company (like Flipkart) doing real-time analytics on customer behaviour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8595360" cy="868680"/>
          </a:xfrm>
          <a:prstGeom prst="rect">
            <a:avLst/>
          </a:prstGeom>
          <a:solidFill>
            <a:srgbClr val="13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4592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1. EXTRACT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Pull clickstream data from website, order data from microservices, and customer profile data from Salesforce CRM — all happening every few minutes via Fivetran or Airbyte.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8595360" cy="868680"/>
          </a:xfrm>
          <a:prstGeom prst="rect">
            <a:avLst/>
          </a:prstGeom>
          <a:solidFill>
            <a:srgbClr val="13295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651760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2. 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All raw, uncleaned data lands directly into Google BigQuery (Data Warehouse) as raw tables. Hundreds of GBs stored immediately — no waiting for transformation.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8595360" cy="868680"/>
          </a:xfrm>
          <a:prstGeom prst="rect">
            <a:avLst/>
          </a:prstGeom>
          <a:solidFill>
            <a:srgbClr val="13295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657600"/>
            <a:ext cx="64008" cy="868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3. TRANSFORM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dbt (data build tool) runs SQL models inside BigQuery: calculates conversion rates, user cohorts, product performance — using BigQuery's massive compute. Analysts can query instantly.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Result: Analysts explore raw + transformed data without waiting — modern ELT enables this speed at massive scale.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ETL vs ELT — Head to Head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74320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</a:rPr>
              <a:t>Criteria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63240" y="868680"/>
            <a:ext cx="283464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868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</a:rPr>
              <a:t>ETL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868680"/>
            <a:ext cx="283464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868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03"/>
                </a:solidFill>
              </a:rPr>
              <a:t>ELT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274320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3716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Transform Location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1371600"/>
            <a:ext cx="283464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3716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8C8"/>
                </a:solidFill>
              </a:rPr>
              <a:t>External staging server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371600"/>
            <a:ext cx="283464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3716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A0"/>
                </a:solidFill>
              </a:rPr>
              <a:t>Inside the data warehouse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901952"/>
            <a:ext cx="274320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019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Data Volume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63240" y="1901952"/>
            <a:ext cx="283464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901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8C8"/>
                </a:solidFill>
              </a:rPr>
              <a:t>Best for small-medium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901952"/>
            <a:ext cx="283464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901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A0"/>
                </a:solidFill>
              </a:rPr>
              <a:t>Built for big data / cloud scale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432304"/>
            <a:ext cx="274320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43230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Schema Requirement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63240" y="2432304"/>
            <a:ext cx="283464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243230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8C8"/>
                </a:solidFill>
              </a:rPr>
              <a:t>Schema-on-write (predefined)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432304"/>
            <a:ext cx="283464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43230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A0"/>
                </a:solidFill>
              </a:rPr>
              <a:t>Schema-on-read (flexible)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2962656"/>
            <a:ext cx="274320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96265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Speed to Load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63240" y="2962656"/>
            <a:ext cx="283464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296265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8C8"/>
                </a:solidFill>
              </a:rPr>
              <a:t>Slower (transform first)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2962656"/>
            <a:ext cx="283464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296265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A0"/>
                </a:solidFill>
              </a:rPr>
              <a:t>Faster (load raw immediately)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3493008"/>
            <a:ext cx="274320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9300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Raw Data Access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63240" y="3493008"/>
            <a:ext cx="283464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34930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8C8"/>
                </a:solidFill>
              </a:rPr>
              <a:t>❌ Not preserved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3493008"/>
            <a:ext cx="283464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4930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A0"/>
                </a:solidFill>
              </a:rPr>
              <a:t>✅ Raw data always accessible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" y="4023360"/>
            <a:ext cx="274320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0233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Cost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63240" y="4023360"/>
            <a:ext cx="283464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54680" y="40233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8C8"/>
                </a:solidFill>
              </a:rPr>
              <a:t>ETL server + license costs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72200" y="4023360"/>
            <a:ext cx="2834640" cy="475488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40233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A0"/>
                </a:solidFill>
              </a:rPr>
              <a:t>Pay for cloud compute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" y="4553712"/>
            <a:ext cx="274320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55371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Best For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063240" y="4553712"/>
            <a:ext cx="283464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54680" y="455371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E8C8"/>
                </a:solidFill>
              </a:rPr>
              <a:t>Banking, Compliance, OLAP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72200" y="4553712"/>
            <a:ext cx="2834640" cy="475488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455371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0A0"/>
                </a:solidFill>
              </a:rPr>
              <a:t>Analytics, ML, Modern cloud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When to Use ETL vs ELT?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Choose the right approach based on your context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13295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✅ USE ETL WHEN...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Data must be clean BEFORE storing (compliance)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Working with legacy on-premise systems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Strict data governance &amp; security requirements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Small/medium data volumes (&lt; TB range)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Industry: Banking, Healthcare, Insurance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Tools: Informatica, SSIS, Talend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3566160"/>
          </a:xfrm>
          <a:prstGeom prst="rect">
            <a:avLst/>
          </a:prstGeom>
          <a:solidFill>
            <a:srgbClr val="13295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</a:rPr>
              <a:t>✅ USE ELT WHEN...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Using cloud data warehouses (BigQuery, Snowflake)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Working with large or unstructured datasets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Analysts need raw data access for exploration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Speed of ingestion is more important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Industry: E-Commerce, SaaS, Tech companies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Tools: dbt, Fivetran, Airbyte + BigQuery/Snowflake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07408" y="1097280"/>
            <a:ext cx="320040" cy="35661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560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8CAE4"/>
                </a:solidFill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Batch vs Real-Time Processing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Two fundamentally different philosophies of data processing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3657600"/>
          </a:xfrm>
          <a:prstGeom prst="rect">
            <a:avLst/>
          </a:prstGeom>
          <a:solidFill>
            <a:srgbClr val="13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40233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</a:rPr>
              <a:t>BATCH 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What it is: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Collect data over time, then process it all at once in a scheduled job (e.g., nightly or hourly).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Analogy: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🏦 Like a bank that processes all transactions at end-of-day, not one-by-one in the moment.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When to use: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High data volume, non-urgent reporting
• Monthly payroll / billing systems
• Nightly ML model retraining
• End-of-day reconciliation reports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4023360" cy="3657600"/>
          </a:xfrm>
          <a:prstGeom prst="rect">
            <a:avLst/>
          </a:prstGeom>
          <a:solidFill>
            <a:srgbClr val="13295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097280"/>
            <a:ext cx="4023360" cy="4572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 (STREAM) 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233C"/>
                </a:solidFill>
              </a:rPr>
              <a:t>What it is: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Process each data event the moment it arrives — continuous, low-latency computation.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233C"/>
                </a:solidFill>
              </a:rPr>
              <a:t>Analogy: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🚦 Like a traffic signal system that reacts to car sensors instantly — not at the end of the day.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233C"/>
                </a:solidFill>
              </a:rPr>
              <a:t>When to use: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383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Fraud detection (credit card alerts)
• Live sports scores &amp; dashboards
• IoT sensor monitoring
• Recommendation engines (Netflix/Swiggy)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Batch vs Real-Time —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274320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68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Dimension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868680"/>
            <a:ext cx="283464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868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Batch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868680"/>
            <a:ext cx="283464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868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233C"/>
                </a:solidFill>
              </a:rPr>
              <a:t>Real-Time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1371600"/>
            <a:ext cx="274320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Data Freshness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1371600"/>
            <a:ext cx="283464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D4F1"/>
                </a:solidFill>
              </a:rPr>
              <a:t>Minutes to hours old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83464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</a:rPr>
              <a:t>Milliseconds to seconds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1874520"/>
            <a:ext cx="274320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Latency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1874520"/>
            <a:ext cx="283464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D4F1"/>
                </a:solidFill>
              </a:rPr>
              <a:t>High (scheduled jobs)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874520"/>
            <a:ext cx="283464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</a:rPr>
              <a:t>Very low (continuous)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2377440"/>
            <a:ext cx="274320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Complexity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2377440"/>
            <a:ext cx="283464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D4F1"/>
                </a:solidFill>
              </a:rPr>
              <a:t>Simpler to build &amp; debug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2377440"/>
            <a:ext cx="283464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</a:rPr>
              <a:t>Complex, needs careful design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2880360"/>
            <a:ext cx="274320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Cost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0" y="2880360"/>
            <a:ext cx="283464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D4F1"/>
                </a:solidFill>
              </a:rPr>
              <a:t>Lower compute cost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2880360"/>
            <a:ext cx="283464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880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</a:rPr>
              <a:t>Higher continuous compute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3383280"/>
            <a:ext cx="274320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383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Use Case Scale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17520" y="3383280"/>
            <a:ext cx="283464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D4F1"/>
                </a:solidFill>
              </a:rPr>
              <a:t>Large historical datasets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3383280"/>
            <a:ext cx="283464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</a:rPr>
              <a:t>Event-by-event processing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2880" y="3886200"/>
            <a:ext cx="274320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Tools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17520" y="3886200"/>
            <a:ext cx="283464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D4F1"/>
                </a:solidFill>
              </a:rPr>
              <a:t>Spark, Hadoop, Airflow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3886200"/>
            <a:ext cx="283464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</a:rPr>
              <a:t>Kafka, Flink, Spark Streaming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2880" y="4389120"/>
            <a:ext cx="274320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389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Example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017520" y="4389120"/>
            <a:ext cx="283464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D4F1"/>
                </a:solidFill>
              </a:rPr>
              <a:t>Monthly sales report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26480" y="4389120"/>
            <a:ext cx="2834640" cy="457200"/>
          </a:xfrm>
          <a:prstGeom prst="rect">
            <a:avLst/>
          </a:prstGeom>
          <a:solidFill>
            <a:srgbClr val="132952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</a:rPr>
              <a:t>Credit card fraud alert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Industry Tools &amp; Platforms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Tools organized by category — Know what each one does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2834640" cy="1874520"/>
          </a:xfrm>
          <a:prstGeom prst="rect">
            <a:avLst/>
          </a:prstGeom>
          <a:solidFill>
            <a:srgbClr val="13295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97280"/>
            <a:ext cx="283464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ETL Tools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Informatica PowerCenter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Microsoft SSIS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IBM DataStage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Talend Open Studio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Pentaho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834640" cy="1874520"/>
          </a:xfrm>
          <a:prstGeom prst="rect">
            <a:avLst/>
          </a:prstGeom>
          <a:solidFill>
            <a:srgbClr val="13295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97280"/>
            <a:ext cx="2834640" cy="3474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ELT / Ingestion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Fivetran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Airbyte (open source)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Stitch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dbt (Transform layer)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AWS Glue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834640" cy="1874520"/>
          </a:xfrm>
          <a:prstGeom prst="rect">
            <a:avLst/>
          </a:prstGeom>
          <a:solidFill>
            <a:srgbClr val="13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097280"/>
            <a:ext cx="28346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Data Warehouses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50876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Google BigQuery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Snowflake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Amazon Redshift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Azure Synapse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Databricks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" y="3063240"/>
            <a:ext cx="2834640" cy="1874520"/>
          </a:xfrm>
          <a:prstGeom prst="rect">
            <a:avLst/>
          </a:prstGeom>
          <a:solidFill>
            <a:srgbClr val="13295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3063240"/>
            <a:ext cx="2834640" cy="347472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Stream / Real-Time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347472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Apache Kafka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Apache Flink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Spark Streaming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AWS Kinesis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Google Pub/Sub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3063240"/>
            <a:ext cx="2834640" cy="1874520"/>
          </a:xfrm>
          <a:prstGeom prst="rect">
            <a:avLst/>
          </a:prstGeom>
          <a:solidFill>
            <a:srgbClr val="132952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063240"/>
            <a:ext cx="2834640" cy="34747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Orchestration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47472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Apache Airflow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Prefect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Dagster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AWS Step Functions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Luigi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063240"/>
            <a:ext cx="2834640" cy="1874520"/>
          </a:xfrm>
          <a:prstGeom prst="rect">
            <a:avLst/>
          </a:prstGeom>
          <a:solidFill>
            <a:srgbClr val="13295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063240"/>
            <a:ext cx="2834640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</a:rPr>
              <a:t>Data Lakes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47472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Amazon S3 + Athena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Azure Data Lake Storage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Google Cloud Storage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Delta Lake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Apache Hudi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7044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How Tools Fit Together — A Modern Data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 typical cloud-native data pipeline (used by companies like Swiggy, PhonePe, etc.)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329397" cy="1097280"/>
          </a:xfrm>
          <a:prstGeom prst="rect">
            <a:avLst/>
          </a:prstGeom>
          <a:solidFill>
            <a:srgbClr val="13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1329397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3898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18288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APIs, DBs, CSVs,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SaaS apps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26809" y="1844274"/>
            <a:ext cx="4114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87526" y="1353313"/>
            <a:ext cx="1218614" cy="1036086"/>
          </a:xfrm>
          <a:prstGeom prst="rect">
            <a:avLst/>
          </a:prstGeom>
          <a:solidFill>
            <a:srgbClr val="13295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87527" y="1307593"/>
            <a:ext cx="1218614" cy="45719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2549" y="146022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Ingestion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9477" y="166420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Fivetran / Airbyte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(extract + load)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6140" y="1803126"/>
            <a:ext cx="4114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17620" y="1324122"/>
            <a:ext cx="1171135" cy="1097280"/>
          </a:xfrm>
          <a:prstGeom prst="rect">
            <a:avLst/>
          </a:prstGeom>
          <a:solidFill>
            <a:srgbClr val="13295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7620" y="1280159"/>
            <a:ext cx="1171135" cy="73151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361577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</a:rPr>
              <a:t>Raw Storage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1880" y="1639236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S3 / BigQuery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 Lake / DWH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8755" y="1848846"/>
            <a:ext cx="4114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16061" y="1275236"/>
            <a:ext cx="1095522" cy="1097280"/>
          </a:xfrm>
          <a:prstGeom prst="rect">
            <a:avLst/>
          </a:prstGeom>
          <a:solidFill>
            <a:srgbClr val="13295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0233" y="1287194"/>
            <a:ext cx="1111349" cy="102694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5143" y="13898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233C"/>
                </a:solidFill>
              </a:rPr>
              <a:t>Transform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36466" y="1606706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dbt / Spark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SQL models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1961" y="1349795"/>
            <a:ext cx="1171136" cy="1020961"/>
          </a:xfrm>
          <a:prstGeom prst="rect">
            <a:avLst/>
          </a:prstGeom>
          <a:solidFill>
            <a:srgbClr val="13295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1961" y="1303020"/>
            <a:ext cx="1171136" cy="868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1371" y="14036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Serve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40830" y="1560986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Dashboards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ML / Reports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2926080"/>
            <a:ext cx="877824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4436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</a:rPr>
              <a:t>⚙️  Orchestration Layer: Apache Airflow / Prefect schedules and monitors all jobs above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2880" y="3703320"/>
            <a:ext cx="8778240" cy="731520"/>
          </a:xfrm>
          <a:prstGeom prst="rect">
            <a:avLst/>
          </a:prstGeom>
          <a:solidFill>
            <a:srgbClr val="1A0D2E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2160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233C"/>
                </a:solidFill>
              </a:rPr>
              <a:t>⚡  Real-Time Path: Events → Apache Kafka → Spark Streaming / Flink → Dashboard (milliseconds latency)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ETL/ELT paradigm handles the BATCH path above. Real-Time is the STREAMING path below.</a:t>
            </a:r>
            <a:endParaRPr lang="en-US" sz="1050" dirty="0"/>
          </a:p>
        </p:txBody>
      </p:sp>
      <p:sp>
        <p:nvSpPr>
          <p:cNvPr id="35" name="Shape 23"/>
          <p:cNvSpPr/>
          <p:nvPr/>
        </p:nvSpPr>
        <p:spPr>
          <a:xfrm>
            <a:off x="6527409" y="1809105"/>
            <a:ext cx="4114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What you must remember from today's session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1115568"/>
          </a:xfrm>
          <a:prstGeom prst="rect">
            <a:avLst/>
          </a:prstGeom>
          <a:solidFill>
            <a:srgbClr val="13295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64008" cy="11155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435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D6A0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ETL transforms data BEFORE loading — used in legacy/on-premise, compliance-heavy industries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4160520" cy="1115568"/>
          </a:xfrm>
          <a:prstGeom prst="rect">
            <a:avLst/>
          </a:prstGeom>
          <a:solidFill>
            <a:srgbClr val="13295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23160"/>
            <a:ext cx="64008" cy="11155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780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703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280720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ELT loads raw data FIRST, then transforms INSIDE the warehouse — modern cloud-native approach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160520" cy="1115568"/>
          </a:xfrm>
          <a:prstGeom prst="rect">
            <a:avLst/>
          </a:prstGeom>
          <a:solidFill>
            <a:srgbClr val="132952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64008" cy="11155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124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" y="404164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Use ETL for small/medium structured data with strict governance; ELT for big data &amp; analytics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160520" cy="1115568"/>
          </a:xfrm>
          <a:prstGeom prst="rect">
            <a:avLst/>
          </a:prstGeom>
          <a:solidFill>
            <a:srgbClr val="13295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188720"/>
            <a:ext cx="64008" cy="111556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435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233C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00600" y="157276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Batch processing = scheduled, high-volume, delayed; Real-Time = instant, event-driven, low-latency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4160520" cy="1115568"/>
          </a:xfrm>
          <a:prstGeom prst="rect">
            <a:avLst/>
          </a:prstGeom>
          <a:solidFill>
            <a:srgbClr val="132952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423160"/>
            <a:ext cx="64008" cy="11155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4780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00600" y="280720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The Modern Data Stack = Fivetran/Airbyte + Cloud DWH (Snowflake/BigQuery) + dbt + Airflow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657600"/>
            <a:ext cx="4160520" cy="1115568"/>
          </a:xfrm>
          <a:prstGeom prst="rect">
            <a:avLst/>
          </a:prstGeom>
          <a:solidFill>
            <a:srgbClr val="13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657600"/>
            <a:ext cx="64008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7124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00600" y="404164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Kafka powers real-time pipelines; Spark/Flink process the stream; Airflow orchestrates batch jobs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Questions &amp; Discussion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Let's consolidate today's learning together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16459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💬 Think &amp; Discuss: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1. Your bank sends you a fraud alert on your phone within 2 seconds of a transaction. Which processing type is this?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2. A hospital wants to generate monthly patient reports. Should they use ETL or ELT? Why?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3. Swiggy shows you a restaurant recommendation based on what you just browsed. Which pipeline pattern is involved?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1554480"/>
          </a:xfrm>
          <a:prstGeom prst="rect">
            <a:avLst/>
          </a:prstGeom>
          <a:solidFill>
            <a:srgbClr val="13295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🚀 Coming Up Next: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47872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• W3: Data Modeling — Star Schema, Snowflake Schema &amp; Dimensional Modeling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• W13: Hands-on ETL &amp; ELT — Building your first pipeline (practical labs)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• Recommended: Explore dbt Fundamentals (free course at courses.getdbt.com)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Week 2 Session 2 — ETL vs ELT | Batch vs Real-Time | Industry Tools    ©Data Engineering Curriculum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1676</Words>
  <Application>Microsoft Office PowerPoint</Application>
  <PresentationFormat>On-screen Show (16:9)</PresentationFormat>
  <Paragraphs>300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vs ELT | Batch vs Real-Time | Industry Tools</dc:title>
  <dc:subject>PptxGenJS Presentation</dc:subject>
  <dc:creator>Data Engineering Curriculum</dc:creator>
  <cp:lastModifiedBy>Prachi Kabra</cp:lastModifiedBy>
  <cp:revision>2</cp:revision>
  <dcterms:created xsi:type="dcterms:W3CDTF">2026-05-07T18:57:15Z</dcterms:created>
  <dcterms:modified xsi:type="dcterms:W3CDTF">2026-05-07T19:15:00Z</dcterms:modified>
</cp:coreProperties>
</file>