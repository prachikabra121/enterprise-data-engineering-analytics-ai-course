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4A5899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31520"/>
            <a:ext cx="1828800" cy="36576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31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WEEK 1 · SESSION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Enterprise Data Engineering, Analytics &amp;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of Data in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Systems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Why data is the backbone of every modern organisation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4800600"/>
            <a:ext cx="87782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Duration: 1 Hour  |  Trainer: [Your Name]  |  Foundation Phase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371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6576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926080" y="45720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926080" y="457200"/>
            <a:ext cx="73152" cy="7315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63240" y="4572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Understand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what data IS and why enterprises depend on it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926080" y="132588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080" y="1325880"/>
            <a:ext cx="73152" cy="7315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13258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Identify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key roles data plays across different business functions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926080" y="219456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26080" y="2194560"/>
            <a:ext cx="73152" cy="7315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63240" y="21945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Recognise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how data moves through an organisation (data lifecycle)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926080" y="306324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26080" y="3063240"/>
            <a:ext cx="73152" cy="7315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06324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Distinguish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structured, semi-structured and unstructured data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926080" y="3931920"/>
            <a:ext cx="5943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926080" y="3931920"/>
            <a:ext cx="73152" cy="7315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63240" y="39319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Explore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real-world examples from retail, banking, healthcare &amp; logistics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899"/>
                </a:solidFill>
              </a:rPr>
              <a:t>🤔  Opening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DATA?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2560320" cy="28346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7830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828800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Raw Facts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Numbers, text, images, events — anything that can be recorded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645920"/>
            <a:ext cx="2560320" cy="28346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69080" y="1783080"/>
            <a:ext cx="822960" cy="822960"/>
          </a:xfrm>
          <a:prstGeom prst="ellipse">
            <a:avLst/>
          </a:prstGeom>
          <a:solidFill>
            <a:srgbClr val="F7B73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828800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Insights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3756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 processed into meaning — tells you WHAT happened &amp; WHY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645920"/>
            <a:ext cx="2560320" cy="283464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03720" y="1783080"/>
            <a:ext cx="822960" cy="8229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828800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743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Decisions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172200" y="32004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Insights drive strategy — product launches, pricing, hiring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907792" y="2953512"/>
            <a:ext cx="137160" cy="0"/>
          </a:xfrm>
          <a:prstGeom prst="line">
            <a:avLst/>
          </a:prstGeom>
          <a:noFill/>
          <a:ln w="38100">
            <a:solidFill>
              <a:srgbClr val="F7B73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42432" y="2953512"/>
            <a:ext cx="137160" cy="0"/>
          </a:xfrm>
          <a:prstGeom prst="line">
            <a:avLst/>
          </a:prstGeom>
          <a:noFill/>
          <a:ln w="38100">
            <a:solidFill>
              <a:srgbClr val="F7B73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899"/>
                </a:solidFill>
              </a:rPr>
              <a:t>💬  Trainer: Ask learners: 'Name one thing you did this morning that created data.'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is Everywhere in Business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Every department creates, consumes and depends on data every single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06040" cy="1463040"/>
          </a:xfrm>
          <a:prstGeom prst="rect">
            <a:avLst/>
          </a:prstGeom>
          <a:solidFill>
            <a:srgbClr val="4A5899">
              <a:alpha val="70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63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Headcount, attendance, payroll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06040" cy="1463040"/>
          </a:xfrm>
          <a:prstGeom prst="rect">
            <a:avLst/>
          </a:prstGeom>
          <a:solidFill>
            <a:srgbClr val="4A5899">
              <a:alpha val="70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544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463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Finance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383280" y="2148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Revenue, costs, forecasts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280160"/>
            <a:ext cx="2606040" cy="1463040"/>
          </a:xfrm>
          <a:prstGeom prst="rect">
            <a:avLst/>
          </a:prstGeom>
          <a:solidFill>
            <a:srgbClr val="4A5899">
              <a:alpha val="70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14630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Operations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63640" y="21488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Inventory, production, logistics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65760" y="2971800"/>
            <a:ext cx="2606040" cy="1463040"/>
          </a:xfrm>
          <a:prstGeom prst="rect">
            <a:avLst/>
          </a:prstGeom>
          <a:solidFill>
            <a:srgbClr val="4A5899">
              <a:alpha val="70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461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0292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Logs, tickets, uptime metrics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46120" y="2971800"/>
            <a:ext cx="2606040" cy="1463040"/>
          </a:xfrm>
          <a:prstGeom prst="rect">
            <a:avLst/>
          </a:prstGeom>
          <a:solidFill>
            <a:srgbClr val="4A5899">
              <a:alpha val="70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24612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Sales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338328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Pipeline, conversions, quotas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26480" y="2971800"/>
            <a:ext cx="2606040" cy="1463040"/>
          </a:xfrm>
          <a:prstGeom prst="rect">
            <a:avLst/>
          </a:prstGeom>
          <a:solidFill>
            <a:srgbClr val="4A5899">
              <a:alpha val="70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4612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3154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Marketing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263640" y="38404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Campaigns, CTR, customer segments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Types of Enterprise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651760" cy="3886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Structured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1148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Organised in rows &amp; columns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926080"/>
            <a:ext cx="2377440" cy="320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SQL Tables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310128"/>
            <a:ext cx="2377440" cy="320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310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Excel sheets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3694176"/>
            <a:ext cx="2377440" cy="320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694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ERP exports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"Like a perfectly organised filing cabinet"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0" y="960120"/>
            <a:ext cx="2651760" cy="3886200"/>
          </a:xfrm>
          <a:prstGeom prst="rect">
            <a:avLst/>
          </a:prstGeom>
          <a:solidFill>
            <a:srgbClr val="4A5899"/>
          </a:solidFill>
          <a:ln w="12700">
            <a:solidFill>
              <a:srgbClr val="4A5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97280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Semi-Structured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29184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Has some organisation but no fixed schema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337560" y="2926080"/>
            <a:ext cx="2377440" cy="320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8328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JSON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337560" y="3310128"/>
            <a:ext cx="2377440" cy="320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83280" y="3310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XML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37560" y="3694176"/>
            <a:ext cx="2377440" cy="320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83280" y="3694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Email headers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29184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"Like folders that contain documents of varying formats"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080760" y="960120"/>
            <a:ext cx="2651760" cy="3886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97280"/>
            <a:ext cx="640080" cy="6400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807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Unstructured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6172200" y="2331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No predefined model or format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217920" y="2926080"/>
            <a:ext cx="2377440" cy="320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63640" y="2926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Videos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17920" y="3310128"/>
            <a:ext cx="2377440" cy="320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263640" y="3310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Images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217920" y="3694176"/>
            <a:ext cx="2377440" cy="3200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263640" y="36941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Social media posts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172200" y="4206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</a:rPr>
              <a:t>"Like a warehouse of mixed goods with no labels"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B7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2743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QUICK QUIZ TIME!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 Questions · 5 Minutes · No peeking!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26974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Q1  →  What are the three types of data?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Q2  →  Which department generates 'pipeline' and 'conversion' data?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3611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Q3  →  What is the difference between data and an insight?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(Answers on next slide — don't skip ahead!)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Enterprise Data Lifecycle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How data travels from birth to business value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0876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280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874520"/>
            <a:ext cx="150876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745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Collect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Sensors, forms, APIs, transactions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2468880"/>
            <a:ext cx="2286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3591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1188720"/>
            <a:ext cx="1508760" cy="3474720"/>
          </a:xfrm>
          <a:prstGeom prst="rect">
            <a:avLst/>
          </a:prstGeom>
          <a:solidFill>
            <a:srgbClr val="4A5899"/>
          </a:solidFill>
          <a:ln w="12700">
            <a:solidFill>
              <a:srgbClr val="4A58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280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011680" y="1874520"/>
            <a:ext cx="150876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8745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57400" y="242316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Databases, data lakes, cloud storage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468880"/>
            <a:ext cx="2286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3591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9040" y="1188720"/>
            <a:ext cx="150876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49040" y="1280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3749040" y="1874520"/>
            <a:ext cx="150876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8745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Process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94760" y="242316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Clean, transform, enrich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57800" y="2468880"/>
            <a:ext cx="2286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0" y="23591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0" y="1188720"/>
            <a:ext cx="1508760" cy="3474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0" y="1280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5486400" y="1874520"/>
            <a:ext cx="150876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8745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Analyse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532120" y="242316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Reports, dashboards, queries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95160" y="2468880"/>
            <a:ext cx="22860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3591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1188720"/>
            <a:ext cx="1508760" cy="347472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23760" y="12801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7223760" y="1874520"/>
            <a:ext cx="150876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8745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Decide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69480" y="2423160"/>
            <a:ext cx="1417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Strategy, automation, AI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Real-World: Data in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06908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60120"/>
            <a:ext cx="40690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🛒 Retail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Amazon uses purchase history + browsing data to recommend products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Data: Clickstream, orders, inventory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✅  35% of revenue from recommendations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6908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40690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Healthcare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17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Hospitals track patient vitals in real-time to predict deterioration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Data: IoT sensor data, EHR records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✅  Early interventions, fewer ICU admissions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06908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4069080" cy="411480"/>
          </a:xfrm>
          <a:prstGeom prst="rect">
            <a:avLst/>
          </a:prstGeom>
          <a:solidFill>
            <a:srgbClr val="4A5899"/>
          </a:solidFill>
          <a:ln w="12700">
            <a:solidFill>
              <a:srgbClr val="4A5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🏦 Banking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Banks flag unusual transactions as potential fraud within milliseconds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931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Data: Transaction logs, location, behaviour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✅  Millions saved in fraud prevention daily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71800"/>
            <a:ext cx="4069080" cy="1828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971800"/>
            <a:ext cx="406908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🚚 Logistics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429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Delivery companies use GPS + traffic data to optimise routes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931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Data: GPS, traffic APIs, package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✅  Faster deliveries, lower fuel costs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Data Quality Matters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Bad data → Bad decisions → Real cost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14600" cy="2560320"/>
          </a:xfrm>
          <a:prstGeom prst="rect">
            <a:avLst/>
          </a:prstGeom>
          <a:solidFill>
            <a:srgbClr val="4A5899">
              <a:alpha val="80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087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$12.9M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Average annual cost of bad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per organisation (IBM)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14600" cy="2560320"/>
          </a:xfrm>
          <a:prstGeom prst="rect">
            <a:avLst/>
          </a:prstGeom>
          <a:solidFill>
            <a:srgbClr val="4A5899">
              <a:alpha val="80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50876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2860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3383280" y="3017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a data analyst's time spent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cleaning dirty data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126480" y="1371600"/>
            <a:ext cx="2514600" cy="2560320"/>
          </a:xfrm>
          <a:prstGeom prst="rect">
            <a:avLst/>
          </a:prstGeom>
          <a:solidFill>
            <a:srgbClr val="4A5899">
              <a:alpha val="80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50876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2860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1:10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6217920" y="3017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Cost ratio: preventing a data error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vs fixing it later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4160520"/>
            <a:ext cx="8412480" cy="640080"/>
          </a:xfrm>
          <a:prstGeom prst="rect">
            <a:avLst/>
          </a:prstGeom>
          <a:solidFill>
            <a:srgbClr val="F7B731">
              <a:alpha val="85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02920" y="41879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💬  Activity: 'Can you think of a decision your company made that may have been affected by wrong data?' (2-minute pair discussion)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Professional Landscape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Roles that exist because of enterprise data needs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91440" cy="105156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Data Engineer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Builds pipelines &amp; infrastructure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14630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B731"/>
                </a:solidFill>
              </a:rPr>
              <a:t>YES — that's YOU!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11480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Data Analyst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Queries data, creates reports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589520" y="14630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899"/>
                </a:solidFill>
              </a:rPr>
              <a:t>Related role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234440"/>
            <a:ext cx="411480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Data Scientist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ML models, predictions, statistics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54680" y="146304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899"/>
                </a:solidFill>
              </a:rPr>
              <a:t>Adjacent skill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68880"/>
            <a:ext cx="411480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68880"/>
            <a:ext cx="91440" cy="105156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BI Developer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Dashboards, Power BI, Tableau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2697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B731"/>
                </a:solidFill>
              </a:rPr>
              <a:t>YES — that's YOU!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468880"/>
            <a:ext cx="411480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Data Architect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Designs data systems &amp; governance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54680" y="2697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899"/>
                </a:solidFill>
              </a:rPr>
              <a:t>Advanced path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468880"/>
            <a:ext cx="411480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2560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Data Steward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Quality, governance, compliance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2697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899"/>
                </a:solidFill>
              </a:rPr>
              <a:t>Awareness needed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4A5899"/>
                </a:solidFill>
              </a:rPr>
              <a:t>💡  You are training to become a Data Modeller — sitting at the intersection of Engineer + Architect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Summary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097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Data is raw facts — processed data becomes insights that drive decisions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19072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6733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Every enterprise department creates and consumes data daily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95144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249424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Data exists as structured, semi-structured, and unstructured formats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71216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825496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The data lifecycle: Collect → Store → Process → Analyse → Decide</a:t>
            </a:r>
            <a:endParaRPr lang="en-US" sz="1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47288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40156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Data quality is critical — bad data costs organisations millions annually</a:t>
            </a:r>
            <a:endParaRPr lang="en-US" sz="12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23360"/>
            <a:ext cx="320040" cy="32004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4400" y="3977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Data professionals (you!) are in high demand across all industries</a:t>
            </a:r>
            <a:endParaRPr lang="en-US" sz="1250" dirty="0"/>
          </a:p>
        </p:txBody>
      </p:sp>
      <p:sp>
        <p:nvSpPr>
          <p:cNvPr id="16" name="Shape 8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F7B731">
              <a:alpha val="90000"/>
            </a:srgbClr>
          </a:solidFill>
          <a:ln w="12700">
            <a:solidFill>
              <a:srgbClr val="F7B731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457200" y="4636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⏭  Next: S2 — Data Flow in Applications (Input → Storage → Output)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A5899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4A5899">
              <a:alpha val="2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7B73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No such thing as a bad question — only missed opportunities to learn!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</a:rPr>
              <a:t>📝  Before next session: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29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Observe 3 types of data used in your daily life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Note which department in a company might use them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173D"/>
          </a:solidFill>
          <a:ln w="12700">
            <a:solidFill>
              <a:srgbClr val="1217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800600"/>
            <a:ext cx="87782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Enterprise Data Engineering, Analytics &amp; AI · Week 1, Session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 of Data in Enterprise Systems</dc:title>
  <dc:subject>PptxGenJS Presentation</dc:subject>
  <dc:creator>Corporate Trainer</dc:creator>
  <cp:lastModifiedBy>Corporate Trainer</cp:lastModifiedBy>
  <cp:revision>1</cp:revision>
  <dcterms:created xsi:type="dcterms:W3CDTF">2026-04-26T18:10:33Z</dcterms:created>
  <dcterms:modified xsi:type="dcterms:W3CDTF">2026-04-26T18:10:33Z</dcterms:modified>
</cp:coreProperties>
</file>