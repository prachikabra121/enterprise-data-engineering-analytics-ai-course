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86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5486400" cy="5486400"/>
          </a:xfrm>
          <a:prstGeom prst="lin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731520"/>
            <a:ext cx="3657600" cy="3657600"/>
          </a:xfrm>
          <a:prstGeom prst="lin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4114800" cy="4114800"/>
          </a:xfrm>
          <a:prstGeom prst="lin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94360"/>
            <a:ext cx="173736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94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WEEK 1  ·  SESSION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AF8"/>
                </a:solidFill>
              </a:rPr>
              <a:t>Enterprise Data Engineering, Analytics &amp;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in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17373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33649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06040" y="3337560"/>
            <a:ext cx="17373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33649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3337560"/>
            <a:ext cx="173736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33649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12280" y="3337560"/>
            <a:ext cx="173736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How data moves from user action to business intelligence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82312"/>
            <a:ext cx="91440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274320" y="478231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Duration: 1 Hour   |  Trainer: Prachi Kabra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Compass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What this session covers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11480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1.  Understand how data flows from user action to storage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11480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67712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677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2.  Map the Input → Process → Storage → Output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411480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16352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163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3.  Identify how APIs and events carry data between systems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64992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649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4.  Recognise databases, APIs, dashboards in a real app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411480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13632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136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5.  Trace data flow in 3 industry use cases end-to-end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App Has a Hidden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Behind every tap, click and swipe — data is moving through a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920240" cy="2926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417320"/>
            <a:ext cx="685800" cy="685800"/>
          </a:xfrm>
          <a:prstGeom prst="lin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27249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User triggers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an event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566160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56616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Form submit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3767328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767328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Button click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968496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96849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Sensor ping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2606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A50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514600" y="1325880"/>
            <a:ext cx="192024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36392" y="1417320"/>
            <a:ext cx="685800" cy="685800"/>
          </a:xfrm>
          <a:prstGeom prst="lin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14600" y="22128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606040" y="27249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App logic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transforms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3566160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4328" y="356616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Validate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3767328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3767328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Calculate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3968496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396849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Transform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2606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A500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709160" y="1325880"/>
            <a:ext cx="1920240" cy="29260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30952" y="1417320"/>
            <a:ext cx="685800" cy="685800"/>
          </a:xfrm>
          <a:prstGeom prst="lin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09160" y="22128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800600" y="27249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Database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cloud stores 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566160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56616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SQL Table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767328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767328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File / Cache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968496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96849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Cloud store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29400" y="2606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A500"/>
                </a:solidFill>
              </a:rPr>
              <a:t>→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6903720" y="1325880"/>
            <a:ext cx="1920240" cy="2926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25512" y="1417320"/>
            <a:ext cx="685800" cy="685800"/>
          </a:xfrm>
          <a:prstGeom prst="lin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5512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903720" y="22128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995160" y="272491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Dashboard,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or notification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95160" y="3566160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13448" y="356616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Report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95160" y="3767328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13448" y="3767328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API response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95160" y="3968496"/>
            <a:ext cx="1737360" cy="18288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13448" y="396849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Alert / UI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EAF8"/>
                </a:solidFill>
              </a:rPr>
              <a:t>💬  'When you order food on Swiggy, what do you think happens in the first 0.5 seconds?'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 OF 4 — INPUT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Input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Every data journey begins with a human (or machine) taking an 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Human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3055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0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Typing in a form field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9464"/>
            <a:ext cx="26517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946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Clicking 'Place Order'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083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Uploading a document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47288"/>
            <a:ext cx="26517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472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Speaking to a voice assistant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Scanning a QR 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65176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6916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System / App Input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13055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130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Scheduled batch jobs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569464"/>
            <a:ext cx="26517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56946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API calls from other apps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0837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0083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Webhook triggers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447288"/>
            <a:ext cx="26517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4472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Background sync events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88620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886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Automated scripts / bots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1691640"/>
            <a:ext cx="2651760" cy="43891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6916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Machine / IoT Input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213055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130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Temperature sensors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569464"/>
            <a:ext cx="26517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56946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GPS location pings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00837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0083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RFID scanner reads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447288"/>
            <a:ext cx="26517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4472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Camera / image capture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388620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886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▸  Payment terminal swipes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02920" y="448056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🔑  Key Insight: Every input must be captured, validated and formatted BEFORE it enters storage. Garbage in = Garbage out.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 OF 4 —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Processing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What 'Processing' actually means: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55648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Validate:  </a:t>
            </a:r>
            <a:r>
              <a:rPr lang="en-US" sz="1100" dirty="0">
                <a:solidFill>
                  <a:srgbClr val="64748B"/>
                </a:solidFill>
              </a:rPr>
              <a:t>Check: is the email valid? Is the price positive?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04288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042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Transform:  </a:t>
            </a:r>
            <a:r>
              <a:rPr lang="en-US" sz="1100" dirty="0">
                <a:solidFill>
                  <a:srgbClr val="64748B"/>
                </a:solidFill>
              </a:rPr>
              <a:t>Convert formats: date strings → timestamps, USD → INR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52928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529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Enrich:  </a:t>
            </a:r>
            <a:r>
              <a:rPr lang="en-US" sz="1100" dirty="0">
                <a:solidFill>
                  <a:srgbClr val="64748B"/>
                </a:solidFill>
              </a:rPr>
              <a:t>Add context: customer segment, geo from IP, risk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01568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015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Route:  </a:t>
            </a:r>
            <a:r>
              <a:rPr lang="en-US" sz="1100" dirty="0">
                <a:solidFill>
                  <a:srgbClr val="64748B"/>
                </a:solidFill>
              </a:rPr>
              <a:t>Decide: which database? Which service? Which queue?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50208"/>
            <a:ext cx="64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502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Compute:  </a:t>
            </a:r>
            <a:r>
              <a:rPr lang="en-US" sz="1100" dirty="0">
                <a:solidFill>
                  <a:srgbClr val="64748B"/>
                </a:solidFill>
              </a:rPr>
              <a:t>Run calculations: totals, discounts, recommendations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261872"/>
            <a:ext cx="416052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212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13898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🍕  Real Example: Food Delivery 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8470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1.  User clicks 'Order Now'  →  Input received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23042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2.  App validates: item in stock? → Validate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27614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3.  Calculates total + delivery fee  →  Compute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32186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4.  Checks distance, assigns driver  →  Enrich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36758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5.  Sends to restaurant's system  →  Route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9160" y="41330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</a:rPr>
              <a:t>6.  Saves order record to DB  →  Store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💬  Activity: Trace what 'processing' a hospital patient registration triggers.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 OF 4 — STORAGE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Storage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</a:rPr>
              <a:t>Not all data lands in the same place — where it goes depends on HOW it will be used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1554480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Relational DB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852928"/>
            <a:ext cx="1371600" cy="182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26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AF8"/>
                </a:solidFill>
              </a:rPr>
              <a:t>MySQL, SQL Server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364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Transactional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39112" y="1664208"/>
            <a:ext cx="1554480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39112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9112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Warehouse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30552" y="2852928"/>
            <a:ext cx="1371600" cy="182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2926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AF8"/>
                </a:solidFill>
              </a:rPr>
              <a:t>Snowflake, BigQuery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84832" y="3364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Analytics &amp; reporting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58184" y="1664208"/>
            <a:ext cx="1554480" cy="28346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58184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58184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Lake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9624" y="2852928"/>
            <a:ext cx="1371600" cy="182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2926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AF8"/>
                </a:solidFill>
              </a:rPr>
              <a:t>Azure ADLS, S3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03904" y="3364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Raw / big data store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77256" y="1664208"/>
            <a:ext cx="1554480" cy="2834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77256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77256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Cache / Redis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68696" y="2852928"/>
            <a:ext cx="1371600" cy="182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2926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AF8"/>
                </a:solidFill>
              </a:rPr>
              <a:t>Redis, Memcached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22976" y="3364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Fast, temporary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96328" y="1664208"/>
            <a:ext cx="1554480" cy="2834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96328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96328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/ File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87768" y="2852928"/>
            <a:ext cx="1371600" cy="182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926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AF8"/>
                </a:solidFill>
              </a:rPr>
              <a:t>Blob, S3, GCS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42048" y="3364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Documents, media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🔑  How fast does this data need to be accessed? How long must it be kept?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STAGE 4 OF 4 —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Output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Data only creates value when it reaches someone — in the right form, at the right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64008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📊  Dashboards &amp; Reports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BI tools (Power BI, Tableau) pull data from the warehouse and present KPIs, trends, charts to business 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761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Consumer: Managers, Executives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91640"/>
            <a:ext cx="64008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🔌  API Responses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148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Backend APIs serve data to front-end apps, mobile apps, or other systems — in real time or near-real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2761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</a:rPr>
              <a:t>Consumer: Developers, Apps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64008" cy="1417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🔔  Alerts &amp; Notifications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703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Triggered outputs: emails, push notifications, SMS, Slack messages — when data meets a condition or threshold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4315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95C"/>
                </a:solidFill>
              </a:rPr>
              <a:t>Consumer: End Users, Operators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64008" cy="14173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🤖  AI / ML Predictions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3703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Models consume stored data and return predictions, recommendations, or classifications as output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4315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057"/>
                </a:solidFill>
              </a:rPr>
              <a:t>Consumer: Products, Analysts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💬  Which type of output does you use most?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 — The Connective Tissue of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APIs are what allow data to move between separate systems without direct database access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API  </a:t>
            </a:r>
            <a:r>
              <a:rPr lang="en-US" sz="1200" dirty="0">
                <a:solidFill>
                  <a:srgbClr val="FFFFFF"/>
                </a:solidFill>
              </a:rPr>
              <a:t>(Application Programming Interface)  =  A contract that says:</a:t>
            </a:r>
            <a:r>
              <a:rPr lang="en-US" sz="1300" b="1" dirty="0">
                <a:solidFill>
                  <a:srgbClr val="D6EAF8"/>
                </a:solidFill>
              </a:rPr>
              <a:t>  'Send me THIS → I'll give you THAT'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How an API call works: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505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1. Client sends REQUEST  </a:t>
            </a:r>
            <a:r>
              <a:rPr lang="en-US" sz="1050" dirty="0">
                <a:solidFill>
                  <a:srgbClr val="64748B"/>
                </a:solidFill>
              </a:rPr>
              <a:t>App → API endpoint with data payload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809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2. Server PROCESSES  </a:t>
            </a:r>
            <a:r>
              <a:rPr lang="en-US" sz="1050" dirty="0">
                <a:solidFill>
                  <a:srgbClr val="64748B"/>
                </a:solidFill>
              </a:rPr>
              <a:t>Validates auth, queries database, runs logic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112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3. Server sends RESPONSE  </a:t>
            </a:r>
            <a:r>
              <a:rPr lang="en-US" sz="1050" dirty="0">
                <a:solidFill>
                  <a:srgbClr val="64748B"/>
                </a:solidFill>
              </a:rPr>
              <a:t>Returns JSON/XML with result or error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41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4. Client RENDERS output  </a:t>
            </a:r>
            <a:r>
              <a:rPr lang="en-US" sz="1050" dirty="0">
                <a:solidFill>
                  <a:srgbClr val="64748B"/>
                </a:solidFill>
              </a:rPr>
              <a:t>App displays result to user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4023360" cy="2834640"/>
          </a:xfrm>
          <a:prstGeom prst="rect">
            <a:avLst/>
          </a:prstGeom>
          <a:solidFill>
            <a:srgbClr val="0A1628"/>
          </a:solidFill>
          <a:ln w="12700">
            <a:solidFill>
              <a:srgbClr val="212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084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API Response (JSON)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450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6700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"order_id": "ORD-9821",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895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"confirmed",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"customer": {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3284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"Ravi Shah",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5478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"Surat"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7673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9867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"total": 450.00,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2062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"estimated_mins": 28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4256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💡  Every app you use daily — Swiggy, Google Maps, your bank — exchanges data via APIs exactly like this.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lin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lin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QUIZ BREAK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3 Questions · 4 Minutes · Eyes on your own screen!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749808"/>
          </a:xfrm>
          <a:prstGeom prst="rect">
            <a:avLst/>
          </a:prstGeom>
          <a:solidFill>
            <a:srgbClr val="0A1628">
              <a:alpha val="75000"/>
            </a:srgbClr>
          </a:solidFill>
          <a:ln w="12700">
            <a:solidFill>
              <a:srgbClr val="D6EAF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  →  Name the 4 stages of the data flow pipeline we covered today.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225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EAF8"/>
                </a:solidFill>
              </a:rPr>
              <a:t>(Think: what happens before the database)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8046720" cy="749808"/>
          </a:xfrm>
          <a:prstGeom prst="rect">
            <a:avLst/>
          </a:prstGeom>
          <a:solidFill>
            <a:srgbClr val="0A1628">
              <a:alpha val="75000"/>
            </a:srgbClr>
          </a:solidFill>
          <a:ln w="12700">
            <a:solidFill>
              <a:srgbClr val="D6EAF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980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  →  What is the role of an API in a data flow?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EAF8"/>
                </a:solidFill>
              </a:rPr>
              <a:t>(Hint: it connects two separate systems)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30168"/>
            <a:ext cx="8046720" cy="749808"/>
          </a:xfrm>
          <a:prstGeom prst="rect">
            <a:avLst/>
          </a:prstGeom>
          <a:solidFill>
            <a:srgbClr val="0A1628">
              <a:alpha val="75000"/>
            </a:srgbClr>
          </a:solidFill>
          <a:ln w="12700">
            <a:solidFill>
              <a:srgbClr val="D6EAF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67588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  →  A user clicks 'Pay Now' on an e-commerce site. List 3 things that happen BEFORE the payment record is saved.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782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EAF8"/>
                </a:solidFill>
              </a:rPr>
              <a:t>(Think: validate, compute, route…)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AF8"/>
                </a:solidFill>
              </a:rPr>
              <a:t>(Answers revealed on next slide — no peeking!)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— 3 Industries,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Same 4-stage model — different technology stack every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8503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🏦  Banking — Loan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91056"/>
            <a:ext cx="20116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6276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8653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Customer submits form online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31720" y="177393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1591056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6276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PROCESS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18653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Credit score check, risk model runs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62272" y="177393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81144" y="1591056"/>
            <a:ext cx="20116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6276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STORAGE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54296" y="18653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Application saved to core banking DB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92824" y="177393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11696" y="1591056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6276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84848" y="18653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Approval SMS + dashboard update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41448"/>
            <a:ext cx="85039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41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🏥  Healthcare — Patient Check-In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825496"/>
            <a:ext cx="20116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862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</a:rPr>
              <a:t>INPUT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192" y="309981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Staff scans patient ID card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31720" y="300837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50592" y="2825496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2862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</a:rPr>
              <a:t>PROCESS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23744" y="309981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Matches record, checks allergies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62272" y="300837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81144" y="2825496"/>
            <a:ext cx="20116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2862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</a:rPr>
              <a:t>STORAGE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54296" y="309981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EHR updated in hospital system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92824" y="300837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11696" y="2825496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2862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</a:rPr>
              <a:t>OUTPUT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84848" y="309981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Doctor receives alert on tablet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675888"/>
            <a:ext cx="8503920" cy="38404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6758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🛒  E-Commerce — Product Search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4059936"/>
            <a:ext cx="20116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40965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4057"/>
                </a:solidFill>
              </a:rPr>
              <a:t>INPUT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3192" y="433425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User types 'red shoes size 9'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331720" y="424281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450592" y="4059936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40965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4057"/>
                </a:solidFill>
              </a:rPr>
              <a:t>PROCESS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23744" y="433425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Search engine ranks by relevance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462272" y="424281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81144" y="4059936"/>
            <a:ext cx="20116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4296" y="40965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4057"/>
                </a:solidFill>
              </a:rPr>
              <a:t>STORAGE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54296" y="433425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Search query logged for analytics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92824" y="4242816"/>
            <a:ext cx="118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711696" y="4059936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84848" y="40965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4057"/>
                </a:solidFill>
              </a:rPr>
              <a:t>OUTPUT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84848" y="433425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Results + personalised ads shown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💬  challenge: Pick an industry from YOUR experience — trace the data flow for one key action.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Picture — Modern App Data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How all the layers connect in a real enterprise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137160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0700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PRESENTATION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9072" y="1207008"/>
            <a:ext cx="7086600" cy="621792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207008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Web App  |  Mobile App  |  Dashboard  |  Chatbot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315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</a:rPr>
              <a:t>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137160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GATEWAY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19072" y="1920240"/>
            <a:ext cx="7086600" cy="621792"/>
          </a:xfrm>
          <a:prstGeom prst="rect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20240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REST API  |  GraphQL  |  Event Bus  |  Message Queue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542032"/>
            <a:ext cx="7315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</a:rPr>
              <a:t>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1371600" cy="621792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33472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19072" y="2633472"/>
            <a:ext cx="7086600" cy="621792"/>
          </a:xfrm>
          <a:prstGeom prst="rect">
            <a:avLst/>
          </a:prstGeom>
          <a:solidFill>
            <a:srgbClr val="2A5298">
              <a:alpha val="22000"/>
            </a:srgbClr>
          </a:solidFill>
          <a:ln w="12700">
            <a:solidFill>
              <a:srgbClr val="2A529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633472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Validation  |  Rules Engine  |  Calculation  |  Routing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7315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</a:rPr>
              <a:t>⬇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1371600" cy="62179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4670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19072" y="3346704"/>
            <a:ext cx="7086600" cy="621792"/>
          </a:xfrm>
          <a:prstGeom prst="rect">
            <a:avLst/>
          </a:prstGeom>
          <a:solidFill>
            <a:srgbClr val="2E4057">
              <a:alpha val="22000"/>
            </a:srgbClr>
          </a:solidFill>
          <a:ln w="12700">
            <a:solidFill>
              <a:srgbClr val="2E4057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346704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SQL DB  |  Data Lake  |  Cache (Redis)  |  File Store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968496"/>
            <a:ext cx="7315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</a:rPr>
              <a:t>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1371600" cy="62179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5993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ANALYTICS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19072" y="4059936"/>
            <a:ext cx="7086600" cy="621792"/>
          </a:xfrm>
          <a:prstGeom prst="rect">
            <a:avLst/>
          </a:prstGeom>
          <a:solidFill>
            <a:srgbClr val="21295C">
              <a:alpha val="22000"/>
            </a:srgbClr>
          </a:solidFill>
          <a:ln w="12700">
            <a:solidFill>
              <a:srgbClr val="21295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405993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BI Reports  |  ML Model Scoring  |  Alerts  |  Exports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↔  Data flows UP and DOWN — a dashboard query flows top→bottom to DB; a user form flows bottom→top as stored data becomes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31089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DATA STORAGE PATTERN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Medallion Architecture</a:t>
            </a: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(modern data architecture)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layered data design pattern that progressively refines raw data into trusted, analytics-ready information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743200" cy="3246120"/>
          </a:xfrm>
          <a:prstGeom prst="rect">
            <a:avLst/>
          </a:prstGeom>
          <a:solidFill>
            <a:srgbClr val="FDF3E7"/>
          </a:solidFill>
          <a:ln w="12700">
            <a:solidFill>
              <a:srgbClr val="A052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2743200" cy="56692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🥉  BRONZE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202996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Raw / Landing 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Data lands here exactly as it arrives — no transformation, no cleaning. This is your safety net: if anything goes wrong downstream, you always have the original.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145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522D"/>
                </a:solidFill>
              </a:rPr>
              <a:t>What lives here: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33832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Raw API payloads (JSON/XML)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5935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CSV files from partners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8039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Event logs from apps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401421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IoT sensor dumps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4645152"/>
            <a:ext cx="2743200" cy="292608"/>
          </a:xfrm>
          <a:prstGeom prst="rect">
            <a:avLst/>
          </a:prstGeom>
          <a:solidFill>
            <a:srgbClr val="A0522D">
              <a:alpha val="80000"/>
            </a:srgbClr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" y="4654296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522D"/>
                </a:solidFill>
              </a:rPr>
              <a:t>Never delete. Never modify. Append only.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63240" y="301752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227832" y="1691640"/>
            <a:ext cx="2743200" cy="3246120"/>
          </a:xfrm>
          <a:prstGeom prst="rect">
            <a:avLst/>
          </a:prstGeom>
          <a:solidFill>
            <a:srgbClr val="F0F4F8"/>
          </a:solidFill>
          <a:ln w="12700">
            <a:solidFill>
              <a:srgbClr val="70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691640"/>
            <a:ext cx="2743200" cy="566928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0984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🥈  SILVER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00984" y="202996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Cleansed / Conformed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3317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Bronze data is cleaned, deduplicated, validated and standardised. Columns are renamed, data types enforced, nulls handled. This layer is fully trusted.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9272" y="3145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8090"/>
                </a:solidFill>
              </a:rPr>
              <a:t>What lives here: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33832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Cleaned customer records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35935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Standardised date formats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38039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Deduplicated transactions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401421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Validated &amp; typed fields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27832" y="4645152"/>
            <a:ext cx="2743200" cy="292608"/>
          </a:xfrm>
          <a:prstGeom prst="rect">
            <a:avLst/>
          </a:prstGeom>
          <a:solidFill>
            <a:srgbClr val="708090">
              <a:alpha val="80000"/>
            </a:srgbClr>
          </a:solidFill>
          <a:ln w="12700">
            <a:solidFill>
              <a:srgbClr val="70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4654296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08090"/>
                </a:solidFill>
              </a:rPr>
              <a:t>Data here is consistent, correct and reusable.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71032" y="301752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135624" y="1691640"/>
            <a:ext cx="2743200" cy="3246120"/>
          </a:xfrm>
          <a:prstGeom prst="rect">
            <a:avLst/>
          </a:prstGeom>
          <a:solidFill>
            <a:srgbClr val="FFFDE7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1691640"/>
            <a:ext cx="2743200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  GOLD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08776" y="202996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Business-Ready / Aggregated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27064" y="23317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Silver data is aggregated, enriched and modelled for business consumption. Fact tables, dimension tables, KPIs and metrics live here. This is what Power BI connects to.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27064" y="3145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</a:rPr>
              <a:t>What lives here: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45352" y="33832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Monthly revenue summaries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45352" y="35935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Customer 360 profiles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45352" y="38039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KPI metric tables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45352" y="401421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▸  Star / Snowflake schema tables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35624" y="4645152"/>
            <a:ext cx="2743200" cy="292608"/>
          </a:xfrm>
          <a:prstGeom prst="rect">
            <a:avLst/>
          </a:prstGeom>
          <a:solidFill>
            <a:srgbClr val="B8860B">
              <a:alpha val="8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0488" y="4654296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860B"/>
                </a:solidFill>
              </a:rPr>
              <a:t>Optimised for analytics. Fast. Trusted. Governed.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50692" y="144897"/>
            <a:ext cx="5628132" cy="53738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3390314" y="239854"/>
            <a:ext cx="42203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 the data pipeline: Bronze = Storage (raw), Silver = Storage (processed), Gold = Output-ready — all three layers live inside your Data Lake / Lakehouse (e.g. Databricks Delta Lake)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6EAF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05840"/>
            <a:ext cx="6400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1.  </a:t>
            </a:r>
            <a:r>
              <a:rPr lang="en-US" sz="1150" dirty="0">
                <a:solidFill>
                  <a:srgbClr val="FFFFFF"/>
                </a:solidFill>
              </a:rPr>
              <a:t>Every application follows the same core flow: INPUT → PROCESS → STORAGE → OUTPUT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18488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6EAF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18488"/>
            <a:ext cx="6400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1848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2.  </a:t>
            </a:r>
            <a:r>
              <a:rPr lang="en-US" sz="1150" dirty="0">
                <a:solidFill>
                  <a:srgbClr val="FFFFFF"/>
                </a:solidFill>
              </a:rPr>
              <a:t>Inputs come from humans, systems, and machines (IoT sensors, APIs, bots)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6EAF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31136"/>
            <a:ext cx="6400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3.  </a:t>
            </a:r>
            <a:r>
              <a:rPr lang="en-US" sz="1150" dirty="0">
                <a:solidFill>
                  <a:srgbClr val="FFFFFF"/>
                </a:solidFill>
              </a:rPr>
              <a:t>Processing transforms, validates, enriches and routes data before it is stored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43784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6EAF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843784"/>
            <a:ext cx="6400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437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4.  </a:t>
            </a:r>
            <a:r>
              <a:rPr lang="en-US" sz="1150" dirty="0">
                <a:solidFill>
                  <a:srgbClr val="FFFFFF"/>
                </a:solidFill>
              </a:rPr>
              <a:t>Storage type depends on access speed and retention needs — DB vs Warehouse vs Lake vs Cache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6EAF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456432"/>
            <a:ext cx="6400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5.  </a:t>
            </a:r>
            <a:r>
              <a:rPr lang="en-US" sz="1150" dirty="0">
                <a:solidFill>
                  <a:srgbClr val="FFFFFF"/>
                </a:solidFill>
              </a:rPr>
              <a:t>APIs are the connective tissue — they allow data to flow between separate systems securely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069080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6EAF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4069080"/>
            <a:ext cx="6400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6908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6.  </a:t>
            </a:r>
            <a:r>
              <a:rPr lang="en-US" sz="1150" dirty="0">
                <a:solidFill>
                  <a:srgbClr val="FFFFFF"/>
                </a:solidFill>
              </a:rPr>
              <a:t>Output forms include dashboards, API responses, alerts and AI predictions</a:t>
            </a:r>
            <a:endParaRPr lang="en-US" sz="120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1ADE6AA4-20C8-02EE-E57C-21C193E52037}"/>
              </a:ext>
            </a:extLst>
          </p:cNvPr>
          <p:cNvSpPr/>
          <p:nvPr/>
        </p:nvSpPr>
        <p:spPr>
          <a:xfrm>
            <a:off x="411480" y="4640932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6EAF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E4954117-38AC-DCA7-170C-08686E5B6165}"/>
              </a:ext>
            </a:extLst>
          </p:cNvPr>
          <p:cNvSpPr/>
          <p:nvPr/>
        </p:nvSpPr>
        <p:spPr>
          <a:xfrm>
            <a:off x="411480" y="4649724"/>
            <a:ext cx="64008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95EC7EBF-DA22-86F6-450D-EF13BE9EE72D}"/>
              </a:ext>
            </a:extLst>
          </p:cNvPr>
          <p:cNvSpPr/>
          <p:nvPr/>
        </p:nvSpPr>
        <p:spPr>
          <a:xfrm>
            <a:off x="557784" y="45994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7.  </a:t>
            </a:r>
            <a:r>
              <a:rPr lang="en-US" sz="1200" dirty="0">
                <a:solidFill>
                  <a:schemeClr val="bg1"/>
                </a:solidFill>
              </a:rPr>
              <a:t>Modern data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lin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5486400" cy="5486400"/>
          </a:xfrm>
          <a:prstGeom prst="lin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</a:rPr>
              <a:t>"Every time you use an app — now you see the flow."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6400800" cy="1280160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303580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📝  Activity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3401568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Pick one app you use daily.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Trace its data flow: What is the Input? What Processing must happen? Where is it Stored? What Output do YOU see?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782312"/>
            <a:ext cx="91440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8231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Enterprise Data Engineering, Analytics &amp; AI  ·  Week 1, Session 2  ·  Data Flow in Applications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1726</Words>
  <Application>Microsoft Office PowerPoint</Application>
  <PresentationFormat>On-screen Show (16:9)</PresentationFormat>
  <Paragraphs>285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Flow in Applications — Week 1 Session 2</dc:title>
  <dc:subject>PptxGenJS Presentation</dc:subject>
  <dc:creator>PptxGenJS</dc:creator>
  <cp:lastModifiedBy>Prachi Kabra</cp:lastModifiedBy>
  <cp:revision>3</cp:revision>
  <dcterms:created xsi:type="dcterms:W3CDTF">2026-05-02T12:29:07Z</dcterms:created>
  <dcterms:modified xsi:type="dcterms:W3CDTF">2026-05-02T13:03:44Z</dcterms:modified>
</cp:coreProperties>
</file>