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717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E3250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64008" cy="5143500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914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data_warehouse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layer = 'gold'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facts (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3200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INT PRIMARY KEY,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3657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metric DECIMAL(18,2)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4114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02920"/>
            <a:ext cx="1828800" cy="329184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502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1  ·  SESSION 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9601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</a:rPr>
              <a:t>Enterprise Data Engineering, Analytics &amp;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13716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&amp;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502920" y="214884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E85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Engineering</a:t>
            </a:r>
            <a:endParaRPr lang="en-US" sz="4300" dirty="0"/>
          </a:p>
        </p:txBody>
      </p:sp>
      <p:sp>
        <p:nvSpPr>
          <p:cNvPr id="18" name="Text 16"/>
          <p:cNvSpPr/>
          <p:nvPr/>
        </p:nvSpPr>
        <p:spPr>
          <a:xfrm>
            <a:off x="502920" y="288036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Concepts</a:t>
            </a:r>
            <a:endParaRPr lang="en-US" sz="4300" dirty="0"/>
          </a:p>
        </p:txBody>
      </p:sp>
      <p:sp>
        <p:nvSpPr>
          <p:cNvPr id="19" name="Text 17"/>
          <p:cNvSpPr/>
          <p:nvPr/>
        </p:nvSpPr>
        <p:spPr>
          <a:xfrm>
            <a:off x="502920" y="37490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</a:rPr>
              <a:t>Data Types · Modern Storage Systems · SQL Foundations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773168"/>
            <a:ext cx="6217920" cy="370332"/>
          </a:xfrm>
          <a:prstGeom prst="rect">
            <a:avLst/>
          </a:prstGeom>
          <a:solidFill>
            <a:srgbClr val="2E3250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773168"/>
            <a:ext cx="58521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Duration: 1 Hour  |  Trainer: Prachi Kabra  |  Foundation Phase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Walk Away With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</a:rPr>
              <a:t>By the end of this session, you will be able to: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463040"/>
            <a:ext cx="438912" cy="438912"/>
          </a:xfrm>
          <a:prstGeom prst="line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1790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40817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Read &amp; Write SQL Data Types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168249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Know INT, VARCHAR, DECIMAL, DATE, BOOLEAN, JSON — and when to use each one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2020824"/>
            <a:ext cx="8046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6032" y="2167128"/>
            <a:ext cx="438912" cy="438912"/>
          </a:xfrm>
          <a:prstGeom prst="lin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2219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11226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Identify Modern Storage Systems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22960" y="238658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Distinguish Database, Data Warehouse, Data Lake, Lakehouse and Datamart with confidence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" y="2724912"/>
            <a:ext cx="8046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6032" y="2871216"/>
            <a:ext cx="438912" cy="438912"/>
          </a:xfrm>
          <a:prstGeom prst="line">
            <a:avLst/>
          </a:prstGeom>
          <a:solidFill>
            <a:srgbClr val="2E3250"/>
          </a:solidFill>
          <a:ln w="12700">
            <a:solidFill>
              <a:srgbClr val="2E325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92608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81635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Understand the Data Engineer's Role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2960" y="309067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Know where data engineers sit in the modern data stack and what they actually build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22960" y="3429000"/>
            <a:ext cx="8046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56032" y="3575304"/>
            <a:ext cx="438912" cy="438912"/>
          </a:xfrm>
          <a:prstGeom prst="line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63016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35204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Map Storage to Use Case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22960" y="379476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Match the right storage system to the right business problem — not just memorise definitions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22960" y="4133088"/>
            <a:ext cx="8046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56032" y="4279392"/>
            <a:ext cx="438912" cy="438912"/>
          </a:xfrm>
          <a:prstGeom prst="lin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433425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2960" y="422452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Connect to the Bigger Picture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22960" y="449884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See how SQL, storage systems and data engineering link to what's coming in Weeks 2–16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Data Types Matter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</a:rPr>
              <a:t>A database that doesn't know what kind of data it holds is a liability, not an asset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89888"/>
            <a:ext cx="2651760" cy="3200400"/>
          </a:xfrm>
          <a:prstGeom prst="rect">
            <a:avLst/>
          </a:prstGeom>
          <a:solidFill>
            <a:srgbClr val="2E3250"/>
          </a:solidFill>
          <a:ln w="12700">
            <a:solidFill>
              <a:srgbClr val="3A3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89888"/>
            <a:ext cx="2651760" cy="54864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29768" y="221284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Financial Miscalculation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697480"/>
            <a:ext cx="24323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AEC0"/>
                </a:solidFill>
              </a:rPr>
              <a:t>A bank stores a loan amount as TEXT instead of DECIMAL. Arithmetic operations fail silently. A ₹50,000 loan appears as ₹5,00,000 in a report.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389888"/>
            <a:ext cx="2651760" cy="3200400"/>
          </a:xfrm>
          <a:prstGeom prst="rect">
            <a:avLst/>
          </a:prstGeom>
          <a:solidFill>
            <a:srgbClr val="2E3250"/>
          </a:solidFill>
          <a:ln w="12700">
            <a:solidFill>
              <a:srgbClr val="3A3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89888"/>
            <a:ext cx="2651760" cy="54864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10128" y="221284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Date Logic Collapse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2697480"/>
            <a:ext cx="24323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AEC0"/>
                </a:solidFill>
              </a:rPr>
              <a:t>A hospital stores dates as VARCHAR. Sorting patients by admission date returns '9th Jan' after '10th Jan'. Triage decisions are made on wrong order.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389888"/>
            <a:ext cx="2651760" cy="3200400"/>
          </a:xfrm>
          <a:prstGeom prst="rect">
            <a:avLst/>
          </a:prstGeom>
          <a:solidFill>
            <a:srgbClr val="2E3250"/>
          </a:solidFill>
          <a:ln w="12700">
            <a:solidFill>
              <a:srgbClr val="3A3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389888"/>
            <a:ext cx="2651760" cy="54864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90488" y="221284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 Vulnerability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0488" y="2697480"/>
            <a:ext cx="24323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AEC0"/>
                </a:solidFill>
              </a:rPr>
              <a:t>A login system stores passwords and usernames in the same VARCHAR column with no length constraint. A 2MB string crashes the auth service.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solidFill>
            <a:srgbClr val="E8572A">
              <a:alpha val="85000"/>
            </a:srgbClr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000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🔑  The right data type enforces correctness at the storage level — before any code runs.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Data Types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</a:rPr>
              <a:t>Every column in every table has a type — choosing the right one is the first design decision a data engineer makes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4069080" cy="347472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618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🔢  NUMERIC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27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/ BIGINT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16276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Whole numbers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70048" y="16276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Employee count, Order ID, 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40690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04825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DECIMAL(p,s)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20482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Exact precision numbers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70048" y="20482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Price: DECIMAL(10,2) = ₹9,99,999.99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/ REAL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2468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Approx. decimal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70048" y="24688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Scientific measurements (use carefully)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871216"/>
            <a:ext cx="40690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88950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SMALLINT / TINYINT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288950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Small whole numbers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70048" y="288950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Rating (1–5), Status flags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261872"/>
            <a:ext cx="4069080" cy="347472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2618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📝  TEXT / STRING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609344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1627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52160" y="16276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Variable length text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67728" y="16276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Name VARCHAR(100), Email VARCHAR(255)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2029968"/>
            <a:ext cx="40690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204825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CHAR(n)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52160" y="20482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Fixed length text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67728" y="20482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Country code CHAR(2): 'IN', 'US'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2450592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NVARCHAR(n)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2468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Unicode / multilingual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67728" y="24688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Hindi names, Arabic text, Emoji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2871216"/>
            <a:ext cx="40690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288950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/ NTEXT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52160" y="288950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Large text blocks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67728" y="288950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Product descriptions, comments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127248"/>
            <a:ext cx="4069080" cy="34747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127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📅  DATE &amp; TIME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3474720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34930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7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554480" y="34930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Date only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670048" y="349300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2024-01-15 — DOB, Order date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3895344"/>
            <a:ext cx="40690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7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554480" y="39136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Date + time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670048" y="39136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2024-01-15 14:30:00 — Transactions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315968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" y="433425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7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554480" y="43342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Auto system time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670048" y="43342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Record created/updated tracking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4736592"/>
            <a:ext cx="40690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4754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7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554480" y="4754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Time only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670048" y="47548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Shift start: 09:00:00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0" y="3127248"/>
            <a:ext cx="4069080" cy="347472"/>
          </a:xfrm>
          <a:prstGeom prst="rect">
            <a:avLst/>
          </a:prstGeom>
          <a:solidFill>
            <a:srgbClr val="2E3250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3127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🔵  OTHER ESSENTIALS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0" y="3474720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45152" y="34930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3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/ BOOLEAN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852160" y="34930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True/False flags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967728" y="349300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is_active=1, is_deleted=0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0" y="3895344"/>
            <a:ext cx="40690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45152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3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852160" y="39136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Semi-structured data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967728" y="39136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API payloads, config objects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0" y="4315968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45152" y="433425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3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UNIQUEIDENTIFIER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852160" y="43342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UUID / GUID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967728" y="43342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Global unique keys across systems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572000" y="4736592"/>
            <a:ext cx="40690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45152" y="4754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3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 / BLOB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852160" y="4754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Raw binary data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967728" y="47548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Images, PDFs, encrypted data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Types in 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</a:rPr>
              <a:t>Designing a real table — every column choice is deliberate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07008"/>
            <a:ext cx="4526280" cy="3611880"/>
          </a:xfrm>
          <a:prstGeom prst="rect">
            <a:avLst/>
          </a:prstGeom>
          <a:solidFill>
            <a:srgbClr val="1C1C2E"/>
          </a:solidFill>
          <a:ln w="12700">
            <a:solidFill>
              <a:srgbClr val="2E325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Customers (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CustomerID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74520" y="171907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0" y="17190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KEY,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FullName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74520" y="2057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NVARCHAR(150)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0" y="20574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74520" y="239572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VARCHAR(255)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0" y="239572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NOT NULL,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73405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PhoneNumber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74520" y="273405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VARCHAR(15)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0" y="2734056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NULL,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07238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DateOfBirth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74520" y="307238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0" y="3072384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4107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CreditLimit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74520" y="341071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DECIMAL(12,2)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0" y="341071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0.00,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IsActive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74520" y="37490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0" y="37490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1,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0873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874520" y="408736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00400" y="408736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GETDATE()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434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0" y="12070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</a:rPr>
              <a:t>Why these choices?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0" y="1664208"/>
            <a:ext cx="3749040" cy="56692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0" y="1664208"/>
            <a:ext cx="54864" cy="566928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170078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38928" y="19385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IDs are whole numbers — no decimals ever needed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2322576"/>
            <a:ext cx="3749040" cy="56692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0" y="2322576"/>
            <a:ext cx="54864" cy="566928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38928" y="235915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NVARCHAR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38928" y="25968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Customer names may contain Unicode (Hindi, Arabic)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0" y="2980944"/>
            <a:ext cx="3749040" cy="56692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29200" y="2980944"/>
            <a:ext cx="54864" cy="56692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38928" y="301752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DECIMAL(12,2)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38928" y="32552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Credit limits need exact precision — FLOAT would round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0" y="3639312"/>
            <a:ext cx="3749040" cy="56692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0" y="3639312"/>
            <a:ext cx="54864" cy="566928"/>
          </a:xfrm>
          <a:prstGeom prst="rect">
            <a:avLst/>
          </a:prstGeom>
          <a:solidFill>
            <a:srgbClr val="2E3250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38928" y="367588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3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38928" y="3913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Active/Inactive flag — only 2 states, 1 bit of storage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0" y="4297680"/>
            <a:ext cx="3749040" cy="56692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029200" y="4297680"/>
            <a:ext cx="54864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38928" y="433425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38928" y="45720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Record creation timestamp — auto-filled by database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</a:rPr>
              <a:t>💬  Ask: 'What would break if PhoneNumber was stored as INT?'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Modern Data Storage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</a:rPr>
              <a:t>Four systems — different purposes, different strengths. A mature enterprise uses all four.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3611880"/>
          </a:xfrm>
          <a:prstGeom prst="rect">
            <a:avLst/>
          </a:prstGeom>
          <a:solidFill>
            <a:srgbClr val="2E3250"/>
          </a:solidFill>
          <a:ln w="12700">
            <a:solidFill>
              <a:srgbClr val="3A3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011680" cy="54864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1353312"/>
            <a:ext cx="676656" cy="676656"/>
          </a:xfrm>
          <a:prstGeom prst="line">
            <a:avLst/>
          </a:prstGeom>
          <a:solidFill>
            <a:srgbClr val="E8572A">
              <a:alpha val="80000"/>
            </a:srgbClr>
          </a:solidFill>
          <a:ln w="12700">
            <a:solidFill>
              <a:srgbClr val="E8572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08176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212140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9184" y="2487168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8572A"/>
                </a:solidFill>
              </a:rPr>
              <a:t>OLTP — Online Transaction Processing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11480" y="2834640"/>
            <a:ext cx="1737360" cy="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8986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Real-time read/write operations for applications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3474720"/>
            <a:ext cx="1847088" cy="320040"/>
          </a:xfrm>
          <a:prstGeom prst="rect">
            <a:avLst/>
          </a:prstGeom>
          <a:solidFill>
            <a:srgbClr val="1C1C2E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3493008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5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Server · MySQL · PostgreSQL · Oracle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29184" y="379476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</a:rPr>
              <a:t>⚡ Millisecond reads/writes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29184" y="409651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18096"/>
                </a:solidFill>
              </a:rPr>
              <a:t>Best for: Orders, accounts, logins, inventory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450592" y="1234440"/>
            <a:ext cx="2011680" cy="3611880"/>
          </a:xfrm>
          <a:prstGeom prst="rect">
            <a:avLst/>
          </a:prstGeom>
          <a:solidFill>
            <a:srgbClr val="2E3250"/>
          </a:solidFill>
          <a:ln w="12700">
            <a:solidFill>
              <a:srgbClr val="3A3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450592" y="1234440"/>
            <a:ext cx="2011680" cy="54864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118104" y="1353312"/>
            <a:ext cx="676656" cy="676656"/>
          </a:xfrm>
          <a:prstGeom prst="line">
            <a:avLst/>
          </a:prstGeom>
          <a:solidFill>
            <a:srgbClr val="1A9E8F">
              <a:alpha val="80000"/>
            </a:srgbClr>
          </a:solidFill>
          <a:ln w="12700">
            <a:solidFill>
              <a:srgbClr val="1A9E8F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408176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23744" y="212140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Warehouse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2505456" y="2487168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A9E8F"/>
                </a:solidFill>
              </a:rPr>
              <a:t>OLAP — Online Analytical Processing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587752" y="2834640"/>
            <a:ext cx="1737360" cy="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542032" y="28986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Historical analytics on structured, cleaned data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2542032" y="3429000"/>
            <a:ext cx="1847088" cy="301752"/>
          </a:xfrm>
          <a:prstGeom prst="rect">
            <a:avLst/>
          </a:prstGeom>
          <a:solidFill>
            <a:srgbClr val="1C1C2E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523744" y="340156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Snowflake · Azure Synapse · BigQuery · Redshift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2505456" y="379476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</a:rPr>
              <a:t>📊 Seconds to minutes for complex queries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2505456" y="409651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18096"/>
                </a:solidFill>
              </a:rPr>
              <a:t>Best for: Monthly reports, KPIs, business intelligence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4626864" y="1234440"/>
            <a:ext cx="2011680" cy="3611880"/>
          </a:xfrm>
          <a:prstGeom prst="rect">
            <a:avLst/>
          </a:prstGeom>
          <a:solidFill>
            <a:srgbClr val="2E3250"/>
          </a:solidFill>
          <a:ln w="12700">
            <a:solidFill>
              <a:srgbClr val="3A3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626864" y="1234440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294376" y="1353312"/>
            <a:ext cx="676656" cy="676656"/>
          </a:xfrm>
          <a:prstGeom prst="line">
            <a:avLst/>
          </a:prstGeom>
          <a:solidFill>
            <a:srgbClr val="D4A017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408176"/>
            <a:ext cx="548640" cy="5486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700016" y="212140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Lake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4681728" y="2487168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4A017"/>
                </a:solidFill>
              </a:rPr>
              <a:t>Raw Storage — All Formats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4764024" y="2834640"/>
            <a:ext cx="1737360" cy="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718304" y="28986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Store everything raw — structured, semi, unstructured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4718304" y="3474720"/>
            <a:ext cx="1865376" cy="320040"/>
          </a:xfrm>
          <a:prstGeom prst="rect">
            <a:avLst/>
          </a:prstGeom>
          <a:solidFill>
            <a:srgbClr val="1C1C2E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7" name="Text 32"/>
          <p:cNvSpPr/>
          <p:nvPr/>
        </p:nvSpPr>
        <p:spPr>
          <a:xfrm>
            <a:off x="4700016" y="3493008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ADLS Gen2 · AWS S3 · Google GCS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4681728" y="379476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</a:rPr>
              <a:t>🌊 Low cost, high volume — not for fast queries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4681728" y="409651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18096"/>
                </a:solidFill>
              </a:rPr>
              <a:t>Best for: IoT dumps, logs, JSON, images, ML training data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6803136" y="1234440"/>
            <a:ext cx="2011680" cy="3611880"/>
          </a:xfrm>
          <a:prstGeom prst="rect">
            <a:avLst/>
          </a:prstGeom>
          <a:solidFill>
            <a:srgbClr val="2E3250"/>
          </a:solidFill>
          <a:ln w="12700">
            <a:solidFill>
              <a:srgbClr val="3A3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6803136" y="1234440"/>
            <a:ext cx="201168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470648" y="1353312"/>
            <a:ext cx="676656" cy="676656"/>
          </a:xfrm>
          <a:prstGeom prst="line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408176"/>
            <a:ext cx="548640" cy="54864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876288" y="212140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Lakehouse</a:t>
            </a:r>
            <a:endParaRPr lang="en-US" sz="1500" dirty="0"/>
          </a:p>
        </p:txBody>
      </p:sp>
      <p:sp>
        <p:nvSpPr>
          <p:cNvPr id="45" name="Text 39"/>
          <p:cNvSpPr/>
          <p:nvPr/>
        </p:nvSpPr>
        <p:spPr>
          <a:xfrm>
            <a:off x="6858000" y="2487168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B59B6"/>
                </a:solidFill>
              </a:rPr>
              <a:t>OLTP + OLAP — Best of Both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6940296" y="2834640"/>
            <a:ext cx="1737360" cy="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894576" y="28986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Combines Data Lake scale with Warehouse performance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6894576" y="3374137"/>
            <a:ext cx="1828800" cy="374903"/>
          </a:xfrm>
          <a:prstGeom prst="rect">
            <a:avLst/>
          </a:prstGeom>
          <a:solidFill>
            <a:srgbClr val="1C1C2E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9" name="Text 43"/>
          <p:cNvSpPr/>
          <p:nvPr/>
        </p:nvSpPr>
        <p:spPr>
          <a:xfrm>
            <a:off x="6858000" y="3319272"/>
            <a:ext cx="188366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Databricks Delta Lake · Microsoft Fabric · Apache Iceberg</a:t>
            </a:r>
            <a:endParaRPr lang="en-US" sz="850" dirty="0"/>
          </a:p>
        </p:txBody>
      </p:sp>
      <p:sp>
        <p:nvSpPr>
          <p:cNvPr id="50" name="Text 44"/>
          <p:cNvSpPr/>
          <p:nvPr/>
        </p:nvSpPr>
        <p:spPr>
          <a:xfrm>
            <a:off x="6858000" y="379476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</a:rPr>
              <a:t>🚀 Fast + scalable + ACID compliant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6858000" y="409651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18096"/>
                </a:solidFill>
              </a:rPr>
              <a:t>Best for: Streaming + batch, SQL + ML in one platform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274320" y="470001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</a:rPr>
              <a:t>💬  'If you had to store every UPI transaction in India — 10 billion per day — which system do you start with?'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Datamart — The Focused Layer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</a:rPr>
              <a:t>A Datamart is a subject-focused slice of a Warehouse — built for one team or one business question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E8572A">
              <a:alpha val="90000"/>
            </a:srgbClr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618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72A"/>
                </a:solidFill>
              </a:rPr>
              <a:t>Analogy:  </a:t>
            </a:r>
            <a:r>
              <a:rPr lang="en-US" sz="1300" dirty="0">
                <a:solidFill>
                  <a:srgbClr val="1C1C2E"/>
                </a:solidFill>
              </a:rPr>
              <a:t>A Data Warehouse is a supermarket with everything. A Datamart is the dairy aisle — same building, curated for one specific need.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103120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103120"/>
            <a:ext cx="2011680" cy="438912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210312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Sales Datamart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" y="2633472"/>
            <a:ext cx="1792224" cy="36576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65176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Revenue by region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3072384"/>
            <a:ext cx="1792224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309067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Lead conversion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3511296"/>
            <a:ext cx="1792224" cy="36576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52958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Pipeline value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" y="3950208"/>
            <a:ext cx="1792224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968496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Top customers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96312" y="2103120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2103120"/>
            <a:ext cx="2011680" cy="438912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9464" y="210312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Finance Datamart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06040" y="2633472"/>
            <a:ext cx="1792224" cy="36576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60904" y="265176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P&amp;L summary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3072384"/>
            <a:ext cx="1792224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60904" y="309067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Cost per department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3511296"/>
            <a:ext cx="1792224" cy="36576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60904" y="352958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Cash flow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06040" y="3950208"/>
            <a:ext cx="1792224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60904" y="3968496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Budget vs Actual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72584" y="2103120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72584" y="2103120"/>
            <a:ext cx="2011680" cy="43891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5736" y="210312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HR Datamart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82312" y="2633472"/>
            <a:ext cx="1792224" cy="36576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7176" y="265176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Headcount trends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82312" y="3072384"/>
            <a:ext cx="1792224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7176" y="309067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Attrition rate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82312" y="3511296"/>
            <a:ext cx="1792224" cy="36576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7176" y="352958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Hiring velocity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82312" y="3950208"/>
            <a:ext cx="1792224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7176" y="3968496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Salary bands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48856" y="2103120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48856" y="2103120"/>
            <a:ext cx="2011680" cy="43891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22008" y="210312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Marketing Datamart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58584" y="2633472"/>
            <a:ext cx="1792224" cy="36576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13448" y="265176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Campaign ROI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58584" y="3072384"/>
            <a:ext cx="1792224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13448" y="309067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Click-through rates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58584" y="3511296"/>
            <a:ext cx="1792224" cy="36576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13448" y="352958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Customer segments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58584" y="3950208"/>
            <a:ext cx="1792224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13448" y="3968496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▸  Ad spend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68172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📐  Warehouse → Datamart flow: Central Warehouse stores all data → Datamarts pull department-specific subsets for faster, focused queries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System — When?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</a:rPr>
              <a:t>The most important skill: matching the right storage system to the right business need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1828800" cy="420624"/>
          </a:xfrm>
          <a:prstGeom prst="rect">
            <a:avLst/>
          </a:prstGeom>
          <a:solidFill>
            <a:srgbClr val="3A3D5C"/>
          </a:solidFill>
          <a:ln w="12700">
            <a:solidFill>
              <a:srgbClr val="3A3D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118872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Dimension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84832" y="1188720"/>
            <a:ext cx="1371600" cy="420624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21408" y="1188720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56432" y="1188720"/>
            <a:ext cx="1463040" cy="420624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188720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Warehouse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19472" y="1188720"/>
            <a:ext cx="1280160" cy="42062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188720"/>
            <a:ext cx="1207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Lake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99632" y="1188720"/>
            <a:ext cx="1371600" cy="42062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188720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Lakehouse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71232" y="1188720"/>
            <a:ext cx="1280160" cy="42062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07808" y="1188720"/>
            <a:ext cx="1207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Datamart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1609344"/>
            <a:ext cx="1828800" cy="438912"/>
          </a:xfrm>
          <a:prstGeom prst="rect">
            <a:avLst/>
          </a:prstGeom>
          <a:solidFill>
            <a:srgbClr val="1C1C2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6093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Primary Use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84832" y="1609344"/>
            <a:ext cx="137160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0552" y="16093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App transactions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56432" y="1609344"/>
            <a:ext cx="146304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16093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Analytics/BI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19472" y="1609344"/>
            <a:ext cx="128016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16093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Raw storage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99632" y="1609344"/>
            <a:ext cx="137160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16093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Analytics+ML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1232" y="1609344"/>
            <a:ext cx="128016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16952" y="16093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Dept reporting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2066544"/>
            <a:ext cx="1828800" cy="438912"/>
          </a:xfrm>
          <a:prstGeom prst="rect">
            <a:avLst/>
          </a:prstGeom>
          <a:solidFill>
            <a:srgbClr val="1C1C2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20665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Format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84832" y="2066544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0552" y="20665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Structured only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56432" y="2066544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2152" y="20665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Structured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19472" y="2066544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20665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Any format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99632" y="2066544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45352" y="20665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Any format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71232" y="2066544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16952" y="20665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Structured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2523744"/>
            <a:ext cx="1828800" cy="438912"/>
          </a:xfrm>
          <a:prstGeom prst="rect">
            <a:avLst/>
          </a:prstGeom>
          <a:solidFill>
            <a:srgbClr val="1C1C2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" y="25237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Query Speed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084832" y="2523744"/>
            <a:ext cx="137160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30552" y="25237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76749"/>
                </a:solidFill>
              </a:rPr>
              <a:t>⚡ Very fast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56432" y="2523744"/>
            <a:ext cx="146304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02152" y="25237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🔵 Fast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19472" y="2523744"/>
            <a:ext cx="128016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65192" y="25237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🐢 Slow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99632" y="2523744"/>
            <a:ext cx="137160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45352" y="25237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76749"/>
                </a:solidFill>
              </a:rPr>
              <a:t>🚀 Fast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71232" y="2523744"/>
            <a:ext cx="128016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16952" y="25237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76749"/>
                </a:solidFill>
              </a:rPr>
              <a:t>⚡ Fast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56032" y="2980944"/>
            <a:ext cx="1828800" cy="438912"/>
          </a:xfrm>
          <a:prstGeom prst="rect">
            <a:avLst/>
          </a:prstGeom>
          <a:solidFill>
            <a:srgbClr val="1C1C2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" y="29809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State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084832" y="2980944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30552" y="29809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Live/current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456432" y="2980944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02152" y="29809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Historical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919472" y="2980944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65192" y="29809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Raw/unprocessed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199632" y="2980944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45352" y="29809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Processed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571232" y="2980944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16952" y="29809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Curated subset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56032" y="3438144"/>
            <a:ext cx="1828800" cy="438912"/>
          </a:xfrm>
          <a:prstGeom prst="rect">
            <a:avLst/>
          </a:prstGeom>
          <a:solidFill>
            <a:srgbClr val="1C1C2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" y="34381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Who uses it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084832" y="3438144"/>
            <a:ext cx="137160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30552" y="34381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Dev / App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456432" y="3438144"/>
            <a:ext cx="146304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02152" y="34381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Analyst / BI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919472" y="3438144"/>
            <a:ext cx="128016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65192" y="34381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Data Eng / Sci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199632" y="3438144"/>
            <a:ext cx="137160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45352" y="34381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All roles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571232" y="3438144"/>
            <a:ext cx="128016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16952" y="34381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Business users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56032" y="3895344"/>
            <a:ext cx="1828800" cy="438912"/>
          </a:xfrm>
          <a:prstGeom prst="rect">
            <a:avLst/>
          </a:prstGeom>
          <a:solidFill>
            <a:srgbClr val="1C1C2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01752" y="38953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Cost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084832" y="3895344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30552" y="38953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Medium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456432" y="3895344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502152" y="38953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High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919472" y="3895344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65192" y="38953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Very Low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199632" y="3895344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45352" y="38953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Medium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7571232" y="3895344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16952" y="38953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Low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56032" y="4352544"/>
            <a:ext cx="1828800" cy="438912"/>
          </a:xfrm>
          <a:prstGeom prst="rect">
            <a:avLst/>
          </a:prstGeom>
          <a:solidFill>
            <a:srgbClr val="1C1C2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1752" y="43525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Example tool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084832" y="4352544"/>
            <a:ext cx="137160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130552" y="43525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SQL Server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456432" y="4352544"/>
            <a:ext cx="146304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502152" y="43525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Snowflake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919472" y="4352544"/>
            <a:ext cx="128016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65192" y="43525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Azure ADLS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199632" y="4352544"/>
            <a:ext cx="137160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245352" y="43525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Databricks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7571232" y="4352544"/>
            <a:ext cx="128016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616952" y="43525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Power BI dataset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</a:rPr>
              <a:t>💡  In Week 2 we model data for the Warehouse. In Week 12–13 we build the Lakehouse on Databricks.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3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029200" cy="5029200"/>
          </a:xfrm>
          <a:prstGeom prst="line">
            <a:avLst/>
          </a:prstGeom>
          <a:solidFill>
            <a:srgbClr val="1C1C2E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line">
            <a:avLst/>
          </a:prstGeom>
          <a:solidFill>
            <a:srgbClr val="1C1C2E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5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QUIZ TIME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3 Questions  ·  4 Minutes  ·  No conferring yet!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901952"/>
            <a:ext cx="8138160" cy="804672"/>
          </a:xfrm>
          <a:prstGeom prst="rect">
            <a:avLst/>
          </a:prstGeom>
          <a:solidFill>
            <a:srgbClr val="1C1C2E">
              <a:alpha val="75000"/>
            </a:srgbClr>
          </a:solidFill>
          <a:ln w="12700">
            <a:solidFill>
              <a:srgbClr val="E8572A">
                <a:alpha val="4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95681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Q1  →  A column stores product prices like ₹1,499.99. Which data type should you use — and why NOT use FLOAT?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41401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</a:rPr>
              <a:t>Think: precision vs. approximation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8138160" cy="804672"/>
          </a:xfrm>
          <a:prstGeom prst="rect">
            <a:avLst/>
          </a:prstGeom>
          <a:solidFill>
            <a:srgbClr val="1C1C2E">
              <a:alpha val="75000"/>
            </a:srgbClr>
          </a:solidFill>
          <a:ln w="12700">
            <a:solidFill>
              <a:srgbClr val="E8572A">
                <a:alpha val="4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28895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Q2  →  Your company runs 10 million daily sales transactions AND needs monthly revenue reports. Name the TWO storage systems you need and why.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3467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</a:rPr>
              <a:t>Think: different jobs, different tools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767328"/>
            <a:ext cx="8138160" cy="804672"/>
          </a:xfrm>
          <a:prstGeom prst="rect">
            <a:avLst/>
          </a:prstGeom>
          <a:solidFill>
            <a:srgbClr val="1C1C2E">
              <a:alpha val="75000"/>
            </a:srgbClr>
          </a:solidFill>
          <a:ln w="12700">
            <a:solidFill>
              <a:srgbClr val="E8572A">
                <a:alpha val="4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8221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Q3  →  What is a Datamart, and how is it different from a Data Warehouse?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42793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</a:rPr>
              <a:t>Think: scale vs. focus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Data Engineer Lives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</a:rPr>
              <a:t>Understanding the full stack — and your place in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2984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9184" y="13258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5568"/>
                </a:solidFill>
              </a:rPr>
              <a:t>Source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4A5568"/>
                </a:solidFill>
              </a:rPr>
              <a:t>Systems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9184" y="1874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</a:rPr>
              <a:t>ERP, CRM,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</a:rPr>
              <a:t>APIs, IoT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72768" y="1938528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572A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737360" y="1234440"/>
            <a:ext cx="1298448" cy="1920240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737360" y="1234440"/>
            <a:ext cx="1298448" cy="4572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2224" y="13258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Ingestion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Layer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792224" y="1874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Pipelines,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Batch, Stream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75104" y="2633472"/>
            <a:ext cx="822960" cy="29260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0512" y="2606040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YOU BUILD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THIS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35808" y="1938528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572A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0" y="1234440"/>
            <a:ext cx="1298448" cy="192024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234440"/>
            <a:ext cx="1298448" cy="4572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3258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Storage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Layer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55264" y="1874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Lake → Warehouse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→ Datamart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38144" y="2633472"/>
            <a:ext cx="822960" cy="29260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2606040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YOU BUILD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THIS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98848" y="1938528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572A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1234440"/>
            <a:ext cx="1298448" cy="1920240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234440"/>
            <a:ext cx="1298448" cy="4572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13258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Transform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&amp; Model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18304" y="1874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SQL, dbt,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Spark, Python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01184" y="2633472"/>
            <a:ext cx="822960" cy="29260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2606040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YOU BUILD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THIS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61888" y="1938528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572A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126480" y="1234440"/>
            <a:ext cx="12984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81344" y="13258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5568"/>
                </a:solidFill>
              </a:rPr>
              <a:t>Serve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4A5568"/>
                </a:solidFill>
              </a:rPr>
              <a:t>Layer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81344" y="1874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</a:rPr>
              <a:t>BI Tools,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</a:rPr>
              <a:t>APIs, ML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24928" y="1938528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572A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589520" y="1234440"/>
            <a:ext cx="12984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44384" y="13258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5568"/>
                </a:solidFill>
              </a:rPr>
              <a:t>Consumer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644384" y="1874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</a:rPr>
              <a:t>Analyst,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</a:rPr>
              <a:t>Executive, App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310128"/>
            <a:ext cx="8595360" cy="438912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3101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a Data Engineer actually builds: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3858768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3858768"/>
            <a:ext cx="54864" cy="914400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391363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Pipelines that move data from source to lake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450592" y="3858768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50592" y="3858768"/>
            <a:ext cx="54864" cy="91440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78608" y="391363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SQL scripts that transform raw data into clean tables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26864" y="3858768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26864" y="3858768"/>
            <a:ext cx="54864" cy="91440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91363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Models that shape data for analysts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803136" y="3858768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03136" y="3858768"/>
            <a:ext cx="54864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31152" y="391363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Jobs that schedule and automate data flows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World — Choose the Right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</a:rPr>
              <a:t>Four scenarios — four different answers. Can you match them before reading the right column?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617720" cy="80467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289304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🏦  A bank needs to process 5 million credit card transactions per day — each one must succeed or fail atomically with no data loss.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892040" y="1472184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572A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230368" y="1234440"/>
            <a:ext cx="35478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572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30368" y="1234440"/>
            <a:ext cx="54864" cy="804672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58384" y="1271016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72A"/>
                </a:solidFill>
              </a:rPr>
              <a:t>Relational Database (SQL Server / Oracle)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58384" y="1545336"/>
            <a:ext cx="3346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OLTP: each transaction is a real-time write that needs ACID guarantees — rollback if anything fails.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67128"/>
            <a:ext cx="4617720" cy="80467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221992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🏭  A manufacturing company wants to analyse 3 years of production data to find the machines with the highest failure rates.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240487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9E8F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230368" y="2167128"/>
            <a:ext cx="35478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9E8F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30368" y="2167128"/>
            <a:ext cx="54864" cy="804672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2203704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E8F"/>
                </a:solidFill>
              </a:rPr>
              <a:t>Data Warehouse (Snowflake / Synapse)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58384" y="2478024"/>
            <a:ext cx="3346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OLAP: historical aggregation across millions of rows — built for complex analytical queries, not live writes.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099816"/>
            <a:ext cx="4617720" cy="80467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" y="3154680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🤖  A data science team needs to train an ML model on 10TB of raw CCTV footage, IoT sensor logs and social media data.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333756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017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230368" y="3099816"/>
            <a:ext cx="35478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30368" y="3099816"/>
            <a:ext cx="54864" cy="8046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8384" y="313639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</a:rPr>
              <a:t>Data Lake (Azure ADLS / AWS S3)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58384" y="3410712"/>
            <a:ext cx="3346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Unstructured + semi-structured at scale — store everything raw at low cost before any schema is enforced.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032504"/>
            <a:ext cx="4617720" cy="80467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4087368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📊  The CFO wants a self-service dashboard showing only Finance KPIs — fast, governed and simple to maintain.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427024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6749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230368" y="4032504"/>
            <a:ext cx="35478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7674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30368" y="4032504"/>
            <a:ext cx="54864" cy="80467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58384" y="4069080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</a:rPr>
              <a:t>Datamart (curated from Warehouse)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58384" y="4343400"/>
            <a:ext cx="3346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Subject-focused subset of the warehouse — small, fast, governed for one business function.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024128"/>
          </a:xfrm>
          <a:prstGeom prst="rect">
            <a:avLst/>
          </a:prstGeom>
          <a:solidFill>
            <a:srgbClr val="2E3250"/>
          </a:solidFill>
          <a:ln w="12700">
            <a:solidFill>
              <a:srgbClr val="3A3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54864" cy="1024128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18872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3776" y="1618488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Data types enforce correctness at storage level — wrong type = silent corruption or system failure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4114800" cy="1024128"/>
          </a:xfrm>
          <a:prstGeom prst="rect">
            <a:avLst/>
          </a:prstGeom>
          <a:solidFill>
            <a:srgbClr val="2E3250"/>
          </a:solidFill>
          <a:ln w="12700">
            <a:solidFill>
              <a:srgbClr val="3A3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13432"/>
            <a:ext cx="54864" cy="1024128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3591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" y="2788920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Key SQL types: INT/BIGINT for IDs, DECIMAL for money, NVARCHAR for text, DATE/DATETIME for time, BIT for flags, JSON for semi-structured 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114800" cy="1024128"/>
          </a:xfrm>
          <a:prstGeom prst="rect">
            <a:avLst/>
          </a:prstGeom>
          <a:solidFill>
            <a:srgbClr val="2E3250"/>
          </a:solidFill>
          <a:ln w="12700">
            <a:solidFill>
              <a:srgbClr val="3A3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483864"/>
            <a:ext cx="54864" cy="1024128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3529584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" y="3959352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Database (OLTP) — for live transactions. Data Warehouse (OLAP) — for historical analytics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4114800" cy="1024128"/>
          </a:xfrm>
          <a:prstGeom prst="rect">
            <a:avLst/>
          </a:prstGeom>
          <a:solidFill>
            <a:srgbClr val="2E3250"/>
          </a:solidFill>
          <a:ln w="12700">
            <a:solidFill>
              <a:srgbClr val="3A3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43000"/>
            <a:ext cx="54864" cy="1024128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118872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82896" y="1618488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Data Lake — raw storage of any format at scale. Lakehouse — combines Lake + Warehouse in one platform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313432"/>
            <a:ext cx="4114800" cy="1024128"/>
          </a:xfrm>
          <a:prstGeom prst="rect">
            <a:avLst/>
          </a:prstGeom>
          <a:solidFill>
            <a:srgbClr val="2E3250"/>
          </a:solidFill>
          <a:ln w="12700">
            <a:solidFill>
              <a:srgbClr val="3A3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13432"/>
            <a:ext cx="54864" cy="1024128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23591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82896" y="2788920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Datamart — a department-focused subset of the warehouse, built for fast, governed, self-service reporting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483864"/>
            <a:ext cx="4114800" cy="1024128"/>
          </a:xfrm>
          <a:prstGeom prst="rect">
            <a:avLst/>
          </a:prstGeom>
          <a:solidFill>
            <a:srgbClr val="2E3250"/>
          </a:solidFill>
          <a:ln w="12700">
            <a:solidFill>
              <a:srgbClr val="3A3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483864"/>
            <a:ext cx="54864" cy="1024128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3529584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82896" y="3959352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A Data Engineer builds the pipelines, models and jobs that connect all these systems together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E8572A">
              <a:alpha val="85000"/>
            </a:srgbClr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7000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⏭  Next: Week 2 — Data Modelling Concepts (Fact tables, Dimension tables, Star &amp; Snowflake schema, ER Diagrams)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line">
            <a:avLst/>
          </a:prstGeom>
          <a:solidFill>
            <a:srgbClr val="2E325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5486400" cy="5486400"/>
          </a:xfrm>
          <a:prstGeom prst="line">
            <a:avLst/>
          </a:prstGeom>
          <a:solidFill>
            <a:srgbClr val="2E325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E85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"A data engineer who understands storage systems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is worth ten engineers who just write queries."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2971800"/>
            <a:ext cx="5852160" cy="1417320"/>
          </a:xfrm>
          <a:prstGeom prst="rect">
            <a:avLst/>
          </a:prstGeom>
          <a:solidFill>
            <a:srgbClr val="2E3250"/>
          </a:solidFill>
          <a:ln w="12700">
            <a:solidFill>
              <a:srgbClr val="3A3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0" y="2971800"/>
            <a:ext cx="5852160" cy="45720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30632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72A"/>
                </a:solidFill>
              </a:rPr>
              <a:t>📝  Before Week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3456432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Think of one table you would create for a company you know.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Name 5 columns — and write the correct SQL data type for each one.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We'll review your designs at the start of Week 2, Session 1.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E3250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Enterprise Data Engineering, Analytics &amp; AI  ·  Week 1, Session 3  ·  SQL &amp; Data Engineering Concepts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1865</Words>
  <Application>Microsoft Office PowerPoint</Application>
  <PresentationFormat>On-screen Show (16:9)</PresentationFormat>
  <Paragraphs>336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&amp; Data Engineering Concepts — Week 1 Session 3</dc:title>
  <dc:subject>PptxGenJS Presentation</dc:subject>
  <dc:creator>PptxGenJS</dc:creator>
  <cp:lastModifiedBy>Prachi Kabra</cp:lastModifiedBy>
  <cp:revision>2</cp:revision>
  <dcterms:created xsi:type="dcterms:W3CDTF">2026-05-04T06:16:28Z</dcterms:created>
  <dcterms:modified xsi:type="dcterms:W3CDTF">2026-05-04T06:35:51Z</dcterms:modified>
</cp:coreProperties>
</file>