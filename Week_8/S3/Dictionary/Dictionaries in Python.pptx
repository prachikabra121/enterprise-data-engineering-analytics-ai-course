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6"/>
  </p:notesMasterIdLst>
  <p:handoutMasterIdLst>
    <p:handoutMasterId r:id="rId17"/>
  </p:handoutMasterIdLst>
  <p:sldIdLst>
    <p:sldId id="257" r:id="rId5"/>
    <p:sldId id="272" r:id="rId6"/>
    <p:sldId id="274" r:id="rId7"/>
    <p:sldId id="277" r:id="rId8"/>
    <p:sldId id="278" r:id="rId9"/>
    <p:sldId id="279" r:id="rId10"/>
    <p:sldId id="280" r:id="rId11"/>
    <p:sldId id="281" r:id="rId12"/>
    <p:sldId id="282" r:id="rId13"/>
    <p:sldId id="283" r:id="rId14"/>
    <p:sldId id="259" r:id="rId15"/>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4404"/>
    <a:srgbClr val="5F6F0F"/>
    <a:srgbClr val="718412"/>
    <a:srgbClr val="65741A"/>
    <a:srgbClr val="70811D"/>
    <a:srgbClr val="7B8D1F"/>
    <a:srgbClr val="839721"/>
    <a:srgbClr val="95AB25"/>
    <a:srgbClr val="BC5500"/>
    <a:srgbClr val="C4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94660"/>
  </p:normalViewPr>
  <p:slideViewPr>
    <p:cSldViewPr>
      <p:cViewPr varScale="1">
        <p:scale>
          <a:sx n="82" d="100"/>
          <a:sy n="82" d="100"/>
        </p:scale>
        <p:origin x="710" y="72"/>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E5B4EDC-59C0-49C7-8ADA-5A781B329E02}" type="datetimeFigureOut">
              <a:rPr lang="en-US"/>
              <a:t>9/11/2024</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429053-DC2A-4342-ADD4-2FD729D91E2C}" type="slidenum">
              <a:rPr/>
              <a:t>‹#›</a:t>
            </a:fld>
            <a:endParaRPr/>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D8D46A-B586-417D-BFBD-8C8FE0AAF762}" type="datetimeFigureOut">
              <a:rPr lang="en-US"/>
              <a:t>9/11/2024</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BA5BD7-F043-4D1B-AA17-CD412FC534DE}" type="slidenum">
              <a:rPr/>
              <a:t>‹#›</a:t>
            </a:fld>
            <a:endParaRPr/>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 name="diagonals"/>
          <p:cNvGrpSpPr/>
          <p:nvPr/>
        </p:nvGrpSpPr>
        <p:grpSpPr>
          <a:xfrm>
            <a:off x="7516443" y="4145281"/>
            <a:ext cx="4686117" cy="2731407"/>
            <a:chOff x="5638800" y="3108960"/>
            <a:chExt cx="3515503" cy="2048555"/>
          </a:xfrm>
        </p:grpSpPr>
        <p:cxnSp>
          <p:nvCxnSpPr>
            <p:cNvPr id="14" name="Straight Connector 13"/>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bottom lines"/>
          <p:cNvGrpSpPr/>
          <p:nvPr/>
        </p:nvGrpSpPr>
        <p:grpSpPr>
          <a:xfrm>
            <a:off x="-8916" y="6057149"/>
            <a:ext cx="5498726" cy="820207"/>
            <a:chOff x="-6689" y="4553748"/>
            <a:chExt cx="4125119" cy="615155"/>
          </a:xfrm>
        </p:grpSpPr>
        <p:sp>
          <p:nvSpPr>
            <p:cNvPr id="9" name="Freeform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4115481 h 4115481"/>
                <a:gd name="connsiteX1" fmla="*/ 612775 w 612775"/>
                <a:gd name="connsiteY1" fmla="*/ 3180443 h 4115481"/>
                <a:gd name="connsiteX2" fmla="*/ 612775 w 612775"/>
                <a:gd name="connsiteY2" fmla="*/ 0 h 4115481"/>
              </a:gdLst>
              <a:ahLst/>
              <a:cxnLst>
                <a:cxn ang="0">
                  <a:pos x="connsiteX0" y="connsiteY0"/>
                </a:cxn>
                <a:cxn ang="0">
                  <a:pos x="connsiteX1" y="connsiteY1"/>
                </a:cxn>
                <a:cxn ang="0">
                  <a:pos x="connsiteX2" y="connsiteY2"/>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0" name="Freeform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 name="connsiteX0" fmla="*/ 0 w 410751"/>
                <a:gd name="connsiteY0" fmla="*/ 3614170 h 3614170"/>
                <a:gd name="connsiteX1" fmla="*/ 410751 w 410751"/>
                <a:gd name="connsiteY1" fmla="*/ 2990994 h 3614170"/>
                <a:gd name="connsiteX2" fmla="*/ 405947 w 410751"/>
                <a:gd name="connsiteY2" fmla="*/ 0 h 3614170"/>
                <a:gd name="connsiteX0" fmla="*/ 0 w 410751"/>
                <a:gd name="connsiteY0" fmla="*/ 3621427 h 3621427"/>
                <a:gd name="connsiteX1" fmla="*/ 410751 w 410751"/>
                <a:gd name="connsiteY1" fmla="*/ 2998251 h 3621427"/>
                <a:gd name="connsiteX2" fmla="*/ 405947 w 410751"/>
                <a:gd name="connsiteY2" fmla="*/ 0 h 3621427"/>
              </a:gdLst>
              <a:ahLst/>
              <a:cxnLst>
                <a:cxn ang="0">
                  <a:pos x="connsiteX0" y="connsiteY0"/>
                </a:cxn>
                <a:cxn ang="0">
                  <a:pos x="connsiteX1" y="connsiteY1"/>
                </a:cxn>
                <a:cxn ang="0">
                  <a:pos x="connsiteX2" y="connsiteY2"/>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1" name="Freeform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 name="connsiteX0" fmla="*/ 0 w 241768"/>
                <a:gd name="connsiteY0" fmla="*/ 3179761 h 3179761"/>
                <a:gd name="connsiteX1" fmla="*/ 238919 w 241768"/>
                <a:gd name="connsiteY1" fmla="*/ 2819370 h 3179761"/>
                <a:gd name="connsiteX2" fmla="*/ 241754 w 241768"/>
                <a:gd name="connsiteY2" fmla="*/ 0 h 3179761"/>
              </a:gdLst>
              <a:ahLst/>
              <a:cxnLst>
                <a:cxn ang="0">
                  <a:pos x="connsiteX0" y="connsiteY0"/>
                </a:cxn>
                <a:cxn ang="0">
                  <a:pos x="connsiteX1" y="connsiteY1"/>
                </a:cxn>
                <a:cxn ang="0">
                  <a:pos x="connsiteX2" y="connsiteY2"/>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Title 1"/>
          <p:cNvSpPr>
            <a:spLocks noGrp="1"/>
          </p:cNvSpPr>
          <p:nvPr>
            <p:ph type="ctrTitle"/>
          </p:nvPr>
        </p:nvSpPr>
        <p:spPr>
          <a:xfrm>
            <a:off x="1625176" y="584200"/>
            <a:ext cx="8735325" cy="2000251"/>
          </a:xfrm>
        </p:spPr>
        <p:txBody>
          <a:bodyPr>
            <a:norm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1625176" y="2616200"/>
            <a:ext cx="8735325" cy="1752600"/>
          </a:xfrm>
        </p:spPr>
        <p:txBody>
          <a:bodyPr>
            <a:normAutofit/>
          </a:bodyPr>
          <a:lstStyle>
            <a:lvl1pPr marL="0" indent="0" algn="l">
              <a:spcBef>
                <a:spcPts val="0"/>
              </a:spcBef>
              <a:buNone/>
              <a:defRPr sz="2800" cap="all" spc="200" baseline="0">
                <a:solidFill>
                  <a:schemeClr val="accent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a:p>
        </p:txBody>
      </p:sp>
      <p:sp>
        <p:nvSpPr>
          <p:cNvPr id="22" name="Date Placeholder 21"/>
          <p:cNvSpPr>
            <a:spLocks noGrp="1"/>
          </p:cNvSpPr>
          <p:nvPr>
            <p:ph type="dt" sz="half" idx="10"/>
          </p:nvPr>
        </p:nvSpPr>
        <p:spPr/>
        <p:txBody>
          <a:bodyPr/>
          <a:lstStyle/>
          <a:p>
            <a:fld id="{F0DFD029-FB74-4578-B929-F66AA97659CA}" type="datetimeFigureOut">
              <a:rPr lang="en-US"/>
              <a:t>9/11/2024</a:t>
            </a:fld>
            <a:endParaRPr/>
          </a:p>
        </p:txBody>
      </p:sp>
      <p:sp>
        <p:nvSpPr>
          <p:cNvPr id="23" name="Footer Placeholder 22"/>
          <p:cNvSpPr>
            <a:spLocks noGrp="1"/>
          </p:cNvSpPr>
          <p:nvPr>
            <p:ph type="ftr" sz="quarter" idx="11"/>
          </p:nvPr>
        </p:nvSpPr>
        <p:spPr/>
        <p:txBody>
          <a:bodyPr/>
          <a:lstStyle/>
          <a:p>
            <a:endParaRPr/>
          </a:p>
        </p:txBody>
      </p:sp>
      <p:sp>
        <p:nvSpPr>
          <p:cNvPr id="24" name="Slide Number Placeholder 2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84748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9/11/2024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40676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1" name="diagonals"/>
          <p:cNvGrpSpPr/>
          <p:nvPr/>
        </p:nvGrpSpPr>
        <p:grpSpPr>
          <a:xfrm>
            <a:off x="7516443" y="4145281"/>
            <a:ext cx="4686117" cy="2731407"/>
            <a:chOff x="5638800" y="3108960"/>
            <a:chExt cx="3515503" cy="2048555"/>
          </a:xfrm>
        </p:grpSpPr>
        <p:cxnSp>
          <p:nvCxnSpPr>
            <p:cNvPr id="12" name="Straight Connector 11"/>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p:cNvSpPr>
            <a:spLocks noGrp="1"/>
          </p:cNvSpPr>
          <p:nvPr>
            <p:ph type="title"/>
          </p:nvPr>
        </p:nvSpPr>
        <p:spPr>
          <a:xfrm>
            <a:off x="1625177" y="2209801"/>
            <a:ext cx="8938472" cy="2764335"/>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1625176" y="4951266"/>
            <a:ext cx="7069519" cy="1220933"/>
          </a:xfrm>
        </p:spPr>
        <p:txBody>
          <a:bodyPr anchor="t">
            <a:normAutofit/>
          </a:bodyPr>
          <a:lstStyle>
            <a:lvl1pPr marL="0" indent="0">
              <a:spcBef>
                <a:spcPts val="0"/>
              </a:spcBef>
              <a:buNone/>
              <a:defRPr sz="2800" cap="all" spc="200" baseline="0">
                <a:solidFill>
                  <a:schemeClr val="accent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a:t>9/11/2024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616330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18883"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00707"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9/11/2024</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557647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18883"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1218883"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96644"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500707"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F0DFD029-FB74-4578-B929-F66AA97659CA}" type="datetimeFigureOut">
              <a:rPr lang="en-US"/>
              <a:t>9/11/2024</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381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F0DFD029-FB74-4578-B929-F66AA97659CA}" type="datetimeFigureOut">
              <a:rPr lang="en-US"/>
              <a:t>9/11/2024</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51522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FD029-FB74-4578-B929-F66AA97659CA}" type="datetimeFigureOut">
              <a:rPr lang="en-US"/>
              <a:t>9/11/2024</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2172478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Content Placeholder 2"/>
          <p:cNvSpPr>
            <a:spLocks noGrp="1"/>
          </p:cNvSpPr>
          <p:nvPr>
            <p:ph idx="1"/>
          </p:nvPr>
        </p:nvSpPr>
        <p:spPr>
          <a:xfrm>
            <a:off x="5484971" y="584200"/>
            <a:ext cx="6094413" cy="5588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9/11/2024</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61813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484971" y="584200"/>
            <a:ext cx="6094413" cy="5588000"/>
          </a:xfrm>
          <a:ln w="12700">
            <a:solidFill>
              <a:schemeClr val="bg1">
                <a:lumMod val="75000"/>
                <a:lumOff val="25000"/>
              </a:schemeClr>
            </a:solidFill>
            <a:miter lim="800000"/>
          </a:ln>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5" name="Date Placeholder 4"/>
          <p:cNvSpPr>
            <a:spLocks noGrp="1"/>
          </p:cNvSpPr>
          <p:nvPr>
            <p:ph type="dt" sz="half" idx="10"/>
          </p:nvPr>
        </p:nvSpPr>
        <p:spPr/>
        <p:txBody>
          <a:bodyPr/>
          <a:lstStyle/>
          <a:p>
            <a:fld id="{F0DFD029-FB74-4578-B929-F66AA97659CA}" type="datetimeFigureOut">
              <a:rPr lang="en-US"/>
              <a:t>9/11/2024</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422343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9/11/2024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996675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584200"/>
            <a:ext cx="2742486" cy="55880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8882" y="584200"/>
            <a:ext cx="7414869" cy="55880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9/11/2024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88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100000"/>
                <a:shade val="0"/>
                <a:satMod val="100000"/>
              </a:schemeClr>
            </a:gs>
            <a:gs pos="85000">
              <a:schemeClr val="bg2">
                <a:tint val="100000"/>
                <a:shade val="30000"/>
                <a:satMod val="10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grpSp>
        <p:nvGrpSpPr>
          <p:cNvPr id="15" name="left lines"/>
          <p:cNvGrpSpPr/>
          <p:nvPr/>
        </p:nvGrpSpPr>
        <p:grpSpPr>
          <a:xfrm>
            <a:off x="-15870" y="-3174"/>
            <a:ext cx="819993" cy="5229225"/>
            <a:chOff x="-11906" y="-2381"/>
            <a:chExt cx="615155" cy="3921919"/>
          </a:xfrm>
        </p:grpSpPr>
        <p:sp>
          <p:nvSpPr>
            <p:cNvPr id="10" name="Freeform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Lst>
              <a:ahLst/>
              <a:cxnLst>
                <a:cxn ang="0">
                  <a:pos x="connsiteX0" y="connsiteY0"/>
                </a:cxn>
                <a:cxn ang="0">
                  <a:pos x="connsiteX1" y="connsiteY1"/>
                </a:cxn>
                <a:cxn ang="0">
                  <a:pos x="connsiteX2" y="connsiteY2"/>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Freeform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Lst>
              <a:ahLst/>
              <a:cxnLst>
                <a:cxn ang="0">
                  <a:pos x="connsiteX0" y="connsiteY0"/>
                </a:cxn>
                <a:cxn ang="0">
                  <a:pos x="connsiteX1" y="connsiteY1"/>
                </a:cxn>
                <a:cxn ang="0">
                  <a:pos x="connsiteX2" y="connsiteY2"/>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Freeform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Lst>
              <a:ahLst/>
              <a:cxnLst>
                <a:cxn ang="0">
                  <a:pos x="connsiteX0" y="connsiteY0"/>
                </a:cxn>
                <a:cxn ang="0">
                  <a:pos x="connsiteX1" y="connsiteY1"/>
                </a:cxn>
                <a:cxn ang="0">
                  <a:pos x="connsiteX2" y="connsiteY2"/>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Placeholder 1"/>
          <p:cNvSpPr>
            <a:spLocks noGrp="1"/>
          </p:cNvSpPr>
          <p:nvPr>
            <p:ph type="title"/>
          </p:nvPr>
        </p:nvSpPr>
        <p:spPr>
          <a:xfrm>
            <a:off x="1218883" y="274637"/>
            <a:ext cx="10360501" cy="1223963"/>
          </a:xfrm>
          <a:prstGeom prst="rect">
            <a:avLst/>
          </a:prstGeom>
        </p:spPr>
        <p:txBody>
          <a:bodyPr vert="horz" lIns="121899" tIns="60949" rIns="121899" bIns="60949" rtlCol="0" anchor="b">
            <a:normAutofit/>
          </a:bodyPr>
          <a:lstStyle/>
          <a:p>
            <a:r>
              <a:rPr lang="en-US"/>
              <a:t>Click to edit Master title style</a:t>
            </a:r>
            <a:endParaRPr/>
          </a:p>
        </p:txBody>
      </p:sp>
      <p:sp>
        <p:nvSpPr>
          <p:cNvPr id="3" name="Text Placeholder 2"/>
          <p:cNvSpPr>
            <a:spLocks noGrp="1"/>
          </p:cNvSpPr>
          <p:nvPr>
            <p:ph type="body" idx="1"/>
          </p:nvPr>
        </p:nvSpPr>
        <p:spPr>
          <a:xfrm>
            <a:off x="1218883" y="1701797"/>
            <a:ext cx="10360501" cy="4462272"/>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218882" y="6356352"/>
            <a:ext cx="2234618" cy="365125"/>
          </a:xfrm>
          <a:prstGeom prst="rect">
            <a:avLst/>
          </a:prstGeom>
        </p:spPr>
        <p:txBody>
          <a:bodyPr vert="horz" lIns="121899" tIns="60949" rIns="121899" bIns="60949" rtlCol="0" anchor="ctr"/>
          <a:lstStyle>
            <a:lvl1pPr algn="l">
              <a:defRPr sz="1200">
                <a:solidFill>
                  <a:schemeClr val="tx1">
                    <a:tint val="75000"/>
                  </a:schemeClr>
                </a:solidFill>
              </a:defRPr>
            </a:lvl1pPr>
          </a:lstStyle>
          <a:p>
            <a:fld id="{F0DFD029-FB74-4578-B929-F66AA97659CA}" type="datetimeFigureOut">
              <a:rPr lang="en-US"/>
              <a:pPr/>
              <a:t>9/11/2024</a:t>
            </a:fld>
            <a:endParaRPr/>
          </a:p>
        </p:txBody>
      </p:sp>
      <p:sp>
        <p:nvSpPr>
          <p:cNvPr id="5" name="Footer Placeholder 4"/>
          <p:cNvSpPr>
            <a:spLocks noGrp="1"/>
          </p:cNvSpPr>
          <p:nvPr>
            <p:ph type="ftr" sz="quarter" idx="3"/>
          </p:nvPr>
        </p:nvSpPr>
        <p:spPr>
          <a:xfrm>
            <a:off x="3453501" y="6356352"/>
            <a:ext cx="5281824" cy="365125"/>
          </a:xfrm>
          <a:prstGeom prst="rect">
            <a:avLst/>
          </a:prstGeom>
        </p:spPr>
        <p:txBody>
          <a:bodyPr vert="horz" lIns="121899" tIns="60949" rIns="121899" bIns="60949" rtlCol="0" anchor="ctr"/>
          <a:lstStyle>
            <a:lvl1pPr algn="ctr">
              <a:defRPr sz="12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10563649" y="6356352"/>
            <a:ext cx="1015735" cy="365125"/>
          </a:xfrm>
          <a:prstGeom prst="rect">
            <a:avLst/>
          </a:prstGeom>
        </p:spPr>
        <p:txBody>
          <a:bodyPr vert="horz" lIns="121899" tIns="60949" rIns="121899" bIns="60949" rtlCol="0" anchor="ctr"/>
          <a:lstStyle>
            <a:lvl1pPr algn="r">
              <a:defRPr sz="1200">
                <a:solidFill>
                  <a:schemeClr val="tx1">
                    <a:tint val="75000"/>
                  </a:schemeClr>
                </a:solidFill>
              </a:defRPr>
            </a:lvl1pPr>
          </a:lstStyle>
          <a:p>
            <a:fld id="{C014DD1E-5D91-48A3-AD6D-45FBA980D106}" type="slidenum">
              <a:rPr/>
              <a:pPr/>
              <a:t>‹#›</a:t>
            </a:fld>
            <a:endParaRPr/>
          </a:p>
        </p:txBody>
      </p:sp>
    </p:spTree>
    <p:extLst>
      <p:ext uri="{BB962C8B-B14F-4D97-AF65-F5344CB8AC3E}">
        <p14:creationId xmlns:p14="http://schemas.microsoft.com/office/powerpoint/2010/main" val="139527588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Dictionaries in Python</a:t>
            </a:r>
            <a:endParaRPr lang="en-US" dirty="0"/>
          </a:p>
        </p:txBody>
      </p:sp>
      <p:sp>
        <p:nvSpPr>
          <p:cNvPr id="5" name="Subtitle 4"/>
          <p:cNvSpPr>
            <a:spLocks noGrp="1"/>
          </p:cNvSpPr>
          <p:nvPr>
            <p:ph type="subTitle" idx="1"/>
          </p:nvPr>
        </p:nvSpPr>
        <p:spPr/>
        <p:txBody>
          <a:bodyPr/>
          <a:lstStyle/>
          <a:p>
            <a:r>
              <a:rPr lang="en-IN" dirty="0"/>
              <a:t>Introduction to Python Dictionaries</a:t>
            </a:r>
            <a:endParaRPr lang="en-US" dirty="0"/>
          </a:p>
        </p:txBody>
      </p:sp>
    </p:spTree>
    <p:extLst>
      <p:ext uri="{BB962C8B-B14F-4D97-AF65-F5344CB8AC3E}">
        <p14:creationId xmlns:p14="http://schemas.microsoft.com/office/powerpoint/2010/main" val="1332291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FE568-752F-8BBB-17D9-3531EB2B6542}"/>
              </a:ext>
            </a:extLst>
          </p:cNvPr>
          <p:cNvSpPr>
            <a:spLocks noGrp="1"/>
          </p:cNvSpPr>
          <p:nvPr>
            <p:ph type="title"/>
          </p:nvPr>
        </p:nvSpPr>
        <p:spPr/>
        <p:txBody>
          <a:bodyPr/>
          <a:lstStyle/>
          <a:p>
            <a:r>
              <a:rPr lang="en-US" dirty="0"/>
              <a:t>What is a Dictionary in Python?</a:t>
            </a:r>
            <a:endParaRPr lang="en-IN" dirty="0"/>
          </a:p>
        </p:txBody>
      </p:sp>
      <p:sp>
        <p:nvSpPr>
          <p:cNvPr id="3" name="Content Placeholder 2">
            <a:extLst>
              <a:ext uri="{FF2B5EF4-FFF2-40B4-BE49-F238E27FC236}">
                <a16:creationId xmlns:a16="http://schemas.microsoft.com/office/drawing/2014/main" id="{CDD4F4CD-A8E3-45C3-AF71-815BF24BF6E2}"/>
              </a:ext>
            </a:extLst>
          </p:cNvPr>
          <p:cNvSpPr>
            <a:spLocks noGrp="1"/>
          </p:cNvSpPr>
          <p:nvPr>
            <p:ph idx="1"/>
          </p:nvPr>
        </p:nvSpPr>
        <p:spPr/>
        <p:txBody>
          <a:bodyPr/>
          <a:lstStyle/>
          <a:p>
            <a:r>
              <a:rPr lang="en-US" dirty="0"/>
              <a:t>A dictionary is a collection of key-value pairs.</a:t>
            </a:r>
          </a:p>
          <a:p>
            <a:r>
              <a:rPr lang="en-US" dirty="0"/>
              <a:t>Unordered, changeable, and does not allow duplicates.</a:t>
            </a:r>
          </a:p>
          <a:p>
            <a:r>
              <a:rPr lang="en-US" altLang="en-US" dirty="0"/>
              <a:t>Syntax: {key: value, key: value, ...} </a:t>
            </a:r>
          </a:p>
          <a:p>
            <a:endParaRPr lang="en-IN" dirty="0"/>
          </a:p>
        </p:txBody>
      </p:sp>
      <p:pic>
        <p:nvPicPr>
          <p:cNvPr id="6" name="Picture 5">
            <a:extLst>
              <a:ext uri="{FF2B5EF4-FFF2-40B4-BE49-F238E27FC236}">
                <a16:creationId xmlns:a16="http://schemas.microsoft.com/office/drawing/2014/main" id="{0EED1AA5-74F8-3F45-F497-925271E6A3CF}"/>
              </a:ext>
            </a:extLst>
          </p:cNvPr>
          <p:cNvPicPr>
            <a:picLocks noChangeAspect="1"/>
          </p:cNvPicPr>
          <p:nvPr/>
        </p:nvPicPr>
        <p:blipFill>
          <a:blip r:embed="rId2"/>
          <a:stretch>
            <a:fillRect/>
          </a:stretch>
        </p:blipFill>
        <p:spPr>
          <a:xfrm>
            <a:off x="1773932" y="3789040"/>
            <a:ext cx="6264696" cy="750223"/>
          </a:xfrm>
          <a:prstGeom prst="rect">
            <a:avLst/>
          </a:prstGeom>
        </p:spPr>
      </p:pic>
    </p:spTree>
    <p:extLst>
      <p:ext uri="{BB962C8B-B14F-4D97-AF65-F5344CB8AC3E}">
        <p14:creationId xmlns:p14="http://schemas.microsoft.com/office/powerpoint/2010/main" val="3662295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A4636-C432-DA9B-2526-3F520EB97A48}"/>
              </a:ext>
            </a:extLst>
          </p:cNvPr>
          <p:cNvSpPr>
            <a:spLocks noGrp="1"/>
          </p:cNvSpPr>
          <p:nvPr>
            <p:ph type="title"/>
          </p:nvPr>
        </p:nvSpPr>
        <p:spPr/>
        <p:txBody>
          <a:bodyPr/>
          <a:lstStyle/>
          <a:p>
            <a:r>
              <a:rPr lang="en-IN" dirty="0"/>
              <a:t>Accessing Dictionary Elements</a:t>
            </a:r>
          </a:p>
        </p:txBody>
      </p:sp>
      <p:sp>
        <p:nvSpPr>
          <p:cNvPr id="3" name="Content Placeholder 2">
            <a:extLst>
              <a:ext uri="{FF2B5EF4-FFF2-40B4-BE49-F238E27FC236}">
                <a16:creationId xmlns:a16="http://schemas.microsoft.com/office/drawing/2014/main" id="{E92F7047-9513-97F5-A950-D4168AE6C97E}"/>
              </a:ext>
            </a:extLst>
          </p:cNvPr>
          <p:cNvSpPr>
            <a:spLocks noGrp="1"/>
          </p:cNvSpPr>
          <p:nvPr>
            <p:ph idx="1"/>
          </p:nvPr>
        </p:nvSpPr>
        <p:spPr/>
        <p:txBody>
          <a:bodyPr/>
          <a:lstStyle/>
          <a:p>
            <a:r>
              <a:rPr lang="en-IN" dirty="0"/>
              <a:t>Accessing values using keys.</a:t>
            </a:r>
          </a:p>
          <a:p>
            <a:r>
              <a:rPr lang="en-US" altLang="en-US" dirty="0"/>
              <a:t>Using get() method. </a:t>
            </a:r>
          </a:p>
          <a:p>
            <a:endParaRPr lang="en-IN" dirty="0"/>
          </a:p>
          <a:p>
            <a:endParaRPr lang="en-IN" dirty="0"/>
          </a:p>
        </p:txBody>
      </p:sp>
      <p:pic>
        <p:nvPicPr>
          <p:cNvPr id="6" name="Picture 5">
            <a:extLst>
              <a:ext uri="{FF2B5EF4-FFF2-40B4-BE49-F238E27FC236}">
                <a16:creationId xmlns:a16="http://schemas.microsoft.com/office/drawing/2014/main" id="{D286382B-B470-9AE8-5FB4-7D38367D1055}"/>
              </a:ext>
            </a:extLst>
          </p:cNvPr>
          <p:cNvPicPr>
            <a:picLocks noChangeAspect="1"/>
          </p:cNvPicPr>
          <p:nvPr/>
        </p:nvPicPr>
        <p:blipFill>
          <a:blip r:embed="rId2"/>
          <a:stretch>
            <a:fillRect/>
          </a:stretch>
        </p:blipFill>
        <p:spPr>
          <a:xfrm>
            <a:off x="1989956" y="3212976"/>
            <a:ext cx="4104456" cy="1080120"/>
          </a:xfrm>
          <a:prstGeom prst="rect">
            <a:avLst/>
          </a:prstGeom>
        </p:spPr>
      </p:pic>
    </p:spTree>
    <p:extLst>
      <p:ext uri="{BB962C8B-B14F-4D97-AF65-F5344CB8AC3E}">
        <p14:creationId xmlns:p14="http://schemas.microsoft.com/office/powerpoint/2010/main" val="2223372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D80A3-DED0-086D-6E25-05B6368E21BA}"/>
              </a:ext>
            </a:extLst>
          </p:cNvPr>
          <p:cNvSpPr>
            <a:spLocks noGrp="1"/>
          </p:cNvSpPr>
          <p:nvPr>
            <p:ph type="title"/>
          </p:nvPr>
        </p:nvSpPr>
        <p:spPr/>
        <p:txBody>
          <a:bodyPr/>
          <a:lstStyle/>
          <a:p>
            <a:r>
              <a:rPr lang="en-IN" dirty="0"/>
              <a:t>Dictionary Methods</a:t>
            </a:r>
          </a:p>
        </p:txBody>
      </p:sp>
      <p:sp>
        <p:nvSpPr>
          <p:cNvPr id="3" name="Text Placeholder 2">
            <a:extLst>
              <a:ext uri="{FF2B5EF4-FFF2-40B4-BE49-F238E27FC236}">
                <a16:creationId xmlns:a16="http://schemas.microsoft.com/office/drawing/2014/main" id="{483346E1-92C8-6FC1-4329-8C70402BA3CC}"/>
              </a:ext>
            </a:extLst>
          </p:cNvPr>
          <p:cNvSpPr>
            <a:spLocks noGrp="1"/>
          </p:cNvSpPr>
          <p:nvPr>
            <p:ph type="body" idx="1"/>
          </p:nvPr>
        </p:nvSpPr>
        <p:spPr/>
        <p:txBody>
          <a:bodyPr/>
          <a:lstStyle/>
          <a:p>
            <a:r>
              <a:rPr lang="en-IN" dirty="0"/>
              <a:t>Adding or Changing Items</a:t>
            </a:r>
          </a:p>
        </p:txBody>
      </p:sp>
      <p:sp>
        <p:nvSpPr>
          <p:cNvPr id="4" name="Content Placeholder 3">
            <a:extLst>
              <a:ext uri="{FF2B5EF4-FFF2-40B4-BE49-F238E27FC236}">
                <a16:creationId xmlns:a16="http://schemas.microsoft.com/office/drawing/2014/main" id="{F77D93FB-81D6-C677-169C-073E62E60B42}"/>
              </a:ext>
            </a:extLst>
          </p:cNvPr>
          <p:cNvSpPr>
            <a:spLocks noGrp="1"/>
          </p:cNvSpPr>
          <p:nvPr>
            <p:ph sz="half" idx="2"/>
          </p:nvPr>
        </p:nvSpPr>
        <p:spPr/>
        <p:txBody>
          <a:bodyPr/>
          <a:lstStyle/>
          <a:p>
            <a:r>
              <a:rPr lang="en-IN" dirty="0"/>
              <a:t>Adding new key-value pairs.</a:t>
            </a:r>
          </a:p>
          <a:p>
            <a:r>
              <a:rPr lang="en-IN" dirty="0"/>
              <a:t>Modifying existing values.</a:t>
            </a:r>
          </a:p>
          <a:p>
            <a:endParaRPr lang="en-IN" dirty="0"/>
          </a:p>
        </p:txBody>
      </p:sp>
      <p:sp>
        <p:nvSpPr>
          <p:cNvPr id="5" name="Text Placeholder 4">
            <a:extLst>
              <a:ext uri="{FF2B5EF4-FFF2-40B4-BE49-F238E27FC236}">
                <a16:creationId xmlns:a16="http://schemas.microsoft.com/office/drawing/2014/main" id="{D8FCDCE8-C667-A48C-2FEC-B4A4483712E6}"/>
              </a:ext>
            </a:extLst>
          </p:cNvPr>
          <p:cNvSpPr>
            <a:spLocks noGrp="1"/>
          </p:cNvSpPr>
          <p:nvPr>
            <p:ph type="body" sz="quarter" idx="3"/>
          </p:nvPr>
        </p:nvSpPr>
        <p:spPr/>
        <p:txBody>
          <a:bodyPr/>
          <a:lstStyle/>
          <a:p>
            <a:r>
              <a:rPr lang="en-US" dirty="0"/>
              <a:t>Removing Items from a Dictionary</a:t>
            </a:r>
            <a:endParaRPr lang="en-IN" dirty="0"/>
          </a:p>
        </p:txBody>
      </p:sp>
      <p:sp>
        <p:nvSpPr>
          <p:cNvPr id="6" name="Content Placeholder 5">
            <a:extLst>
              <a:ext uri="{FF2B5EF4-FFF2-40B4-BE49-F238E27FC236}">
                <a16:creationId xmlns:a16="http://schemas.microsoft.com/office/drawing/2014/main" id="{25F52A3D-5725-1EE7-8E8E-29698B8DDFA6}"/>
              </a:ext>
            </a:extLst>
          </p:cNvPr>
          <p:cNvSpPr>
            <a:spLocks noGrp="1"/>
          </p:cNvSpPr>
          <p:nvPr>
            <p:ph sz="quarter" idx="4"/>
          </p:nvPr>
        </p:nvSpPr>
        <p:spPr/>
        <p:txBody>
          <a:bodyPr/>
          <a:lstStyle/>
          <a:p>
            <a:r>
              <a:rPr kumimoji="0" lang="en-US" altLang="en-US" b="0" i="0" u="none" strike="noStrike" cap="none" normalizeH="0" baseline="0" dirty="0">
                <a:ln>
                  <a:noFill/>
                </a:ln>
                <a:solidFill>
                  <a:schemeClr val="tx1"/>
                </a:solidFill>
                <a:effectLst/>
                <a:latin typeface="Arial Unicode MS"/>
              </a:rPr>
              <a:t>pop()</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latin typeface="Arial Unicode MS"/>
              </a:rPr>
              <a:t>popitem</a:t>
            </a:r>
            <a:r>
              <a:rPr kumimoji="0" lang="en-US" altLang="en-US" b="0" i="0" u="none" strike="noStrike" cap="none" normalizeH="0" baseline="0" dirty="0">
                <a:ln>
                  <a:noFill/>
                </a:ln>
                <a:solidFill>
                  <a:schemeClr val="tx1"/>
                </a:solidFill>
                <a:effectLst/>
                <a:latin typeface="Arial Unicode MS"/>
              </a:rPr>
              <a:t>()</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a:rPr>
              <a:t>del</a:t>
            </a:r>
            <a:r>
              <a:rPr kumimoji="0" lang="en-US" altLang="en-US" b="0" i="0" u="none" strike="noStrike" cap="none" normalizeH="0" baseline="0" dirty="0">
                <a:ln>
                  <a:noFill/>
                </a:ln>
                <a:solidFill>
                  <a:schemeClr val="tx1"/>
                </a:solidFill>
                <a:effectLst/>
              </a:rPr>
              <a:t>, and </a:t>
            </a:r>
            <a:r>
              <a:rPr kumimoji="0" lang="en-US" altLang="en-US" b="0" i="0" u="none" strike="noStrike" cap="none" normalizeH="0" baseline="0" dirty="0">
                <a:ln>
                  <a:noFill/>
                </a:ln>
                <a:solidFill>
                  <a:schemeClr val="tx1"/>
                </a:solidFill>
                <a:effectLst/>
                <a:latin typeface="Arial Unicode MS"/>
              </a:rPr>
              <a:t>clear()</a:t>
            </a:r>
            <a:r>
              <a:rPr kumimoji="0" lang="en-US" altLang="en-US" b="0" i="0" u="none" strike="noStrike" cap="none" normalizeH="0" baseline="0" dirty="0">
                <a:ln>
                  <a:noFill/>
                </a:ln>
                <a:solidFill>
                  <a:schemeClr val="tx1"/>
                </a:solidFill>
                <a:effectLst/>
              </a:rPr>
              <a:t> methods. </a:t>
            </a:r>
            <a:endParaRPr kumimoji="0" lang="en-US" altLang="en-US" b="0" i="0" u="none" strike="noStrike" cap="none" normalizeH="0" baseline="0" dirty="0">
              <a:ln>
                <a:noFill/>
              </a:ln>
              <a:solidFill>
                <a:schemeClr val="tx1"/>
              </a:solidFill>
              <a:effectLst/>
              <a:latin typeface="Arial" panose="020B0604020202020204" pitchFamily="34" charset="0"/>
            </a:endParaRPr>
          </a:p>
          <a:p>
            <a:endParaRPr lang="en-IN" dirty="0"/>
          </a:p>
        </p:txBody>
      </p:sp>
      <p:pic>
        <p:nvPicPr>
          <p:cNvPr id="8" name="Picture 7">
            <a:extLst>
              <a:ext uri="{FF2B5EF4-FFF2-40B4-BE49-F238E27FC236}">
                <a16:creationId xmlns:a16="http://schemas.microsoft.com/office/drawing/2014/main" id="{928316DB-ABD4-2C75-CA5B-97B20429DBDB}"/>
              </a:ext>
            </a:extLst>
          </p:cNvPr>
          <p:cNvPicPr>
            <a:picLocks noChangeAspect="1"/>
          </p:cNvPicPr>
          <p:nvPr/>
        </p:nvPicPr>
        <p:blipFill>
          <a:blip r:embed="rId2"/>
          <a:stretch>
            <a:fillRect/>
          </a:stretch>
        </p:blipFill>
        <p:spPr>
          <a:xfrm>
            <a:off x="1557908" y="4102070"/>
            <a:ext cx="3960440" cy="1054130"/>
          </a:xfrm>
          <a:prstGeom prst="rect">
            <a:avLst/>
          </a:prstGeom>
        </p:spPr>
      </p:pic>
      <p:pic>
        <p:nvPicPr>
          <p:cNvPr id="11" name="Picture 10">
            <a:extLst>
              <a:ext uri="{FF2B5EF4-FFF2-40B4-BE49-F238E27FC236}">
                <a16:creationId xmlns:a16="http://schemas.microsoft.com/office/drawing/2014/main" id="{CB85537C-B373-BEF0-874D-FBCDC2E32CA9}"/>
              </a:ext>
            </a:extLst>
          </p:cNvPr>
          <p:cNvPicPr>
            <a:picLocks noChangeAspect="1"/>
          </p:cNvPicPr>
          <p:nvPr/>
        </p:nvPicPr>
        <p:blipFill>
          <a:blip r:embed="rId3"/>
          <a:stretch>
            <a:fillRect/>
          </a:stretch>
        </p:blipFill>
        <p:spPr>
          <a:xfrm>
            <a:off x="6687040" y="3717032"/>
            <a:ext cx="4701947" cy="1439168"/>
          </a:xfrm>
          <a:prstGeom prst="rect">
            <a:avLst/>
          </a:prstGeom>
        </p:spPr>
      </p:pic>
    </p:spTree>
    <p:extLst>
      <p:ext uri="{BB962C8B-B14F-4D97-AF65-F5344CB8AC3E}">
        <p14:creationId xmlns:p14="http://schemas.microsoft.com/office/powerpoint/2010/main" val="743608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CFAC2-1291-317F-04E6-DA418F31EBEE}"/>
              </a:ext>
            </a:extLst>
          </p:cNvPr>
          <p:cNvSpPr>
            <a:spLocks noGrp="1"/>
          </p:cNvSpPr>
          <p:nvPr>
            <p:ph type="title"/>
          </p:nvPr>
        </p:nvSpPr>
        <p:spPr/>
        <p:txBody>
          <a:bodyPr/>
          <a:lstStyle/>
          <a:p>
            <a:r>
              <a:rPr lang="en-IN" dirty="0"/>
              <a:t>Dictionary Methods</a:t>
            </a:r>
          </a:p>
        </p:txBody>
      </p:sp>
      <p:sp>
        <p:nvSpPr>
          <p:cNvPr id="3" name="Content Placeholder 2">
            <a:extLst>
              <a:ext uri="{FF2B5EF4-FFF2-40B4-BE49-F238E27FC236}">
                <a16:creationId xmlns:a16="http://schemas.microsoft.com/office/drawing/2014/main" id="{D9182B11-F371-3313-D595-89AF9D0CB2E1}"/>
              </a:ext>
            </a:extLst>
          </p:cNvPr>
          <p:cNvSpPr>
            <a:spLocks noGrp="1"/>
          </p:cNvSpPr>
          <p:nvPr>
            <p:ph idx="1"/>
          </p:nvPr>
        </p:nvSpPr>
        <p:spPr/>
        <p:txBody>
          <a:bodyPr/>
          <a:lstStyle/>
          <a:p>
            <a:r>
              <a:rPr kumimoji="0" lang="en-US" altLang="en-US" b="0" i="0" u="none" strike="noStrike" cap="none" normalizeH="0" baseline="0" dirty="0">
                <a:ln>
                  <a:noFill/>
                </a:ln>
                <a:solidFill>
                  <a:schemeClr val="tx1"/>
                </a:solidFill>
                <a:effectLst/>
                <a:latin typeface="Arial Unicode MS"/>
              </a:rPr>
              <a:t>keys()</a:t>
            </a:r>
            <a:r>
              <a:rPr kumimoji="0" lang="en-US" altLang="en-US" b="0" i="0" u="none" strike="noStrike" cap="none" normalizeH="0" baseline="0" dirty="0">
                <a:ln>
                  <a:noFill/>
                </a:ln>
                <a:solidFill>
                  <a:schemeClr val="tx1"/>
                </a:solidFill>
                <a:effectLst/>
              </a:rPr>
              <a:t>: Returns all keys. </a:t>
            </a:r>
          </a:p>
          <a:p>
            <a:r>
              <a:rPr kumimoji="0" lang="en-US" altLang="en-US" b="0" i="0" u="none" strike="noStrike" cap="none" normalizeH="0" baseline="0" dirty="0">
                <a:ln>
                  <a:noFill/>
                </a:ln>
                <a:solidFill>
                  <a:schemeClr val="tx1"/>
                </a:solidFill>
                <a:effectLst/>
                <a:latin typeface="Arial Unicode MS"/>
              </a:rPr>
              <a:t>values()</a:t>
            </a:r>
            <a:r>
              <a:rPr kumimoji="0" lang="en-US" altLang="en-US" b="0" i="0" u="none" strike="noStrike" cap="none" normalizeH="0" baseline="0" dirty="0">
                <a:ln>
                  <a:noFill/>
                </a:ln>
                <a:solidFill>
                  <a:schemeClr val="tx1"/>
                </a:solidFill>
                <a:effectLst/>
              </a:rPr>
              <a:t>: Returns all values. </a:t>
            </a:r>
          </a:p>
          <a:p>
            <a:r>
              <a:rPr kumimoji="0" lang="en-US" altLang="en-US" b="0" i="0" u="none" strike="noStrike" cap="none" normalizeH="0" baseline="0" dirty="0">
                <a:ln>
                  <a:noFill/>
                </a:ln>
                <a:solidFill>
                  <a:schemeClr val="tx1"/>
                </a:solidFill>
                <a:effectLst/>
                <a:latin typeface="Arial Unicode MS"/>
              </a:rPr>
              <a:t>items()</a:t>
            </a:r>
            <a:r>
              <a:rPr kumimoji="0" lang="en-US" altLang="en-US" b="0" i="0" u="none" strike="noStrike" cap="none" normalizeH="0" baseline="0" dirty="0">
                <a:ln>
                  <a:noFill/>
                </a:ln>
                <a:solidFill>
                  <a:schemeClr val="tx1"/>
                </a:solidFill>
                <a:effectLst/>
              </a:rPr>
              <a:t>: Returns key-value pairs. </a:t>
            </a:r>
            <a:endParaRPr kumimoji="0" lang="en-US" altLang="en-US" b="0" i="0" u="none" strike="noStrike" cap="none" normalizeH="0" baseline="0" dirty="0">
              <a:ln>
                <a:noFill/>
              </a:ln>
              <a:solidFill>
                <a:schemeClr val="tx1"/>
              </a:solidFill>
              <a:effectLst/>
              <a:latin typeface="Arial" panose="020B0604020202020204" pitchFamily="34" charset="0"/>
            </a:endParaRPr>
          </a:p>
          <a:p>
            <a:endParaRPr kumimoji="0" lang="en-US" altLang="en-US" b="0" i="0" u="none" strike="noStrike" cap="none" normalizeH="0" baseline="0" dirty="0">
              <a:ln>
                <a:noFill/>
              </a:ln>
              <a:solidFill>
                <a:schemeClr val="tx1"/>
              </a:solidFill>
              <a:effectLst/>
            </a:endParaRPr>
          </a:p>
          <a:p>
            <a:endParaRPr kumimoji="0" lang="en-US" altLang="en-US" b="0" i="0" u="none" strike="noStrike" cap="none" normalizeH="0" baseline="0" dirty="0">
              <a:ln>
                <a:noFill/>
              </a:ln>
              <a:solidFill>
                <a:schemeClr val="tx1"/>
              </a:solidFill>
              <a:effectLst/>
              <a:latin typeface="Arial" panose="020B0604020202020204" pitchFamily="34" charset="0"/>
            </a:endParaRPr>
          </a:p>
          <a:p>
            <a:endParaRPr kumimoji="0" lang="en-US" altLang="en-US" b="0" i="0" u="none" strike="noStrike" cap="none" normalizeH="0" baseline="0" dirty="0">
              <a:ln>
                <a:noFill/>
              </a:ln>
              <a:solidFill>
                <a:schemeClr val="tx1"/>
              </a:solidFill>
              <a:effectLst/>
            </a:endParaRPr>
          </a:p>
          <a:p>
            <a:endParaRPr kumimoji="0" lang="en-US" altLang="en-US" b="0" i="0" u="none" strike="noStrike" cap="none" normalizeH="0" baseline="0" dirty="0">
              <a:ln>
                <a:noFill/>
              </a:ln>
              <a:solidFill>
                <a:schemeClr val="tx1"/>
              </a:solidFill>
              <a:effectLst/>
              <a:latin typeface="Arial" panose="020B0604020202020204" pitchFamily="34" charset="0"/>
            </a:endParaRPr>
          </a:p>
          <a:p>
            <a:endParaRPr lang="en-IN" dirty="0"/>
          </a:p>
        </p:txBody>
      </p:sp>
      <p:pic>
        <p:nvPicPr>
          <p:cNvPr id="8" name="Picture 7">
            <a:extLst>
              <a:ext uri="{FF2B5EF4-FFF2-40B4-BE49-F238E27FC236}">
                <a16:creationId xmlns:a16="http://schemas.microsoft.com/office/drawing/2014/main" id="{841BC77F-855E-5B28-0F97-39DD585D8494}"/>
              </a:ext>
            </a:extLst>
          </p:cNvPr>
          <p:cNvPicPr>
            <a:picLocks noChangeAspect="1"/>
          </p:cNvPicPr>
          <p:nvPr/>
        </p:nvPicPr>
        <p:blipFill>
          <a:blip r:embed="rId2"/>
          <a:stretch>
            <a:fillRect/>
          </a:stretch>
        </p:blipFill>
        <p:spPr>
          <a:xfrm>
            <a:off x="1557908" y="3573016"/>
            <a:ext cx="5832648" cy="1472555"/>
          </a:xfrm>
          <a:prstGeom prst="rect">
            <a:avLst/>
          </a:prstGeom>
        </p:spPr>
      </p:pic>
    </p:spTree>
    <p:extLst>
      <p:ext uri="{BB962C8B-B14F-4D97-AF65-F5344CB8AC3E}">
        <p14:creationId xmlns:p14="http://schemas.microsoft.com/office/powerpoint/2010/main" val="2270797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D83E4F-3A07-71A2-3E30-0565ACFD9946}"/>
              </a:ext>
            </a:extLst>
          </p:cNvPr>
          <p:cNvSpPr>
            <a:spLocks noGrp="1"/>
          </p:cNvSpPr>
          <p:nvPr>
            <p:ph idx="1"/>
          </p:nvPr>
        </p:nvSpPr>
        <p:spPr/>
        <p:txBody>
          <a:bodyPr/>
          <a:lstStyle/>
          <a:p>
            <a:r>
              <a:rPr kumimoji="0" lang="en-US" altLang="en-US" b="0" i="0" u="none" strike="noStrike" cap="none" normalizeH="0" baseline="0" dirty="0">
                <a:ln>
                  <a:noFill/>
                </a:ln>
                <a:solidFill>
                  <a:schemeClr val="tx1"/>
                </a:solidFill>
                <a:effectLst/>
                <a:latin typeface="Arial" panose="020B0604020202020204" pitchFamily="34" charset="0"/>
              </a:rPr>
              <a:t>The </a:t>
            </a:r>
            <a:r>
              <a:rPr kumimoji="0" lang="en-US" altLang="en-US" b="0" i="0" u="none" strike="noStrike" cap="none" normalizeH="0" baseline="0" dirty="0">
                <a:ln>
                  <a:noFill/>
                </a:ln>
                <a:solidFill>
                  <a:schemeClr val="tx1"/>
                </a:solidFill>
                <a:effectLst/>
                <a:latin typeface="Arial Unicode MS"/>
              </a:rPr>
              <a:t>copy()</a:t>
            </a:r>
            <a:r>
              <a:rPr kumimoji="0" lang="en-US" altLang="en-US" b="0" i="0" u="none" strike="noStrike" cap="none" normalizeH="0" baseline="0" dirty="0">
                <a:ln>
                  <a:noFill/>
                </a:ln>
                <a:solidFill>
                  <a:schemeClr val="tx1"/>
                </a:solidFill>
                <a:effectLst/>
              </a:rPr>
              <a:t> method creates a </a:t>
            </a:r>
            <a:r>
              <a:rPr kumimoji="0" lang="en-US" altLang="en-US" b="1" i="0" u="none" strike="noStrike" cap="none" normalizeH="0" baseline="0" dirty="0">
                <a:ln>
                  <a:noFill/>
                </a:ln>
                <a:solidFill>
                  <a:schemeClr val="tx1"/>
                </a:solidFill>
                <a:effectLst/>
                <a:latin typeface="Arial" panose="020B0604020202020204" pitchFamily="34" charset="0"/>
              </a:rPr>
              <a:t>shallow copy</a:t>
            </a:r>
            <a:r>
              <a:rPr kumimoji="0" lang="en-US" altLang="en-US" b="0" i="0" u="none" strike="noStrike" cap="none" normalizeH="0" baseline="0" dirty="0">
                <a:ln>
                  <a:noFill/>
                </a:ln>
                <a:solidFill>
                  <a:schemeClr val="tx1"/>
                </a:solidFill>
                <a:effectLst/>
                <a:latin typeface="Arial" panose="020B0604020202020204" pitchFamily="34" charset="0"/>
              </a:rPr>
              <a:t> of the dictionary.</a:t>
            </a:r>
          </a:p>
          <a:p>
            <a:r>
              <a:rPr lang="en-US" dirty="0"/>
              <a:t>A shallow copy means that it copies the dictionary structure, but if the values themselves are mutable objects (like other dictionaries or lists), the references to those objects are copied, not the objects themselves. So, modifications to the nested mutable objects in the copy will also affect the original dictionary.</a:t>
            </a:r>
            <a:r>
              <a:rPr kumimoji="0" lang="en-US" altLang="en-US" b="0" i="0" u="none" strike="noStrike" cap="none" normalizeH="0" baseline="0" dirty="0">
                <a:ln>
                  <a:noFill/>
                </a:ln>
                <a:solidFill>
                  <a:schemeClr val="tx1"/>
                </a:solidFill>
                <a:effectLst/>
                <a:latin typeface="Arial" panose="020B0604020202020204" pitchFamily="34" charset="0"/>
              </a:rPr>
              <a:t> </a:t>
            </a:r>
          </a:p>
          <a:p>
            <a:endParaRPr lang="en-IN" dirty="0"/>
          </a:p>
        </p:txBody>
      </p:sp>
      <p:sp>
        <p:nvSpPr>
          <p:cNvPr id="5" name="Rectangle 2">
            <a:extLst>
              <a:ext uri="{FF2B5EF4-FFF2-40B4-BE49-F238E27FC236}">
                <a16:creationId xmlns:a16="http://schemas.microsoft.com/office/drawing/2014/main" id="{7C51BB46-3028-DF49-A33E-CE00D4D07290}"/>
              </a:ext>
            </a:extLst>
          </p:cNvPr>
          <p:cNvSpPr>
            <a:spLocks noGrp="1" noChangeArrowheads="1"/>
          </p:cNvSpPr>
          <p:nvPr>
            <p:ph type="title"/>
          </p:nvPr>
        </p:nvSpPr>
        <p:spPr bwMode="auto">
          <a:xfrm>
            <a:off x="1218883" y="501898"/>
            <a:ext cx="3849324"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400" b="0" i="0" u="none" strike="noStrike" cap="none" normalizeH="0" baseline="0" dirty="0">
                <a:ln>
                  <a:noFill/>
                </a:ln>
                <a:solidFill>
                  <a:schemeClr val="tx1"/>
                </a:solidFill>
                <a:effectLst/>
                <a:latin typeface="Arial Unicode MS"/>
              </a:rPr>
              <a:t>copy()</a:t>
            </a:r>
            <a:r>
              <a:rPr kumimoji="0" lang="en-US" altLang="en-US" sz="4400" b="0" i="0" u="none" strike="noStrike" cap="none" normalizeH="0" baseline="0" dirty="0">
                <a:ln>
                  <a:noFill/>
                </a:ln>
                <a:solidFill>
                  <a:schemeClr val="tx1"/>
                </a:solidFill>
                <a:effectLst/>
              </a:rPr>
              <a:t> Method </a:t>
            </a:r>
            <a:endParaRPr kumimoji="0" lang="en-US" altLang="en-US" sz="44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9A921BC7-50A6-63F0-E761-99588AEF0885}"/>
              </a:ext>
            </a:extLst>
          </p:cNvPr>
          <p:cNvPicPr>
            <a:picLocks noChangeAspect="1"/>
          </p:cNvPicPr>
          <p:nvPr/>
        </p:nvPicPr>
        <p:blipFill>
          <a:blip r:embed="rId2"/>
          <a:stretch>
            <a:fillRect/>
          </a:stretch>
        </p:blipFill>
        <p:spPr>
          <a:xfrm>
            <a:off x="1701924" y="4581128"/>
            <a:ext cx="7488832" cy="1582941"/>
          </a:xfrm>
          <a:prstGeom prst="rect">
            <a:avLst/>
          </a:prstGeom>
        </p:spPr>
      </p:pic>
    </p:spTree>
    <p:extLst>
      <p:ext uri="{BB962C8B-B14F-4D97-AF65-F5344CB8AC3E}">
        <p14:creationId xmlns:p14="http://schemas.microsoft.com/office/powerpoint/2010/main" val="1393160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B5D99B-1C39-AD37-68F9-4EE2B310E0F5}"/>
              </a:ext>
            </a:extLst>
          </p:cNvPr>
          <p:cNvSpPr>
            <a:spLocks noGrp="1"/>
          </p:cNvSpPr>
          <p:nvPr>
            <p:ph idx="1"/>
          </p:nvPr>
        </p:nvSpPr>
        <p:spPr/>
        <p:txBody>
          <a:bodyPr/>
          <a:lstStyle/>
          <a:p>
            <a:r>
              <a:rPr kumimoji="0" lang="en-US" altLang="en-US" b="0" i="0" u="none" strike="noStrike" cap="none" normalizeH="0" baseline="0" dirty="0">
                <a:ln>
                  <a:noFill/>
                </a:ln>
                <a:solidFill>
                  <a:schemeClr val="tx1"/>
                </a:solidFill>
                <a:effectLst/>
                <a:latin typeface="Arial" panose="020B0604020202020204" pitchFamily="34" charset="0"/>
              </a:rPr>
              <a:t>Using </a:t>
            </a:r>
            <a:r>
              <a:rPr kumimoji="0" lang="en-US" altLang="en-US" b="0" i="0" u="none" strike="noStrike" cap="none" normalizeH="0" baseline="0" dirty="0" err="1">
                <a:ln>
                  <a:noFill/>
                </a:ln>
                <a:solidFill>
                  <a:schemeClr val="tx1"/>
                </a:solidFill>
                <a:effectLst/>
                <a:latin typeface="Arial Unicode MS"/>
              </a:rPr>
              <a:t>dict</a:t>
            </a:r>
            <a:r>
              <a:rPr kumimoji="0" lang="en-US" altLang="en-US" b="0" i="0" u="none" strike="noStrike" cap="none" normalizeH="0" baseline="0" dirty="0">
                <a:ln>
                  <a:noFill/>
                </a:ln>
                <a:solidFill>
                  <a:schemeClr val="tx1"/>
                </a:solidFill>
                <a:effectLst/>
                <a:latin typeface="Arial Unicode MS"/>
              </a:rPr>
              <a:t>()</a:t>
            </a:r>
            <a:r>
              <a:rPr kumimoji="0" lang="en-US" altLang="en-US" b="0" i="0" u="none" strike="noStrike" cap="none" normalizeH="0" baseline="0" dirty="0">
                <a:ln>
                  <a:noFill/>
                </a:ln>
                <a:solidFill>
                  <a:schemeClr val="tx1"/>
                </a:solidFill>
                <a:effectLst/>
              </a:rPr>
              <a:t> also creates a </a:t>
            </a:r>
            <a:r>
              <a:rPr kumimoji="0" lang="en-US" altLang="en-US" b="1" i="0" u="none" strike="noStrike" cap="none" normalizeH="0" baseline="0" dirty="0">
                <a:ln>
                  <a:noFill/>
                </a:ln>
                <a:solidFill>
                  <a:schemeClr val="tx1"/>
                </a:solidFill>
                <a:effectLst/>
                <a:latin typeface="Arial" panose="020B0604020202020204" pitchFamily="34" charset="0"/>
              </a:rPr>
              <a:t>shallow copy</a:t>
            </a:r>
            <a:r>
              <a:rPr kumimoji="0" lang="en-US" altLang="en-US" b="0" i="0" u="none" strike="noStrike" cap="none" normalizeH="0" baseline="0" dirty="0">
                <a:ln>
                  <a:noFill/>
                </a:ln>
                <a:solidFill>
                  <a:schemeClr val="tx1"/>
                </a:solidFill>
                <a:effectLst/>
                <a:latin typeface="Arial" panose="020B0604020202020204" pitchFamily="34" charset="0"/>
              </a:rPr>
              <a:t> of the dictionary. </a:t>
            </a:r>
          </a:p>
          <a:p>
            <a:r>
              <a:rPr kumimoji="0" lang="en-US" altLang="en-US" b="0" i="0" u="none" strike="noStrike" cap="none" normalizeH="0" baseline="0" dirty="0">
                <a:ln>
                  <a:noFill/>
                </a:ln>
                <a:solidFill>
                  <a:schemeClr val="tx1"/>
                </a:solidFill>
                <a:effectLst/>
                <a:latin typeface="Arial" panose="020B0604020202020204" pitchFamily="34" charset="0"/>
              </a:rPr>
              <a:t>Internally, </a:t>
            </a:r>
            <a:r>
              <a:rPr kumimoji="0" lang="en-US" altLang="en-US" b="0" i="0" u="none" strike="noStrike" cap="none" normalizeH="0" baseline="0" dirty="0" err="1">
                <a:ln>
                  <a:noFill/>
                </a:ln>
                <a:solidFill>
                  <a:schemeClr val="tx1"/>
                </a:solidFill>
                <a:effectLst/>
                <a:latin typeface="Arial Unicode MS"/>
              </a:rPr>
              <a:t>dict</a:t>
            </a:r>
            <a:r>
              <a:rPr kumimoji="0" lang="en-US" altLang="en-US" b="0" i="0" u="none" strike="noStrike" cap="none" normalizeH="0" baseline="0" dirty="0">
                <a:ln>
                  <a:noFill/>
                </a:ln>
                <a:solidFill>
                  <a:schemeClr val="tx1"/>
                </a:solidFill>
                <a:effectLst/>
                <a:latin typeface="Arial Unicode MS"/>
              </a:rPr>
              <a:t>()</a:t>
            </a:r>
            <a:r>
              <a:rPr kumimoji="0" lang="en-US" altLang="en-US" b="0" i="0" u="none" strike="noStrike" cap="none" normalizeH="0" baseline="0" dirty="0">
                <a:ln>
                  <a:noFill/>
                </a:ln>
                <a:solidFill>
                  <a:schemeClr val="tx1"/>
                </a:solidFill>
                <a:effectLst/>
              </a:rPr>
              <a:t> re-creates a new dictionary using the key-value pairs of the original dictionary.</a:t>
            </a:r>
          </a:p>
          <a:p>
            <a:r>
              <a:rPr kumimoji="0" lang="en-US" altLang="en-US" b="0" i="0" u="none" strike="noStrike" cap="none" normalizeH="0" baseline="0" dirty="0">
                <a:ln>
                  <a:noFill/>
                </a:ln>
                <a:solidFill>
                  <a:schemeClr val="tx1"/>
                </a:solidFill>
                <a:effectLst/>
                <a:latin typeface="Arial" panose="020B0604020202020204" pitchFamily="34" charset="0"/>
              </a:rPr>
              <a:t>The behavior is almost identical to </a:t>
            </a:r>
            <a:r>
              <a:rPr kumimoji="0" lang="en-US" altLang="en-US" b="0" i="0" u="none" strike="noStrike" cap="none" normalizeH="0" baseline="0" dirty="0">
                <a:ln>
                  <a:noFill/>
                </a:ln>
                <a:solidFill>
                  <a:schemeClr val="tx1"/>
                </a:solidFill>
                <a:effectLst/>
                <a:latin typeface="Arial Unicode MS"/>
              </a:rPr>
              <a:t>copy()</a:t>
            </a:r>
            <a:r>
              <a:rPr kumimoji="0" lang="en-US" altLang="en-US" b="0" i="0" u="none" strike="noStrike" cap="none" normalizeH="0" baseline="0" dirty="0">
                <a:ln>
                  <a:noFill/>
                </a:ln>
                <a:solidFill>
                  <a:schemeClr val="tx1"/>
                </a:solidFill>
                <a:effectLst/>
              </a:rPr>
              <a:t> in terms of copying the dictionary structure and references to mutable objects. </a:t>
            </a:r>
            <a:endParaRPr kumimoji="0" lang="en-US" altLang="en-US" b="0" i="0" u="none" strike="noStrike" cap="none" normalizeH="0" baseline="0" dirty="0">
              <a:ln>
                <a:noFill/>
              </a:ln>
              <a:solidFill>
                <a:schemeClr val="tx1"/>
              </a:solidFill>
              <a:effectLst/>
              <a:latin typeface="Arial" panose="020B0604020202020204" pitchFamily="34" charset="0"/>
            </a:endParaRPr>
          </a:p>
          <a:p>
            <a:r>
              <a:rPr kumimoji="0" lang="en-US" altLang="en-US" b="0" i="0" u="none" strike="noStrike" cap="none" normalizeH="0" baseline="0" dirty="0">
                <a:ln>
                  <a:noFill/>
                </a:ln>
                <a:solidFill>
                  <a:schemeClr val="tx1"/>
                </a:solidFill>
                <a:effectLst/>
              </a:rPr>
              <a:t> </a:t>
            </a:r>
          </a:p>
          <a:p>
            <a:endParaRPr kumimoji="0" lang="en-US" altLang="en-US" b="0" i="0" u="none" strike="noStrike" cap="none" normalizeH="0" baseline="0" dirty="0">
              <a:ln>
                <a:noFill/>
              </a:ln>
              <a:solidFill>
                <a:schemeClr val="tx1"/>
              </a:solidFill>
              <a:effectLst/>
              <a:latin typeface="Arial" panose="020B0604020202020204" pitchFamily="34" charset="0"/>
            </a:endParaRPr>
          </a:p>
          <a:p>
            <a:endParaRPr kumimoji="0" lang="en-US" altLang="en-US" b="0" i="0" u="none" strike="noStrike" cap="none" normalizeH="0" baseline="0" dirty="0">
              <a:ln>
                <a:noFill/>
              </a:ln>
              <a:solidFill>
                <a:schemeClr val="tx1"/>
              </a:solidFill>
              <a:effectLst/>
              <a:latin typeface="Arial" panose="020B0604020202020204" pitchFamily="34" charset="0"/>
            </a:endParaRPr>
          </a:p>
          <a:p>
            <a:endParaRPr lang="en-IN" dirty="0"/>
          </a:p>
        </p:txBody>
      </p:sp>
      <p:sp>
        <p:nvSpPr>
          <p:cNvPr id="4" name="Rectangle 1">
            <a:extLst>
              <a:ext uri="{FF2B5EF4-FFF2-40B4-BE49-F238E27FC236}">
                <a16:creationId xmlns:a16="http://schemas.microsoft.com/office/drawing/2014/main" id="{81AFBB0E-44AC-EDEB-20CB-F9A8487E4CD9}"/>
              </a:ext>
            </a:extLst>
          </p:cNvPr>
          <p:cNvSpPr>
            <a:spLocks noGrp="1" noChangeArrowheads="1"/>
          </p:cNvSpPr>
          <p:nvPr>
            <p:ph type="title"/>
          </p:nvPr>
        </p:nvSpPr>
        <p:spPr bwMode="auto">
          <a:xfrm>
            <a:off x="1218883" y="532675"/>
            <a:ext cx="401949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000" b="0" i="0" u="none" strike="noStrike" cap="none" normalizeH="0" baseline="0" dirty="0" err="1">
                <a:ln>
                  <a:noFill/>
                </a:ln>
                <a:solidFill>
                  <a:schemeClr val="tx1"/>
                </a:solidFill>
                <a:effectLst/>
                <a:latin typeface="Arial Unicode MS"/>
              </a:rPr>
              <a:t>dict</a:t>
            </a:r>
            <a:r>
              <a:rPr kumimoji="0" lang="en-US" altLang="en-US" sz="4000" b="0" i="0" u="none" strike="noStrike" cap="none" normalizeH="0" baseline="0" dirty="0">
                <a:ln>
                  <a:noFill/>
                </a:ln>
                <a:solidFill>
                  <a:schemeClr val="tx1"/>
                </a:solidFill>
                <a:effectLst/>
                <a:latin typeface="Arial Unicode MS"/>
              </a:rPr>
              <a:t>()</a:t>
            </a:r>
            <a:r>
              <a:rPr kumimoji="0" lang="en-US" altLang="en-US" sz="4000" b="0" i="0" u="none" strike="noStrike" cap="none" normalizeH="0" baseline="0" dirty="0">
                <a:ln>
                  <a:noFill/>
                </a:ln>
                <a:solidFill>
                  <a:schemeClr val="tx1"/>
                </a:solidFill>
                <a:effectLst/>
              </a:rPr>
              <a:t> Constructor </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CFB69A95-78A4-1264-DFD1-ABE1C8761DD0}"/>
              </a:ext>
            </a:extLst>
          </p:cNvPr>
          <p:cNvPicPr>
            <a:picLocks noChangeAspect="1"/>
          </p:cNvPicPr>
          <p:nvPr/>
        </p:nvPicPr>
        <p:blipFill>
          <a:blip r:embed="rId2"/>
          <a:stretch>
            <a:fillRect/>
          </a:stretch>
        </p:blipFill>
        <p:spPr>
          <a:xfrm>
            <a:off x="1989956" y="4328111"/>
            <a:ext cx="7200800" cy="1656184"/>
          </a:xfrm>
          <a:prstGeom prst="rect">
            <a:avLst/>
          </a:prstGeom>
        </p:spPr>
      </p:pic>
    </p:spTree>
    <p:extLst>
      <p:ext uri="{BB962C8B-B14F-4D97-AF65-F5344CB8AC3E}">
        <p14:creationId xmlns:p14="http://schemas.microsoft.com/office/powerpoint/2010/main" val="2377861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CC7CE-82A7-4E5D-5539-4D34DF803E13}"/>
              </a:ext>
            </a:extLst>
          </p:cNvPr>
          <p:cNvSpPr>
            <a:spLocks noGrp="1"/>
          </p:cNvSpPr>
          <p:nvPr>
            <p:ph type="title"/>
          </p:nvPr>
        </p:nvSpPr>
        <p:spPr/>
        <p:txBody>
          <a:bodyPr/>
          <a:lstStyle/>
          <a:p>
            <a:r>
              <a:rPr lang="en-IN" dirty="0"/>
              <a:t>Nested Dictionaries</a:t>
            </a:r>
          </a:p>
        </p:txBody>
      </p:sp>
      <p:sp>
        <p:nvSpPr>
          <p:cNvPr id="3" name="Content Placeholder 2">
            <a:extLst>
              <a:ext uri="{FF2B5EF4-FFF2-40B4-BE49-F238E27FC236}">
                <a16:creationId xmlns:a16="http://schemas.microsoft.com/office/drawing/2014/main" id="{A3FA5E5F-E7B0-7902-8F66-808044719630}"/>
              </a:ext>
            </a:extLst>
          </p:cNvPr>
          <p:cNvSpPr>
            <a:spLocks noGrp="1"/>
          </p:cNvSpPr>
          <p:nvPr>
            <p:ph idx="1"/>
          </p:nvPr>
        </p:nvSpPr>
        <p:spPr/>
        <p:txBody>
          <a:bodyPr/>
          <a:lstStyle/>
          <a:p>
            <a:r>
              <a:rPr lang="en-US" dirty="0"/>
              <a:t>A dictionary within a dictionary.</a:t>
            </a:r>
          </a:p>
          <a:p>
            <a:endParaRPr lang="en-IN" dirty="0"/>
          </a:p>
        </p:txBody>
      </p:sp>
      <p:pic>
        <p:nvPicPr>
          <p:cNvPr id="5" name="Picture 4">
            <a:extLst>
              <a:ext uri="{FF2B5EF4-FFF2-40B4-BE49-F238E27FC236}">
                <a16:creationId xmlns:a16="http://schemas.microsoft.com/office/drawing/2014/main" id="{F49B2D60-CBC0-0E9A-0D1D-7A138FE99C5B}"/>
              </a:ext>
            </a:extLst>
          </p:cNvPr>
          <p:cNvPicPr>
            <a:picLocks noChangeAspect="1"/>
          </p:cNvPicPr>
          <p:nvPr/>
        </p:nvPicPr>
        <p:blipFill>
          <a:blip r:embed="rId2"/>
          <a:stretch>
            <a:fillRect/>
          </a:stretch>
        </p:blipFill>
        <p:spPr>
          <a:xfrm>
            <a:off x="1845940" y="2780928"/>
            <a:ext cx="5616624" cy="1656184"/>
          </a:xfrm>
          <a:prstGeom prst="rect">
            <a:avLst/>
          </a:prstGeom>
        </p:spPr>
      </p:pic>
    </p:spTree>
    <p:extLst>
      <p:ext uri="{BB962C8B-B14F-4D97-AF65-F5344CB8AC3E}">
        <p14:creationId xmlns:p14="http://schemas.microsoft.com/office/powerpoint/2010/main" val="1352181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7651E-0440-D016-D668-9EBC0CB97FEF}"/>
              </a:ext>
            </a:extLst>
          </p:cNvPr>
          <p:cNvSpPr>
            <a:spLocks noGrp="1"/>
          </p:cNvSpPr>
          <p:nvPr>
            <p:ph type="title"/>
          </p:nvPr>
        </p:nvSpPr>
        <p:spPr/>
        <p:txBody>
          <a:bodyPr/>
          <a:lstStyle/>
          <a:p>
            <a:r>
              <a:rPr lang="en-IN" dirty="0"/>
              <a:t>Difference between List and tuple</a:t>
            </a:r>
          </a:p>
        </p:txBody>
      </p:sp>
      <p:pic>
        <p:nvPicPr>
          <p:cNvPr id="5" name="Content Placeholder 4">
            <a:extLst>
              <a:ext uri="{FF2B5EF4-FFF2-40B4-BE49-F238E27FC236}">
                <a16:creationId xmlns:a16="http://schemas.microsoft.com/office/drawing/2014/main" id="{80225385-391A-5CE9-B2CB-F0714FBD38A9}"/>
              </a:ext>
            </a:extLst>
          </p:cNvPr>
          <p:cNvPicPr>
            <a:picLocks noGrp="1" noChangeAspect="1"/>
          </p:cNvPicPr>
          <p:nvPr>
            <p:ph idx="1"/>
          </p:nvPr>
        </p:nvPicPr>
        <p:blipFill>
          <a:blip r:embed="rId2"/>
          <a:stretch>
            <a:fillRect/>
          </a:stretch>
        </p:blipFill>
        <p:spPr>
          <a:xfrm>
            <a:off x="1269876" y="1844824"/>
            <a:ext cx="9505056" cy="3816424"/>
          </a:xfrm>
        </p:spPr>
      </p:pic>
    </p:spTree>
    <p:extLst>
      <p:ext uri="{BB962C8B-B14F-4D97-AF65-F5344CB8AC3E}">
        <p14:creationId xmlns:p14="http://schemas.microsoft.com/office/powerpoint/2010/main" val="3239121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007F7-E12D-CC54-10F8-153F273FAFBF}"/>
              </a:ext>
            </a:extLst>
          </p:cNvPr>
          <p:cNvSpPr>
            <a:spLocks noGrp="1"/>
          </p:cNvSpPr>
          <p:nvPr>
            <p:ph type="title"/>
          </p:nvPr>
        </p:nvSpPr>
        <p:spPr/>
        <p:txBody>
          <a:bodyPr/>
          <a:lstStyle/>
          <a:p>
            <a:r>
              <a:rPr lang="en-IN" dirty="0" err="1"/>
              <a:t>Comparision</a:t>
            </a:r>
            <a:r>
              <a:rPr lang="en-IN" dirty="0"/>
              <a:t> between all data structure</a:t>
            </a:r>
          </a:p>
        </p:txBody>
      </p:sp>
      <p:pic>
        <p:nvPicPr>
          <p:cNvPr id="5" name="Content Placeholder 4">
            <a:extLst>
              <a:ext uri="{FF2B5EF4-FFF2-40B4-BE49-F238E27FC236}">
                <a16:creationId xmlns:a16="http://schemas.microsoft.com/office/drawing/2014/main" id="{54D86B20-E4CB-A523-FCFB-F7068FFE3D3F}"/>
              </a:ext>
            </a:extLst>
          </p:cNvPr>
          <p:cNvPicPr>
            <a:picLocks noGrp="1" noChangeAspect="1"/>
          </p:cNvPicPr>
          <p:nvPr>
            <p:ph idx="1"/>
          </p:nvPr>
        </p:nvPicPr>
        <p:blipFill>
          <a:blip r:embed="rId2"/>
          <a:stretch>
            <a:fillRect/>
          </a:stretch>
        </p:blipFill>
        <p:spPr>
          <a:xfrm>
            <a:off x="1218883" y="1844824"/>
            <a:ext cx="10420145" cy="3816424"/>
          </a:xfrm>
        </p:spPr>
      </p:pic>
    </p:spTree>
    <p:extLst>
      <p:ext uri="{BB962C8B-B14F-4D97-AF65-F5344CB8AC3E}">
        <p14:creationId xmlns:p14="http://schemas.microsoft.com/office/powerpoint/2010/main" val="3693809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Thank You</a:t>
            </a:r>
          </a:p>
        </p:txBody>
      </p:sp>
      <p:sp>
        <p:nvSpPr>
          <p:cNvPr id="5" name="Text Placeholder 4"/>
          <p:cNvSpPr>
            <a:spLocks noGrp="1"/>
          </p:cNvSpPr>
          <p:nvPr>
            <p:ph type="body" idx="1"/>
          </p:nvPr>
        </p:nvSpPr>
        <p:spPr/>
        <p:txBody>
          <a:bodyPr/>
          <a:lstStyle/>
          <a:p>
            <a:r>
              <a:rPr lang="en-US" dirty="0"/>
              <a:t>Happy learning!</a:t>
            </a:r>
          </a:p>
          <a:p>
            <a:endParaRPr lang="en-US" dirty="0"/>
          </a:p>
        </p:txBody>
      </p:sp>
    </p:spTree>
    <p:extLst>
      <p:ext uri="{BB962C8B-B14F-4D97-AF65-F5344CB8AC3E}">
        <p14:creationId xmlns:p14="http://schemas.microsoft.com/office/powerpoint/2010/main" val="426497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ch 16x9">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extLst>
    <a:ext uri="{05A4C25C-085E-4340-85A3-A5531E510DB2}">
      <thm15:themeFamily xmlns:thm15="http://schemas.microsoft.com/office/thememl/2012/main" name="TF02787990.potx" id="{BDB9CD5E-36EC-45F3-B87D-6D062B8A3823}" vid="{51682E2F-7C85-4D6F-AD40-072EFC83910D}"/>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36F65B-1B07-41EE-A0E8-BC6EF3855225}">
  <ds:schemaRefs>
    <ds:schemaRef ds:uri="http://schemas.microsoft.com/sharepoint/v3/contenttype/forms"/>
  </ds:schemaRefs>
</ds:datastoreItem>
</file>

<file path=customXml/itemProps2.xml><?xml version="1.0" encoding="utf-8"?>
<ds:datastoreItem xmlns:ds="http://schemas.openxmlformats.org/officeDocument/2006/customXml" ds:itemID="{60C67BEE-D13F-4BD2-98A5-34D8A0977F68}">
  <ds:schemaRefs>
    <ds:schemaRef ds:uri="4873beb7-5857-4685-be1f-d57550cc96cc"/>
    <ds:schemaRef ds:uri="http://schemas.openxmlformats.org/package/2006/metadata/core-properties"/>
    <ds:schemaRef ds:uri="http://purl.org/dc/terms/"/>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Triple circuit lines presentation (widescreen)</Template>
  <TotalTime>1657</TotalTime>
  <Words>258</Words>
  <Application>Microsoft Office PowerPoint</Application>
  <PresentationFormat>Custom</PresentationFormat>
  <Paragraphs>37</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Arial Unicode MS</vt:lpstr>
      <vt:lpstr>Calibri</vt:lpstr>
      <vt:lpstr>Tech 16x9</vt:lpstr>
      <vt:lpstr>Dictionaries in Python</vt:lpstr>
      <vt:lpstr>What is a Dictionary in Python?</vt:lpstr>
      <vt:lpstr>Accessing Dictionary Elements</vt:lpstr>
      <vt:lpstr>Dictionary Methods</vt:lpstr>
      <vt:lpstr>Dictionary Methods</vt:lpstr>
      <vt:lpstr>copy() Method </vt:lpstr>
      <vt:lpstr>dict() Constructor </vt:lpstr>
      <vt:lpstr>Nested Dictionaries</vt:lpstr>
      <vt:lpstr>Difference between List and tuple</vt:lpstr>
      <vt:lpstr>Comparision between all data structure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Prachi Kabra</dc:creator>
  <cp:lastModifiedBy>Prachi Kabra</cp:lastModifiedBy>
  <cp:revision>2</cp:revision>
  <dcterms:created xsi:type="dcterms:W3CDTF">2024-09-11T13:06:07Z</dcterms:created>
  <dcterms:modified xsi:type="dcterms:W3CDTF">2024-09-12T16:43:28Z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