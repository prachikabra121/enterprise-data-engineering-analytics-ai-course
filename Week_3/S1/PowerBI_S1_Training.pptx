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71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6576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</a:rPr>
              <a:t>WEEK 3.SESSION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Tour,</a:t>
            </a:r>
            <a:endParaRPr lang="en-US" sz="3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Importing</a:t>
            </a:r>
            <a:endParaRPr lang="en-US" sz="3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Excel / CSV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2C811"/>
                </a:solidFill>
              </a:rPr>
              <a:t>Foundational Module 3 — Power BI Foundations &amp; Basics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5029200" cy="274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EC0"/>
                </a:solidFill>
              </a:rPr>
              <a:t>Corporate Training Program  |  Trainer Name: Prachi Kabra |  Hands-On Learning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548640"/>
            <a:ext cx="2377440" cy="4206240"/>
          </a:xfrm>
          <a:prstGeom prst="rect">
            <a:avLst/>
          </a:prstGeom>
          <a:solidFill>
            <a:srgbClr val="1E3460"/>
          </a:solidFill>
          <a:ln w="19050">
            <a:solidFill>
              <a:srgbClr val="00B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097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C811"/>
                </a:solidFill>
              </a:rPr>
              <a:t>Power BI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2C811"/>
                </a:solidFill>
              </a:rPr>
              <a:t>Desktop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C811"/>
                </a:solidFill>
              </a:rPr>
              <a:t>✔ </a:t>
            </a:r>
            <a:r>
              <a:rPr lang="en-US" sz="1200" dirty="0">
                <a:solidFill>
                  <a:srgbClr val="FFFFFF"/>
                </a:solidFill>
              </a:rPr>
              <a:t>Interface Tour
</a:t>
            </a:r>
            <a:r>
              <a:rPr lang="en-US" sz="1200" b="1" dirty="0">
                <a:solidFill>
                  <a:srgbClr val="F2C811"/>
                </a:solidFill>
              </a:rPr>
              <a:t>✔ </a:t>
            </a:r>
            <a:r>
              <a:rPr lang="en-US" sz="1200" dirty="0">
                <a:solidFill>
                  <a:srgbClr val="FFFFFF"/>
                </a:solidFill>
              </a:rPr>
              <a:t>Data Sources
</a:t>
            </a:r>
            <a:r>
              <a:rPr lang="en-US" sz="1200" b="1" dirty="0">
                <a:solidFill>
                  <a:srgbClr val="F2C811"/>
                </a:solidFill>
              </a:rPr>
              <a:t>✔ </a:t>
            </a:r>
            <a:r>
              <a:rPr lang="en-US" sz="1200" dirty="0">
                <a:solidFill>
                  <a:srgbClr val="FFFFFF"/>
                </a:solidFill>
              </a:rPr>
              <a:t>Excel / CSV Import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D4DB6-6D3D-06A8-7BA4-9026786068DC}"/>
              </a:ext>
            </a:extLst>
          </p:cNvPr>
          <p:cNvSpPr txBox="1"/>
          <p:nvPr/>
        </p:nvSpPr>
        <p:spPr>
          <a:xfrm>
            <a:off x="502920" y="777240"/>
            <a:ext cx="434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Enterprise Data Engineering, Analytics &amp; AI 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SESSION 1 — 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" cy="11430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C811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3360" y="960120"/>
            <a:ext cx="457200" cy="11430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960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A4A"/>
                </a:solidFill>
              </a:rPr>
              <a:t>10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Power BI Ecosystem 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3990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What is Power BI? Desktop vs Service vs Mobile. Licensing overview.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502920" cy="11430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C811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0" y="960120"/>
            <a:ext cx="457200" cy="11430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960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A4A"/>
                </a:solidFill>
              </a:rPr>
              <a:t>20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9240" y="1051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Power BI Desktop Interface Tour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3990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Ribbon, Report/Data/Model views, Fields &amp; Filters panes, Canvas.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86000"/>
            <a:ext cx="502920" cy="11430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C811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23360" y="2286000"/>
            <a:ext cx="457200" cy="11430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228600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A4A"/>
                </a:solidFill>
              </a:rPr>
              <a:t>15 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Understanding Data Sources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27249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Supported source types: files, databases, cloud, web, APIs.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286000"/>
            <a:ext cx="502920" cy="11430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C811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03920" y="2286000"/>
            <a:ext cx="457200" cy="11430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228600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A4A"/>
                </a:solidFill>
              </a:rPr>
              <a:t>20 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Importing Data from Excel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7249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Selecting sheets/tables, column types, handling headers.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61188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611880"/>
            <a:ext cx="502920" cy="11430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C811"/>
                </a:solidFill>
              </a:rPr>
              <a:t>05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23360" y="3611880"/>
            <a:ext cx="457200" cy="11430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36118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A4A"/>
                </a:solidFill>
              </a:rPr>
              <a:t>15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" y="3703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Importing Data from CSV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40507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Delimiters, encoding, data type detection, common issues.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61188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611880"/>
            <a:ext cx="502920" cy="11430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C811"/>
                </a:solidFill>
              </a:rPr>
              <a:t>06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03920" y="3611880"/>
            <a:ext cx="457200" cy="11430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36118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A4A"/>
                </a:solidFill>
              </a:rPr>
              <a:t>10 min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49240" y="3703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Hands-On Practice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49240" y="40507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Live import exercise + Q&amp;A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 BI ECOSYSTEM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8404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🖥️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C811"/>
                </a:solidFill>
              </a:rPr>
              <a:t>Power BI Desktop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Free to download &amp; use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Main authoring tool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Connect, transform &amp; visualize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Windows application (.exe)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Publish to Power BI 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3840480"/>
          </a:xfrm>
          <a:prstGeom prst="rect">
            <a:avLst/>
          </a:prstGeom>
          <a:solidFill>
            <a:srgbClr val="00527A"/>
          </a:solidFill>
          <a:ln w="12700">
            <a:solidFill>
              <a:srgbClr val="0052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☁️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C811"/>
                </a:solidFill>
              </a:rPr>
              <a:t>Power BI Service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Web-based (app.powerbi.com)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Share &amp; collaborate on reports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Schedule data refresh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Dashboards &amp; workspaces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Requires Pro/Premium license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3840480"/>
          </a:xfrm>
          <a:prstGeom prst="rect">
            <a:avLst/>
          </a:prstGeom>
          <a:solidFill>
            <a:srgbClr val="025E8C"/>
          </a:solidFill>
          <a:ln w="12700">
            <a:solidFill>
              <a:srgbClr val="025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C811"/>
                </a:solidFill>
              </a:rPr>
              <a:t>Power BI Mobile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iOS and Android apps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View published reports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Offline access to dashboards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Alerts &amp; notifications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Optimized for touch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E8F4FD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4A"/>
                </a:solidFill>
              </a:rPr>
              <a:t>💡  This session focuses on Power BI Desktop — the tool you will use daily for data connection and report authoring.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 BI DESKTOP — INTERFACE TOUR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2C3E5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① RIBBON — Home, Insert, Modeling, View, Optimize, Help tabs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502920" cy="3017520"/>
          </a:xfrm>
          <a:prstGeom prst="rect">
            <a:avLst/>
          </a:prstGeom>
          <a:solidFill>
            <a:srgbClr val="1E346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99032"/>
            <a:ext cx="411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2C811"/>
                </a:solidFill>
              </a:rPr>
              <a:t>②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C811"/>
                </a:solidFill>
              </a:rPr>
              <a:t>VIEWS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C811"/>
                </a:solidFill>
              </a:rPr>
              <a:t>Report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C811"/>
                </a:solidFill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C811"/>
                </a:solidFill>
              </a:rPr>
              <a:t>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1353312"/>
            <a:ext cx="5486400" cy="3017520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353312"/>
            <a:ext cx="1280160" cy="301752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399032"/>
            <a:ext cx="1188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③ FILTERS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Pane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680960" y="1353312"/>
            <a:ext cx="1188720" cy="301752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399032"/>
            <a:ext cx="1097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④ FIELDS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Pane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4416552"/>
            <a:ext cx="5532120" cy="457200"/>
          </a:xfrm>
          <a:prstGeom prst="rect">
            <a:avLst/>
          </a:prstGeom>
          <a:solidFill>
            <a:srgbClr val="D5DBD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46227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⑤ PAGE TABS — Report Pages Navigation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1353312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0AEC0"/>
                </a:solidFill>
              </a:rPr>
              <a:t>REPORT CANVAS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0AEC0"/>
                </a:solidFill>
              </a:rPr>
              <a:t>(Design your visuals here)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4937760"/>
            <a:ext cx="2651760" cy="16459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9377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Ribbon shortcut: ALT key reveals tab shortcuts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08960" y="4937760"/>
            <a:ext cx="2651760" cy="164592"/>
          </a:xfrm>
          <a:prstGeom prst="rect">
            <a:avLst/>
          </a:prstGeom>
          <a:solidFill>
            <a:srgbClr val="1E3460"/>
          </a:solidFill>
          <a:ln w="12700">
            <a:solidFill>
              <a:srgbClr val="1E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49377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Switch views using left-side icons (Report / Data / Model)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0" y="4937760"/>
            <a:ext cx="2926080" cy="164592"/>
          </a:xfrm>
          <a:prstGeom prst="rect">
            <a:avLst/>
          </a:prstGeom>
          <a:solidFill>
            <a:srgbClr val="005073"/>
          </a:solidFill>
          <a:ln w="12700">
            <a:solidFill>
              <a:srgbClr val="0050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493776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Right-click Fields pane items for more options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THREE VIEWS EXPLAINED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2743200" cy="36576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</a:rPr>
              <a:t>REPORT 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Your main workspace for building reports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Drag fields onto the canvas to create visuals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Add slicers, cards, charts, tables &amp; maps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Manage pages like Excel worksheets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Use Format pane to style each visual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Switch between Selection &amp; Filters pane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200400" y="1645920"/>
            <a:ext cx="274320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</a:rPr>
              <a:t>DATA 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084832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Browse your loaded tables row-by-row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Verify data was imported correctly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See calculated columns you've created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Check data types assigned to columns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Cannot edit raw data here — use Power Query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Search for specific column names quickly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868680"/>
            <a:ext cx="27432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868680"/>
            <a:ext cx="274320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126480" y="1645920"/>
            <a:ext cx="274320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</a:rPr>
              <a:t>MODEL 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084832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See all tables and their relationships visually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Drag between columns to create relationships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Set relationship cardinality (1:many, many:many)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Manage cross-filter direction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Hide fields not needed in reports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Foundation for accurate DAX measures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UNDERSTANDING DATA SOURCES IN POWER BI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1E3460"/>
          </a:solidFill>
          <a:ln w="12700">
            <a:solidFill>
              <a:srgbClr val="1E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811"/>
                </a:solidFill>
              </a:rPr>
              <a:t>How to Get Data:   Home → Get Data  (or use the Get Data button on the canvas)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206240" cy="1645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640080" cy="1645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80160"/>
            <a:ext cx="54864" cy="16459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280160"/>
            <a:ext cx="594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0120" y="1353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811"/>
                </a:solidFill>
              </a:rPr>
              <a:t>File Sources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71907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Excel Workbook (.xlsx, .xls)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CSV / Text files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XML &amp; JSON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PDF tables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Folder (batch import)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206240" cy="164592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80160"/>
            <a:ext cx="640080" cy="1645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280160"/>
            <a:ext cx="594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🗃️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40680" y="1353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811"/>
                </a:solidFill>
              </a:rPr>
              <a:t>Database Sources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71907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SQL Server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MySQL / PostgreSQL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Oracle Database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Azure SQL / Synapse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Access Database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206240" cy="164592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63240"/>
            <a:ext cx="640080" cy="1645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63240"/>
            <a:ext cx="54864" cy="16459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3063240"/>
            <a:ext cx="594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60120" y="31363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811"/>
                </a:solidFill>
              </a:rPr>
              <a:t>Cloud &amp; Online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50215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SharePoint List / Folder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Azure Blob Storage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Dynamics 365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Google Analytics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Salesforce Objects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4206240" cy="164592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63240"/>
            <a:ext cx="640080" cy="1645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63240"/>
            <a:ext cx="54864" cy="16459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3063240"/>
            <a:ext cx="594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440680" y="31363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811"/>
                </a:solidFill>
              </a:rPr>
              <a:t>Other Sources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350215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Web (scrape tables)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OData Feed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REST API (blank query)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Python / R Script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ODBC / OLEDB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IMPORTING DATA FROM EXCEL — STEP BY STEP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858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81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05840" y="868680"/>
            <a:ext cx="36576" cy="7498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93268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Get Data → Excel Workbook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2344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Home ribbon → Get Data → Excel Workbook. Browse and select your .xlsx / .xls file. Power BI supports Excel 97-2003 (.xls) onwards.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00784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00784"/>
            <a:ext cx="6858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00784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811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05840" y="1700784"/>
            <a:ext cx="36576" cy="7498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76479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Navigator — Select Sheets or Tables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06654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Navigator window shows all Sheets and named Tables. ✔ Always prefer named Tables over raw Sheets for reliable column headers and auto-expansion.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32888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32888"/>
            <a:ext cx="6858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32888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811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5840" y="2532888"/>
            <a:ext cx="36576" cy="7498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59689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Preview &amp; Load vs Transform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8986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Click Load to import as-is. Click Transform Data to open Power Query Editor first (recommended). Review data types before loading.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64992"/>
            <a:ext cx="6858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64992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811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05840" y="3364992"/>
            <a:ext cx="36576" cy="7498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42900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Check Column Data Types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73075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Power BI auto-detects types (text, number, date). Verify in the Data View. Wrong types cause chart/filter issues. Fix in Power Query.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97096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97096"/>
            <a:ext cx="6858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97096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811"/>
                </a:solidFill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005840" y="4197096"/>
            <a:ext cx="36576" cy="7498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426110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Refresh &amp; Connection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456285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File path is stored. When source file changes, click Refresh. Use Transform Data → Data Source Settings to update the path.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EXCEL IMPORT — BEST PRACTICES &amp; COMMON ISSUES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BEST PRACTICES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749040"/>
          </a:xfrm>
          <a:prstGeom prst="rect">
            <a:avLst/>
          </a:prstGeom>
          <a:solidFill>
            <a:srgbClr val="EBF5EB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Structure data as an Excel Table (Ctrl+T) before importing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Use clear, single-row headers — no merged cells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Keep one dataset per sheet / table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Remove blank rows and columns within data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Store dates in ISO format: YYYY-MM-DD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Avoid formulas that reference other workbooks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Name your tables meaningfully (e.g. 'Sales_2024')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78281F"/>
          </a:solidFill>
          <a:ln w="12700">
            <a:solidFill>
              <a:srgbClr val="7828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COMMON ISSUES &amp; FIXES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14800" cy="3749040"/>
          </a:xfrm>
          <a:prstGeom prst="rect">
            <a:avLst/>
          </a:prstGeom>
          <a:solidFill>
            <a:srgbClr val="FDEDEC"/>
          </a:solidFill>
          <a:ln w="6350">
            <a:solidFill>
              <a:srgbClr val="F194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53312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194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3898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2B21"/>
                </a:solidFill>
              </a:rPr>
              <a:t>⚠ Dates imported as text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6550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→ Change column type to Date in Power Query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48256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194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0848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2B21"/>
                </a:solidFill>
              </a:rPr>
              <a:t>⚠ Extra header rows / blank rows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350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→ Use 'Use First Row as Headers' in Power Query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74320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194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7797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2B21"/>
                </a:solidFill>
              </a:rPr>
              <a:t>⚠ Numbers with currency symbols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→ Remove symbols, change type to Decimal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438144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194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4747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2B21"/>
                </a:solidFill>
              </a:rPr>
              <a:t>⚠ Merged cells causing nulls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37398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→ Un-merge before importing or fill down in PQ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4133088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194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41696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2B21"/>
                </a:solidFill>
              </a:rPr>
              <a:t>⚠ Sheet name changed = error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44348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→ Use a named Table instead of sheet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IMPORTING DATA FROM CSV FILES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1E3460"/>
          </a:solidFill>
          <a:ln w="12700">
            <a:solidFill>
              <a:srgbClr val="1E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CSV (Comma-Separated Values) — Plain text files where each line is a row and values are separated by a delimiter (comma, semicolon, tab, pipe)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IMPORT STEPS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81912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64208"/>
            <a:ext cx="38862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2D3748"/>
                </a:solidFill>
              </a:rPr>
              <a:t>Home → Get Data → Text/CSV</a:t>
            </a:r>
            <a:endParaRPr lang="en-US" sz="11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2D3748"/>
                </a:solidFill>
              </a:rPr>
              <a:t>Browse and select your .csv or .txt file</a:t>
            </a:r>
            <a:endParaRPr lang="en-US" sz="11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2D3748"/>
                </a:solidFill>
              </a:rPr>
              <a:t>Preview window shows detected delimiter &amp; encoding</a:t>
            </a:r>
            <a:endParaRPr lang="en-US" sz="11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2D3748"/>
                </a:solidFill>
              </a:rPr>
              <a:t>Change delimiter if incorrect (File Origin = 65001 UTF-8)</a:t>
            </a:r>
            <a:endParaRPr lang="en-US" sz="11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2D3748"/>
                </a:solidFill>
              </a:rPr>
              <a:t>Click Transform Data to shape, or Load to import directly</a:t>
            </a:r>
            <a:endParaRPr lang="en-US" sz="11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2D3748"/>
                </a:solidFill>
              </a:rPr>
              <a:t>Set correct data types in Power Query before closing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261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KEY SETTINGS TO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581912"/>
            <a:ext cx="41148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6367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811"/>
                </a:solidFill>
              </a:rPr>
              <a:t>Delimiter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29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Comma, Semicolon, Tab, Pipe, Custom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423160"/>
            <a:ext cx="4114800" cy="749808"/>
          </a:xfrm>
          <a:prstGeom prst="rect">
            <a:avLst/>
          </a:prstGeom>
          <a:solidFill>
            <a:srgbClr val="1E3460"/>
          </a:solidFill>
          <a:ln w="12700">
            <a:solidFill>
              <a:srgbClr val="1E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478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811"/>
                </a:solidFill>
              </a:rPr>
              <a:t>File Origin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7706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65001: UTF-8 (most common)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1252: Western Europe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932: Japanese (Shift-JIS)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64408"/>
            <a:ext cx="4114800" cy="749808"/>
          </a:xfrm>
          <a:prstGeom prst="rect">
            <a:avLst/>
          </a:prstGeom>
          <a:solidFill>
            <a:srgbClr val="025E8C"/>
          </a:solidFill>
          <a:ln w="12700">
            <a:solidFill>
              <a:srgbClr val="025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319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811"/>
                </a:solidFill>
              </a:rPr>
              <a:t>Data Type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Based on first 200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Always verify — change if needed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1330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COMMON CSV PITFALLS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416552"/>
            <a:ext cx="8595360" cy="726948"/>
          </a:xfrm>
          <a:prstGeom prst="rect">
            <a:avLst/>
          </a:prstGeom>
          <a:solidFill>
            <a:srgbClr val="FEF9E7"/>
          </a:solidFill>
          <a:ln w="6350">
            <a:solidFill>
              <a:srgbClr val="F9CA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4622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</a:rPr>
              <a:t>🔴 Wrong delimiter → one column with all data merged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</a:rPr>
              <a:t>🔴 Encoding mismatch → garbled special characters (é, ñ, ü)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</a:rPr>
              <a:t>🔴 Quoted fields with commas inside → parsing errors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</a:rPr>
              <a:t>🔴 No headers → Power BI creates Column1, Column2... rename manually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EXCEL vs CSV — WHEN TO USE WHICH?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560320" cy="4114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C811"/>
                </a:solidFill>
              </a:rPr>
              <a:t>Feature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822960"/>
            <a:ext cx="2834640" cy="4114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822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C811"/>
                </a:solidFill>
              </a:rPr>
              <a:t>Excel (.xlsx)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822960"/>
            <a:ext cx="2834640" cy="4114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822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C811"/>
                </a:solidFill>
              </a:rPr>
              <a:t>CSV (.csv)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252728"/>
            <a:ext cx="2560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5272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Multiple sheets/tables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1252728"/>
            <a:ext cx="28346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12527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</a:rPr>
              <a:t>✅ Yes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1252728"/>
            <a:ext cx="28346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2527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281F"/>
                </a:solidFill>
              </a:rPr>
              <a:t>❌ No (single flat table)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709928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70992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Data types preserved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1709928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3512" y="17099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</a:rPr>
              <a:t>✅ Yes (date, number, text)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1709928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17099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6608"/>
                </a:solidFill>
              </a:rPr>
              <a:t>⚠️ Partial (all text initially)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167128"/>
            <a:ext cx="2560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16712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File size for large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80360" y="2167128"/>
            <a:ext cx="28346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53512" y="21671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6608"/>
                </a:solidFill>
              </a:rPr>
              <a:t>⚠️ Heavier (.xlsx format)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2167128"/>
            <a:ext cx="28346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21671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</a:rPr>
              <a:t>✅ Lighter (plain text)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624328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62432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Interoperability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80360" y="2624328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3512" y="26243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6608"/>
                </a:solidFill>
              </a:rPr>
              <a:t>⚠️ Requires Excel/Office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0720" y="2624328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26243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</a:rPr>
              <a:t>✅ Any software can read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081528"/>
            <a:ext cx="2560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08152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Formulas / Formatting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80360" y="3081528"/>
            <a:ext cx="28346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53512" y="30815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</a:rPr>
              <a:t>✅ Stored in file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760720" y="3081528"/>
            <a:ext cx="28346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33872" y="30815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281F"/>
                </a:solidFill>
              </a:rPr>
              <a:t>❌ Not stored in CSV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3538728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53872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System exports (ERP, CRM)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880360" y="3538728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53512" y="35387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6608"/>
                </a:solidFill>
              </a:rPr>
              <a:t>⚠️ Sometimes available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60720" y="3538728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35387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</a:rPr>
              <a:t>✅ Most common export format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3995928"/>
            <a:ext cx="2560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99592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Power Query: named tables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80360" y="3995928"/>
            <a:ext cx="28346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53512" y="39959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</a:rPr>
              <a:t>✅ Preferred method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760720" y="3995928"/>
            <a:ext cx="28346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33872" y="39959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281F"/>
                </a:solidFill>
              </a:rPr>
              <a:t>❌ No table concept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4453128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445312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Best for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80360" y="4453128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53512" y="44531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Internal structured reports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760720" y="4453128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33872" y="445312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Data exports from systems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74320" y="4873752"/>
            <a:ext cx="8595360" cy="201168"/>
          </a:xfrm>
          <a:prstGeom prst="rect">
            <a:avLst/>
          </a:prstGeom>
          <a:solidFill>
            <a:srgbClr val="E8F8F5"/>
          </a:solidFill>
          <a:ln w="6350">
            <a:solidFill>
              <a:srgbClr val="00C4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8737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💡  Pro Tip: When given a choice, request data as Excel with named Tables. If receiving system exports, expect CSV — always check delimiter and encoding.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QUICK REFERENCE — KEYBOARD SHORTCUTS &amp; TIPS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KEYBOARD SHORTCUTS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6128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61288"/>
            <a:ext cx="1371600" cy="42062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612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C811"/>
                </a:solidFill>
              </a:rPr>
              <a:t>Ctrl + 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16128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Undo last action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6128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61288"/>
            <a:ext cx="1371600" cy="42062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612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C811"/>
                </a:solidFill>
              </a:rPr>
              <a:t>Ctrl + 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16128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Save the report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66420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664208"/>
            <a:ext cx="1371600" cy="42062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6642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C811"/>
                </a:solidFill>
              </a:rPr>
              <a:t>Ctrl + 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16642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New measure (DAX)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66420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664208"/>
            <a:ext cx="1371600" cy="42062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6642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C811"/>
                </a:solidFill>
              </a:rPr>
              <a:t>Ctrl + 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6642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Duplicate visual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16712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167128"/>
            <a:ext cx="1371600" cy="42062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1671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C811"/>
                </a:solidFill>
              </a:rPr>
              <a:t>Alt + F4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21671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Close Power BI Desktop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16712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67128"/>
            <a:ext cx="1371600" cy="42062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1671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C811"/>
                </a:solidFill>
              </a:rPr>
              <a:t>F5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1671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Refresh data preview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67004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670048"/>
            <a:ext cx="1371600" cy="42062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6700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C811"/>
                </a:solidFill>
              </a:rPr>
              <a:t>Ctrl + Shift + F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37360" y="2670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Full-screen focus mode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67004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670048"/>
            <a:ext cx="1371600" cy="42062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6700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C811"/>
                </a:solidFill>
              </a:rPr>
              <a:t>Ctrl + Enter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2670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Apply Power Query step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4320" y="32918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SESSION 1 KEY TAKEAWAYS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3657600"/>
            <a:ext cx="8595360" cy="237744"/>
          </a:xfrm>
          <a:prstGeom prst="rect">
            <a:avLst/>
          </a:prstGeom>
          <a:solidFill>
            <a:srgbClr val="EBF5FB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65760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🖥️  Power BI Desktop is free — the primary tool for building reports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85953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931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📊  3 Views: Report (design), Data (inspect rows), Model (relationships)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206240"/>
            <a:ext cx="8595360" cy="237744"/>
          </a:xfrm>
          <a:prstGeom prst="rect">
            <a:avLst/>
          </a:prstGeom>
          <a:solidFill>
            <a:srgbClr val="EBF5FB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2062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📁  Get Data → 150+ connectors — File, Database, Cloud, Web &amp; more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480560"/>
            <a:ext cx="85953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48056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✅  Excel: prefer named Tables; CSV: always check delimiter &amp; encoding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solidFill>
            <a:srgbClr val="EBF5FB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75488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⚡  Transform Data opens Power Query — always review types before Load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811"/>
                </a:solidFill>
              </a:rPr>
              <a:t>HANDS-ON EXERCISE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</a:rPr>
              <a:t>Practice what you've learned — follow along!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6576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60704"/>
            <a:ext cx="274320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607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811"/>
                </a:solidFill>
              </a:rPr>
              <a:t>Task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4904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Excel Import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1874520"/>
            <a:ext cx="2523744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1. Download the sample Sales_Data.xlsx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2. Home → Get Data → Excel Workbook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3. In Navigator, select the 'Sales_Table' table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4. Click Transform Data — review column types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5. Close &amp; Apply — verify in Data 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3657600"/>
          </a:xfrm>
          <a:prstGeom prst="rect">
            <a:avLst/>
          </a:prstGeom>
          <a:solidFill>
            <a:srgbClr val="0A6B3E"/>
          </a:solidFill>
          <a:ln w="12700">
            <a:solidFill>
              <a:srgbClr val="0A6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60704"/>
            <a:ext cx="274320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607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811"/>
                </a:solidFill>
              </a:rPr>
              <a:t>Task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14904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CSV Import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1874520"/>
            <a:ext cx="2523744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1. Download the sample Customers.csv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2. Home → Get Data → Text/CSV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3. Check delimiter (should be Comma)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4. Check File Origin (should be 65001: UTF-8)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5. Load — then verify in Data 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3657600"/>
          </a:xfrm>
          <a:prstGeom prst="rect">
            <a:avLst/>
          </a:prstGeom>
          <a:solidFill>
            <a:srgbClr val="6B1A5E"/>
          </a:solidFill>
          <a:ln w="12700">
            <a:solidFill>
              <a:srgbClr val="6B1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60704"/>
            <a:ext cx="274320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0607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811"/>
                </a:solidFill>
              </a:rPr>
              <a:t>Task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4904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Interface Exploration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6208" y="1874520"/>
            <a:ext cx="2523744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1. Switch between Report, Data and Model views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2. In Data View — find column with wrong data type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3. In Model View — observe the table relationship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4. In Report View — drag a field to the canvas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5. Delete the visual (Backspace)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2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❓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Questions &amp; Discussion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C811"/>
                </a:solidFill>
              </a:rPr>
              <a:t>Week 3 Session 1 Complete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560320"/>
            <a:ext cx="457200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811"/>
                </a:solidFill>
              </a:rPr>
              <a:t>Session Recap: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30632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Power BI Desktop Tour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Data Sources &amp; Get Data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Excel Import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CSV Import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</a:rPr>
              <a:t>Next Session → S2: Power Query Editor — Transformations, Data Shaping &amp; Cleaning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1625</Words>
  <Application>Microsoft Office PowerPoint</Application>
  <PresentationFormat>On-screen Show (16:9)</PresentationFormat>
  <Paragraphs>289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Desktop Tour, Data Sources &amp; Importing from Excel/CSV</dc:title>
  <dc:subject>PptxGenJS Presentation</dc:subject>
  <dc:creator>Corporate Training</dc:creator>
  <cp:lastModifiedBy>Prachi Kabra</cp:lastModifiedBy>
  <cp:revision>2</cp:revision>
  <dcterms:created xsi:type="dcterms:W3CDTF">2026-05-09T17:51:58Z</dcterms:created>
  <dcterms:modified xsi:type="dcterms:W3CDTF">2026-05-09T18:15:17Z</dcterms:modified>
</cp:coreProperties>
</file>