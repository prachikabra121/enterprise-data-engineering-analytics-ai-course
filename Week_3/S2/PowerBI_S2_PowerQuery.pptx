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9230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201168" cy="501548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47472"/>
            <a:ext cx="1645920" cy="38404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74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F2544"/>
                </a:solidFill>
              </a:rPr>
              <a:t>SESSION  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0280" y="347472"/>
            <a:ext cx="137160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3474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WEEK 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Editor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1719072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Transformations,</a:t>
            </a:r>
            <a:endParaRPr lang="en-US" sz="2600" dirty="0"/>
          </a:p>
          <a:p>
            <a:pPr marL="0" indent="0">
              <a:buNone/>
            </a:pPr>
            <a:r>
              <a:rPr lang="en-US" sz="2600" dirty="0">
                <a:solidFill>
                  <a:srgbClr val="14BD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Shaping &amp; Cleaning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57200" y="2999232"/>
            <a:ext cx="5029200" cy="36576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1272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8C8"/>
                </a:solidFill>
              </a:rPr>
              <a:t>Corporate Training  ·  Data Analytics Series  ·  Power BI Foundations &amp; Basics — Module 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5303520" cy="292608"/>
          </a:xfrm>
          <a:prstGeom prst="rect">
            <a:avLst/>
          </a:prstGeom>
          <a:solidFill>
            <a:srgbClr val="1A3A6B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661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4E0"/>
                </a:solidFill>
              </a:rPr>
              <a:t>Cross-ref  →  W10 for Python-based cleaning  |  Prerequisite: S1 Power BI Desktop Tour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949440" y="457200"/>
            <a:ext cx="2057400" cy="4434840"/>
          </a:xfrm>
          <a:prstGeom prst="rect">
            <a:avLst/>
          </a:prstGeom>
          <a:solidFill>
            <a:srgbClr val="1A3A6B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68580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49440" y="1088136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DAC"/>
                </a:solidFill>
              </a:rPr>
              <a:t>Transform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49440" y="155448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🧹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949440" y="1956816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DAC"/>
                </a:solidFill>
              </a:rPr>
              <a:t>Clean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49440" y="242316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49440" y="2825496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DAC"/>
                </a:solidFill>
              </a:rPr>
              <a:t>Shape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329184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49440" y="3694176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DAC"/>
                </a:solidFill>
              </a:rPr>
              <a:t>Merge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49440" y="4160520"/>
            <a:ext cx="2057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949440" y="4562856"/>
            <a:ext cx="2057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DAC"/>
                </a:solidFill>
              </a:rPr>
              <a:t>Load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SESSION 2 — AGENDA  &amp;  LEARNING OBJECTIVES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DAC"/>
                </a:solidFill>
              </a:rPr>
              <a:t>90 min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18795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04672"/>
            <a:ext cx="566928" cy="126187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804672"/>
            <a:ext cx="566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A900"/>
                </a:solidFill>
              </a:rPr>
              <a:t>01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895344" y="804672"/>
            <a:ext cx="548640" cy="126187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95344" y="804672"/>
            <a:ext cx="548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544"/>
                </a:solidFill>
              </a:rPr>
              <a:t>10 min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8961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544"/>
                </a:solidFill>
              </a:rPr>
              <a:t>What is Power Query?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243584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Role in Power BI, how it fits in the ETL pipeline, M language basics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0016" y="804672"/>
            <a:ext cx="418795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0016" y="804672"/>
            <a:ext cx="566928" cy="12618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804672"/>
            <a:ext cx="566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A900"/>
                </a:solidFill>
              </a:rPr>
              <a:t>02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339328" y="804672"/>
            <a:ext cx="548640" cy="126187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804672"/>
            <a:ext cx="548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544"/>
                </a:solidFill>
              </a:rPr>
              <a:t>15 min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58384" y="8961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544"/>
                </a:solidFill>
              </a:rPr>
              <a:t>Power Query Editor Interface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58384" y="1243584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Ribbon, Query Pane, Applied Steps, Formula Bar, Data Preview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2194560"/>
            <a:ext cx="418795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194560"/>
            <a:ext cx="566928" cy="12618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194560"/>
            <a:ext cx="566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A900"/>
                </a:solidFill>
              </a:rPr>
              <a:t>03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895344" y="2194560"/>
            <a:ext cx="548640" cy="126187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95344" y="2194560"/>
            <a:ext cx="548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544"/>
                </a:solidFill>
              </a:rPr>
              <a:t>20 min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544"/>
                </a:solidFill>
              </a:rPr>
              <a:t>Basic Transformations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2633472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Change types, rename, reorder, remove columns; filter &amp; sort rows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0016" y="2194560"/>
            <a:ext cx="418795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0016" y="2194560"/>
            <a:ext cx="566928" cy="1261872"/>
          </a:xfrm>
          <a:prstGeom prst="rect">
            <a:avLst/>
          </a:prstGeom>
          <a:solidFill>
            <a:srgbClr val="0A6B3E"/>
          </a:solidFill>
          <a:ln w="12700">
            <a:solidFill>
              <a:srgbClr val="0A6B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0016" y="2194560"/>
            <a:ext cx="566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A900"/>
                </a:solidFill>
              </a:rPr>
              <a:t>04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339328" y="2194560"/>
            <a:ext cx="548640" cy="126187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9328" y="2194560"/>
            <a:ext cx="548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544"/>
                </a:solidFill>
              </a:rPr>
              <a:t>20 min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58384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544"/>
                </a:solidFill>
              </a:rPr>
              <a:t>Data Shaping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58384" y="2633472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Split columns, merge columns, pivot/unpivot, group by, append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" y="3584448"/>
            <a:ext cx="418795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3584448"/>
            <a:ext cx="566928" cy="1261872"/>
          </a:xfrm>
          <a:prstGeom prst="rect">
            <a:avLst/>
          </a:prstGeom>
          <a:solidFill>
            <a:srgbClr val="6B3A0A"/>
          </a:solidFill>
          <a:ln w="12700">
            <a:solidFill>
              <a:srgbClr val="6B3A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" y="3584448"/>
            <a:ext cx="566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A900"/>
                </a:solidFill>
              </a:rPr>
              <a:t>05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3895344" y="3584448"/>
            <a:ext cx="548640" cy="126187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95344" y="3584448"/>
            <a:ext cx="548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544"/>
                </a:solidFill>
              </a:rPr>
              <a:t>15 min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14400" y="36758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544"/>
                </a:solidFill>
              </a:rPr>
              <a:t>Data Cleaning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402336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Remove duplicates/blanks, trim, replace values, fill down/up, errors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0016" y="3584448"/>
            <a:ext cx="4187952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0016" y="3584448"/>
            <a:ext cx="566928" cy="1261872"/>
          </a:xfrm>
          <a:prstGeom prst="rect">
            <a:avLst/>
          </a:prstGeom>
          <a:solidFill>
            <a:srgbClr val="5B1A6B"/>
          </a:solidFill>
          <a:ln w="12700">
            <a:solidFill>
              <a:srgbClr val="5B1A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0016" y="3584448"/>
            <a:ext cx="5669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A900"/>
                </a:solidFill>
              </a:rPr>
              <a:t>06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8339328" y="3584448"/>
            <a:ext cx="548640" cy="126187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39328" y="3584448"/>
            <a:ext cx="548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544"/>
                </a:solidFill>
              </a:rPr>
              <a:t>10 min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58384" y="36758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544"/>
                </a:solidFill>
              </a:rPr>
              <a:t>Project — Retail Sales Dataset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58384" y="4023360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End-to-end cleaning &amp; shaping exercise on messy real-world data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WHAT IS POWER QUERY?  —  THE ETL ENGINE OF POWER BI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47548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04672"/>
            <a:ext cx="8449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Power Query is Power BI's built-in ETL (Extract → Transform → Load) engine. Every step you apply is recorded as M-language code and replays automatically on each data refresh.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399032"/>
            <a:ext cx="2697480" cy="228600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399032"/>
            <a:ext cx="2697480" cy="502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4630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📥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56032" y="213055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2A900"/>
                </a:solidFill>
              </a:rPr>
              <a:t>EXTRACT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2542032"/>
            <a:ext cx="247802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Connect to 150+ sources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Excel, CSV, SQL, APIs,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SharePoint, Cloud...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53512" y="2331720"/>
            <a:ext cx="210312" cy="4572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63824" y="1399032"/>
            <a:ext cx="2697480" cy="22860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63824" y="1399032"/>
            <a:ext cx="2697480" cy="502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63824" y="14630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163824" y="213055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2A900"/>
                </a:solidFill>
              </a:rPr>
              <a:t>TRANSFORM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73552" y="2542032"/>
            <a:ext cx="247802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Clean, shape &amp; reshape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Filter, rename, split,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pivot, merge, group...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61304" y="2331720"/>
            <a:ext cx="210312" cy="4572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71616" y="1399032"/>
            <a:ext cx="2697480" cy="2286000"/>
          </a:xfrm>
          <a:prstGeom prst="rect">
            <a:avLst/>
          </a:prstGeom>
          <a:solidFill>
            <a:srgbClr val="0A6B3E"/>
          </a:solidFill>
          <a:ln w="12700">
            <a:solidFill>
              <a:srgbClr val="0A6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71616" y="1399032"/>
            <a:ext cx="2697480" cy="502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71616" y="14630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📤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071616" y="213055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2A900"/>
                </a:solidFill>
              </a:rPr>
              <a:t>LOAD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81344" y="2542032"/>
            <a:ext cx="247802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Load clean data into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Power BI Data 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ready for DAX &amp; visuals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3776472"/>
            <a:ext cx="2697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3776472"/>
            <a:ext cx="2697480" cy="5029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8404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544"/>
                </a:solidFill>
              </a:rPr>
              <a:t>📝  M Language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7472" y="416052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Every step = M code. View it in Advanced Editor. No need to write it manually — GUI builds it for you.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63824" y="3776472"/>
            <a:ext cx="2697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63824" y="3776472"/>
            <a:ext cx="2697480" cy="5029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55264" y="38404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544"/>
                </a:solidFill>
              </a:rPr>
              <a:t>🔄  Auto-Refresh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55264" y="416052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All steps replay on refresh. Fix source data once — Power Query handles the rest automatically.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71616" y="3776472"/>
            <a:ext cx="2697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71616" y="3776472"/>
            <a:ext cx="2697480" cy="5029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3056" y="38404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544"/>
                </a:solidFill>
              </a:rPr>
              <a:t>🔗  Non-Destructive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63056" y="4160520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18096"/>
                </a:solidFill>
              </a:rPr>
              <a:t>Never modifies your source file. All transforms happen in Power BI only. Original data is always safe.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POWER QUERY EDITOR — INTERFACE WALKTHROUGH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04672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A900"/>
                </a:solidFill>
              </a:rPr>
              <a:t>How to Open:   Home ribbon → Transform Data  (or  double-click any table in Data View)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188720"/>
            <a:ext cx="8631936" cy="47548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8872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① RIBBON  —  Home  |  Transform  |  Add Column  |  View  |  Tools  |  Help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700784"/>
            <a:ext cx="1417320" cy="321868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700784"/>
            <a:ext cx="1417320" cy="3218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2A900"/>
                </a:solidFill>
              </a:rPr>
              <a:t>② QUERIES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2A900"/>
                </a:solidFill>
              </a:rPr>
              <a:t>PANE</a:t>
            </a:r>
            <a:endParaRPr lang="en-US" sz="950" dirty="0"/>
          </a:p>
          <a:p>
            <a:pPr marL="0" indent="0" algn="ctr">
              <a:buNone/>
            </a:pP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2A900"/>
                </a:solidFill>
              </a:rPr>
              <a:t>Lists all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2A900"/>
                </a:solidFill>
              </a:rPr>
              <a:t>loaded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2A900"/>
                </a:solidFill>
              </a:rPr>
              <a:t>tables</a:t>
            </a:r>
            <a:endParaRPr lang="en-US" sz="950" dirty="0"/>
          </a:p>
          <a:p>
            <a:pPr marL="0" indent="0" algn="ctr">
              <a:buNone/>
            </a:pP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2A900"/>
                </a:solidFill>
              </a:rPr>
              <a:t>Right-click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2A900"/>
                </a:solidFill>
              </a:rPr>
              <a:t>to manage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09928" y="1700784"/>
            <a:ext cx="5394960" cy="2240280"/>
          </a:xfrm>
          <a:prstGeom prst="rect">
            <a:avLst/>
          </a:prstGeom>
          <a:solidFill>
            <a:srgbClr val="EBF5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21031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0AEC0"/>
                </a:solidFill>
              </a:rPr>
              <a:t>③  DATA PREVIEW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A0AEC0"/>
                </a:solidFill>
              </a:rPr>
              <a:t>(shows first 1,000 rows — scroll to inspect)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09928" y="1700784"/>
            <a:ext cx="886968" cy="27432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9928" y="170078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2A900"/>
                </a:solidFill>
              </a:rPr>
              <a:t>OrderID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606040" y="1700784"/>
            <a:ext cx="886968" cy="27432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06040" y="170078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2A900"/>
                </a:solidFill>
              </a:rPr>
              <a:t>Date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502152" y="1700784"/>
            <a:ext cx="886968" cy="27432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170078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2A900"/>
                </a:solidFill>
              </a:rPr>
              <a:t>Customer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398264" y="1700784"/>
            <a:ext cx="886968" cy="27432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98264" y="170078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2A900"/>
                </a:solidFill>
              </a:rPr>
              <a:t>Product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294376" y="1700784"/>
            <a:ext cx="886968" cy="27432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94376" y="170078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2A900"/>
                </a:solidFill>
              </a:rPr>
              <a:t>Amount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190488" y="1700784"/>
            <a:ext cx="886968" cy="27432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0488" y="1700784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2A900"/>
                </a:solidFill>
              </a:rPr>
              <a:t>Status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150608" y="1700784"/>
            <a:ext cx="1737360" cy="2240280"/>
          </a:xfrm>
          <a:prstGeom prst="rect">
            <a:avLst/>
          </a:prstGeom>
          <a:solidFill>
            <a:srgbClr val="F0F4F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0608" y="17007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544"/>
                </a:solidFill>
              </a:rPr>
              <a:t>④ APPLIED STEPS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2011680"/>
            <a:ext cx="15544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42048" y="201168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</a:rPr>
              <a:t>   Source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242048" y="2304288"/>
            <a:ext cx="15544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42048" y="230428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</a:rPr>
              <a:t>   Navigation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242048" y="2596896"/>
            <a:ext cx="15544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42048" y="259689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</a:rPr>
              <a:t>   Changed Type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242048" y="2889504"/>
            <a:ext cx="15544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42048" y="288950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</a:rPr>
              <a:t>   Removed Cols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242048" y="3182112"/>
            <a:ext cx="1554480" cy="256032"/>
          </a:xfrm>
          <a:prstGeom prst="rect">
            <a:avLst/>
          </a:prstGeom>
          <a:solidFill>
            <a:srgbClr val="14BDA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42048" y="318211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▶ Filtered Rows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242048" y="3474720"/>
            <a:ext cx="155448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42048" y="34747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3748"/>
                </a:solidFill>
              </a:rPr>
              <a:t>   Renamed Cols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709928" y="3977640"/>
            <a:ext cx="5394960" cy="347472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01368" y="397764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⑤ FORMULA BAR  →  = Table.SelectRows(#"Renamed Cols", each [Status] = "Completed")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56032" y="4370832"/>
            <a:ext cx="8631936" cy="274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4370832"/>
            <a:ext cx="8449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⑥ STATUS BAR  —  Shows column count, row count, last refresh time &amp; any errors detected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150608" y="3977640"/>
            <a:ext cx="1737360" cy="667512"/>
          </a:xfrm>
          <a:prstGeom prst="rect">
            <a:avLst/>
          </a:prstGeom>
          <a:solidFill>
            <a:srgbClr val="FFF7E6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50608" y="4005072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2D3748"/>
                </a:solidFill>
              </a:rPr>
              <a:t>💡 Delete any step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2D3748"/>
                </a:solidFill>
              </a:rPr>
              <a:t>to undo that transform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BASIC TRANSFORMATIONS — COLUMNS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DAC"/>
                </a:solidFill>
              </a:rPr>
              <a:t>Home &amp; Transform tabs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4187952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22960"/>
            <a:ext cx="4187952" cy="34747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2296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🔢  Change Data Type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1207008"/>
            <a:ext cx="40050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Select column(s) → click data type icon in column header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OR: Home → Data Type dropdown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Types: Whole Number, Decimal, Text, Date, Date/Time, True/False, Duration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" y="1828800"/>
            <a:ext cx="4187952" cy="292608"/>
          </a:xfrm>
          <a:prstGeom prst="rect">
            <a:avLst/>
          </a:prstGeom>
          <a:solidFill>
            <a:srgbClr val="FFF7E6"/>
          </a:solidFill>
          <a:ln w="5080">
            <a:solidFill>
              <a:srgbClr val="F2A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828800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5800"/>
                </a:solidFill>
              </a:rPr>
              <a:t>💡  Always fix data types FIRST — wrong types cause filter and calculation errors downstream.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0016" y="822960"/>
            <a:ext cx="4187952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0016" y="822960"/>
            <a:ext cx="4187952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82296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✏️  Rename Columns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91456" y="1207008"/>
            <a:ext cx="40050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Double-click column header → type new name → Enter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OR: Right-click header → Rename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Use clear names: 'OrderDate' not 'Column3' or 'dt_ord'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0016" y="1828800"/>
            <a:ext cx="4187952" cy="292608"/>
          </a:xfrm>
          <a:prstGeom prst="rect">
            <a:avLst/>
          </a:prstGeom>
          <a:solidFill>
            <a:srgbClr val="FFF7E6"/>
          </a:solidFill>
          <a:ln w="5080">
            <a:solidFill>
              <a:srgbClr val="F2A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828800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5800"/>
                </a:solidFill>
              </a:rPr>
              <a:t>💡  Rename after 'Changed Type' step so Applied Steps stay readable.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240280"/>
            <a:ext cx="4187952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240280"/>
            <a:ext cx="4187952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24028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🗑️  Remove Columns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" y="2624328"/>
            <a:ext cx="40050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Select column(s) (Ctrl+click for multiple) → Home → Remove Columns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OR: Right-click header → Remove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'Remove Other Columns' — keeps ONLY selected cols (safer for wide tables)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" y="3246120"/>
            <a:ext cx="4187952" cy="292608"/>
          </a:xfrm>
          <a:prstGeom prst="rect">
            <a:avLst/>
          </a:prstGeom>
          <a:solidFill>
            <a:srgbClr val="FFF7E6"/>
          </a:solidFill>
          <a:ln w="5080">
            <a:solidFill>
              <a:srgbClr val="F2A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3246120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5800"/>
                </a:solidFill>
              </a:rPr>
              <a:t>💡  Use 'Remove Other Columns' when source adds new columns — avoids step errors.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0016" y="2240280"/>
            <a:ext cx="4187952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0016" y="2240280"/>
            <a:ext cx="4187952" cy="347472"/>
          </a:xfrm>
          <a:prstGeom prst="rect">
            <a:avLst/>
          </a:prstGeom>
          <a:solidFill>
            <a:srgbClr val="0A6B3E"/>
          </a:solidFill>
          <a:ln w="12700">
            <a:solidFill>
              <a:srgbClr val="0A6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224028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↔️  Reorder Columns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91456" y="2624328"/>
            <a:ext cx="40050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Drag column headers left/right to reorder visually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OR: select column → Transform → Move → First/Last/Before/After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Column order in PQ = column order in Data Model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0016" y="3246120"/>
            <a:ext cx="4187952" cy="292608"/>
          </a:xfrm>
          <a:prstGeom prst="rect">
            <a:avLst/>
          </a:prstGeom>
          <a:solidFill>
            <a:srgbClr val="FFF7E6"/>
          </a:solidFill>
          <a:ln w="5080">
            <a:solidFill>
              <a:srgbClr val="F2A9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3246120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5800"/>
                </a:solidFill>
              </a:rPr>
              <a:t>💡  Put key ID columns first — makes Data View and DAX measures easier to navigate.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56032" y="3657600"/>
            <a:ext cx="4187952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56032" y="3657600"/>
            <a:ext cx="4187952" cy="347472"/>
          </a:xfrm>
          <a:prstGeom prst="rect">
            <a:avLst/>
          </a:prstGeom>
          <a:solidFill>
            <a:srgbClr val="6B3A0A"/>
          </a:solidFill>
          <a:ln w="12700">
            <a:solidFill>
              <a:srgbClr val="6B3A0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65760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🔍  Filter Rows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7472" y="4041648"/>
            <a:ext cx="40050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Click dropdown arrow on column header → choose filter criteria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Home → Keep Rows / Remove Rows for preset options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Combine multiple column filters — each adds an AND step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" y="4663440"/>
            <a:ext cx="4187952" cy="292608"/>
          </a:xfrm>
          <a:prstGeom prst="rect">
            <a:avLst/>
          </a:prstGeom>
          <a:solidFill>
            <a:srgbClr val="FFF7E6"/>
          </a:solidFill>
          <a:ln w="5080">
            <a:solidFill>
              <a:srgbClr val="F2A9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" y="4663440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5800"/>
                </a:solidFill>
              </a:rPr>
              <a:t>💡  Filter early in Applied Steps — reduces rows and speeds up all downstream steps.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00016" y="3657600"/>
            <a:ext cx="4187952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0016" y="3657600"/>
            <a:ext cx="4187952" cy="347472"/>
          </a:xfrm>
          <a:prstGeom prst="rect">
            <a:avLst/>
          </a:prstGeom>
          <a:solidFill>
            <a:srgbClr val="4A1A6B"/>
          </a:solidFill>
          <a:ln w="12700">
            <a:solidFill>
              <a:srgbClr val="4A1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3657600"/>
            <a:ext cx="4005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🔃  Sort Rows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91456" y="4041648"/>
            <a:ext cx="40050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Click column header dropdown → Sort Ascending/Descending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Home → Sort Ascending or Sort Descending buttons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</a:rPr>
              <a:t>Note: Sort in PQ only matters if row ORDER matters for Fill Down operations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0016" y="4663440"/>
            <a:ext cx="4187952" cy="292608"/>
          </a:xfrm>
          <a:prstGeom prst="rect">
            <a:avLst/>
          </a:prstGeom>
          <a:solidFill>
            <a:srgbClr val="FFF7E6"/>
          </a:solidFill>
          <a:ln w="5080">
            <a:solidFill>
              <a:srgbClr val="F2A9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4663440"/>
            <a:ext cx="4041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5800"/>
                </a:solidFill>
              </a:rPr>
              <a:t>💡  For report sorting, sort in Report View (visual-level). PQ sort = data order in model.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DATA SHAPING — RESTRUCTURING YOUR DATA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DAC"/>
                </a:solidFill>
              </a:rPr>
              <a:t>Transform tab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4187952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22960"/>
            <a:ext cx="50292" cy="129844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778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544"/>
                </a:solidFill>
              </a:rPr>
              <a:t>✂️  Split Column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Split one column into multiple by delimiter (comma, space, slash) or number of characters.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481328"/>
            <a:ext cx="3931920" cy="347472"/>
          </a:xfrm>
          <a:prstGeom prst="rect">
            <a:avLst/>
          </a:prstGeom>
          <a:solidFill>
            <a:srgbClr val="F0F7FF"/>
          </a:solidFill>
          <a:ln w="5080">
            <a:solidFill>
              <a:srgbClr val="C8DC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490472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eg: 'John Smith' → 'John' | 'Smith'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'2024-01-15' → '2024' | '01' | '15'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186537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7377"/>
                </a:solidFill>
              </a:rPr>
              <a:t>→ Select column → Transform → Split Column → By Delimiter or By # of Characters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0016" y="822960"/>
            <a:ext cx="4187952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0016" y="822960"/>
            <a:ext cx="50292" cy="12984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8778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7377"/>
                </a:solidFill>
              </a:rPr>
              <a:t>🔗  Merge Columns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9744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Combine two or more columns into one with a separator character.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9744" y="1481328"/>
            <a:ext cx="3931920" cy="347472"/>
          </a:xfrm>
          <a:prstGeom prst="rect">
            <a:avLst/>
          </a:prstGeom>
          <a:solidFill>
            <a:srgbClr val="F0F7FF"/>
          </a:solidFill>
          <a:ln w="5080">
            <a:solidFill>
              <a:srgbClr val="C8DC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1490472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eg: 'First' + ' ' + 'Last' → 'Full Name'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'City' + ', ' + 'Country' → 'Location'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09744" y="186537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7377"/>
                </a:solidFill>
              </a:rPr>
              <a:t>→ Select columns (Ctrl+click) → Transform → Merge Columns → choose separator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2240280"/>
            <a:ext cx="4187952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240280"/>
            <a:ext cx="50292" cy="12984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29514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</a:rPr>
              <a:t>🔄  Pivot Column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2606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Turn row values into column headers — converts long format to wide format.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898648"/>
            <a:ext cx="3931920" cy="347472"/>
          </a:xfrm>
          <a:prstGeom prst="rect">
            <a:avLst/>
          </a:prstGeom>
          <a:solidFill>
            <a:srgbClr val="F0F7FF"/>
          </a:solidFill>
          <a:ln w="5080">
            <a:solidFill>
              <a:srgbClr val="C8DC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2907792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eg: Product | Month | Sales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Apple | Jan | 500  →  Jan|Feb|Mar as cols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" y="328269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7377"/>
                </a:solidFill>
              </a:rPr>
              <a:t>→ Transform → Pivot Column → choose Values Column &amp; Aggregate function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0016" y="2240280"/>
            <a:ext cx="4187952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0016" y="2240280"/>
            <a:ext cx="50292" cy="1298448"/>
          </a:xfrm>
          <a:prstGeom prst="rect">
            <a:avLst/>
          </a:prstGeom>
          <a:solidFill>
            <a:srgbClr val="0A6B3E"/>
          </a:solidFill>
          <a:ln w="12700">
            <a:solidFill>
              <a:srgbClr val="0A6B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9744" y="229514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6B3E"/>
                </a:solidFill>
              </a:rPr>
              <a:t>⬇️  Unpivot Columns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9744" y="2606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Turn column headers into row values — opposite of Pivot. Very common for Excel reports.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9744" y="2898648"/>
            <a:ext cx="3931920" cy="347472"/>
          </a:xfrm>
          <a:prstGeom prst="rect">
            <a:avLst/>
          </a:prstGeom>
          <a:solidFill>
            <a:srgbClr val="F0F7FF"/>
          </a:solidFill>
          <a:ln w="5080">
            <a:solidFill>
              <a:srgbClr val="C8DC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2907792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eg: Jan|Feb|Mar headers → single 'Month' column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(wide format → long format for Power BI)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09744" y="328269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7377"/>
                </a:solidFill>
              </a:rPr>
              <a:t>→ Select columns to unpivot → Transform → Unpivot Columns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" y="3657600"/>
            <a:ext cx="4187952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3657600"/>
            <a:ext cx="50292" cy="1298448"/>
          </a:xfrm>
          <a:prstGeom prst="rect">
            <a:avLst/>
          </a:prstGeom>
          <a:solidFill>
            <a:srgbClr val="6B3A0A"/>
          </a:solidFill>
          <a:ln w="12700">
            <a:solidFill>
              <a:srgbClr val="6B3A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71246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3A0A"/>
                </a:solidFill>
              </a:rPr>
              <a:t>📦  Group By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5760" y="4023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Aggregate rows by one or more columns — like SQL GROUP BY. Creates summary tables.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4315968"/>
            <a:ext cx="3931920" cy="347472"/>
          </a:xfrm>
          <a:prstGeom prst="rect">
            <a:avLst/>
          </a:prstGeom>
          <a:solidFill>
            <a:srgbClr val="F0F7FF"/>
          </a:solidFill>
          <a:ln w="5080">
            <a:solidFill>
              <a:srgbClr val="C8DC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" y="4325112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eg: Group by Region → Sum of Sales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Customer → Count of Orders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5760" y="470001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7377"/>
                </a:solidFill>
              </a:rPr>
              <a:t>→ Home → Group By → select group column + aggregation (Sum, Count, Average, Max...)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0016" y="3657600"/>
            <a:ext cx="4187952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0016" y="3657600"/>
            <a:ext cx="50292" cy="1298448"/>
          </a:xfrm>
          <a:prstGeom prst="rect">
            <a:avLst/>
          </a:prstGeom>
          <a:solidFill>
            <a:srgbClr val="4A1A6B"/>
          </a:solidFill>
          <a:ln w="12700">
            <a:solidFill>
              <a:srgbClr val="4A1A6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9744" y="371246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1A6B"/>
                </a:solidFill>
              </a:rPr>
              <a:t>📎  Append Queries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809744" y="4023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3748"/>
                </a:solidFill>
              </a:rPr>
              <a:t>Stack tables on top of each other (like UNION in SQL). Columns matched by name.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09744" y="4315968"/>
            <a:ext cx="3931920" cy="347472"/>
          </a:xfrm>
          <a:prstGeom prst="rect">
            <a:avLst/>
          </a:prstGeom>
          <a:solidFill>
            <a:srgbClr val="F0F7FF"/>
          </a:solidFill>
          <a:ln w="5080">
            <a:solidFill>
              <a:srgbClr val="C8DC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64608" y="4325112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eg: Sales_Jan + Sales_Feb + Sales_Mar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3A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Sales_All (full year combined)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09744" y="4700016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D7377"/>
                </a:solidFill>
              </a:rPr>
              <a:t>→ Home → Append Queries → select tables to stack. Use 'Append as New' to keep originals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DATA CLEANING — FIXING MESSY DATA IN POWER QUERY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4187952" cy="329184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804672"/>
            <a:ext cx="4187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900"/>
                </a:solidFill>
              </a:rPr>
              <a:t>ROW-LEVEL CLEANING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188720"/>
            <a:ext cx="4187952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188720"/>
            <a:ext cx="64008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2344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544"/>
                </a:solidFill>
              </a:rPr>
              <a:t>Remove Duplicates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49961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</a:rPr>
              <a:t>Select key column(s) → Home → Remove Rows → Remove Duplicates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170078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377"/>
                </a:solidFill>
              </a:rPr>
              <a:t>💡 Use on a unique ID column for exact dedup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6032" y="2057400"/>
            <a:ext cx="4187952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" y="2057400"/>
            <a:ext cx="64008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1031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544"/>
                </a:solidFill>
              </a:rPr>
              <a:t>Remove Blank Rows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236829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</a:rPr>
              <a:t>Home → Remove Rows → Remove Blank Rows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256946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377"/>
                </a:solidFill>
              </a:rPr>
              <a:t>💡 Removes rows where ALL cells are empty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56032" y="2926080"/>
            <a:ext cx="4187952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926080"/>
            <a:ext cx="64008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718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544"/>
                </a:solidFill>
              </a:rPr>
              <a:t>Remove Errors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323697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</a:rPr>
              <a:t>Home → Remove Rows → Remove Errors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" y="343814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377"/>
                </a:solidFill>
              </a:rPr>
              <a:t>💡 Only after inspecting — you may want to fix not delete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3794760"/>
            <a:ext cx="4187952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3794760"/>
            <a:ext cx="64008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8404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544"/>
                </a:solidFill>
              </a:rPr>
              <a:t>Keep/Remove Top 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410565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</a:rPr>
              <a:t>Home → Keep Rows → Keep Top Rows (enter N)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4048" y="430682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377"/>
                </a:solidFill>
              </a:rPr>
              <a:t>💡 Useful to strip metadata rows at top of exported files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0016" y="804672"/>
            <a:ext cx="4187952" cy="329184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804672"/>
            <a:ext cx="4187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900"/>
                </a:solidFill>
              </a:rPr>
              <a:t>VALUE-LEVEL CLEANING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0016" y="1188720"/>
            <a:ext cx="4187952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0016" y="1188720"/>
            <a:ext cx="64008" cy="77724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12344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544"/>
                </a:solidFill>
              </a:rPr>
              <a:t>Trim (Whitespace)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149961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</a:rPr>
              <a:t>Transform → Format → Trim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28032" y="170078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377"/>
                </a:solidFill>
              </a:rPr>
              <a:t>💡 Removes leading &amp; trailing spaces — CRITICAL for lookups/merges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0016" y="2057400"/>
            <a:ext cx="4187952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0016" y="2057400"/>
            <a:ext cx="64008" cy="77724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28032" y="21031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544"/>
                </a:solidFill>
              </a:rPr>
              <a:t>Replace Values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28032" y="236829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</a:rPr>
              <a:t>Transform → Replace Values → enter old/new value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28032" y="256946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377"/>
                </a:solidFill>
              </a:rPr>
              <a:t>💡 Also replaces errors: Transform → Replace Errors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0016" y="2926080"/>
            <a:ext cx="4187952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0016" y="2926080"/>
            <a:ext cx="64008" cy="77724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29718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544"/>
                </a:solidFill>
              </a:rPr>
              <a:t>Fill Down / Fill Up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28032" y="323697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</a:rPr>
              <a:t>Select column → Transform → Fill → Down or Up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28032" y="343814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377"/>
                </a:solidFill>
              </a:rPr>
              <a:t>💡 Fills null cells with nearest non-null value above/below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00016" y="3794760"/>
            <a:ext cx="4187952" cy="7772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0016" y="3794760"/>
            <a:ext cx="64008" cy="77724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38404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544"/>
                </a:solidFill>
              </a:rPr>
              <a:t>Clean (Non-Printable)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28032" y="410565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</a:rPr>
              <a:t>Transform → Format → Clean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28032" y="430682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7377"/>
                </a:solidFill>
              </a:rPr>
              <a:t>💡 Strips invisible characters from system exports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56032" y="4681728"/>
            <a:ext cx="8631936" cy="347472"/>
          </a:xfrm>
          <a:prstGeom prst="rect">
            <a:avLst/>
          </a:prstGeom>
          <a:solidFill>
            <a:srgbClr val="FFF3CD"/>
          </a:solidFill>
          <a:ln w="6350">
            <a:solidFill>
              <a:srgbClr val="F2A9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7472" y="4681728"/>
            <a:ext cx="8449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4E00"/>
                </a:solidFill>
              </a:rPr>
              <a:t>⚠️  Cleaning ORDER matters: Fix types → Trim/Clean → Remove duplicates → Replace values → Fill down. Wrong order = wrong results!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686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APPLIED STEPS &amp; THE M LANGUAGE — UNDER THE HOOD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56032" y="82296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544"/>
                </a:solidFill>
              </a:rPr>
              <a:t>HOW APPLIED STEPS WORK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170432"/>
            <a:ext cx="274320" cy="50292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7043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900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20700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544"/>
                </a:solidFill>
              </a:rPr>
              <a:t>Source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42646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Excel.Workbook(File.Contents("Sales.xlsx"))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6032" y="1737360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737360"/>
            <a:ext cx="274320" cy="50292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73736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900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177393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544"/>
                </a:solidFill>
              </a:rPr>
              <a:t>Navigation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19933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Source{[Item="Sales_Table"]}[Data]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6032" y="2304288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6032" y="2304288"/>
            <a:ext cx="274320" cy="50292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30428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900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234086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544"/>
                </a:solidFill>
              </a:rPr>
              <a:t>Changed Type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25603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Table.TransformColumnTypes(...)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56032" y="2871216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2871216"/>
            <a:ext cx="274320" cy="50292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871216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900"/>
                </a:solidFill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290779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544"/>
                </a:solidFill>
              </a:rPr>
              <a:t>Removed Columns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312724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Table.RemoveColumns(...,{"Col1","Col2"})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56032" y="3438144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3438144"/>
            <a:ext cx="274320" cy="50292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3438144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900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" y="347472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544"/>
                </a:solidFill>
              </a:rPr>
              <a:t>Filtered Rows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369417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6A9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Table.SelectRows(...,each [Status]="Active")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56032" y="4005072"/>
            <a:ext cx="4297680" cy="502920"/>
          </a:xfrm>
          <a:prstGeom prst="rect">
            <a:avLst/>
          </a:prstGeom>
          <a:solidFill>
            <a:srgbClr val="0D7377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6032" y="4005072"/>
            <a:ext cx="274320" cy="50292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400507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900"/>
                </a:solidFill>
              </a:rPr>
              <a:t>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404164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Renamed Columns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6928" y="42611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F0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Table.RenameColumns(...,{{"dt","Date"}})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56032" y="4590288"/>
            <a:ext cx="4297680" cy="420624"/>
          </a:xfrm>
          <a:prstGeom prst="rect">
            <a:avLst/>
          </a:prstGeom>
          <a:solidFill>
            <a:srgbClr val="E8F6F3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590288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3748"/>
                </a:solidFill>
              </a:rPr>
              <a:t>🔑  Click any step to see data state at THAT point. Delete a step to undo. Drag steps to reorder (careful — may break dependencies).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73168" y="8229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544"/>
                </a:solidFill>
              </a:rPr>
              <a:t>M LANGUAGE — ADVANCED EDITOR EXAMPLE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773168" y="1170432"/>
            <a:ext cx="4114800" cy="3246120"/>
          </a:xfrm>
          <a:prstGeom prst="rect">
            <a:avLst/>
          </a:prstGeom>
          <a:solidFill>
            <a:srgbClr val="1E2D3D"/>
          </a:solidFill>
          <a:ln w="12700">
            <a:solidFill>
              <a:srgbClr val="3A506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122529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28032" y="142189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Source = Excel.Workbook(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28032" y="1618488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File.Contents("Sales.xlsx")),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828032" y="181508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Sales_Table = Source{[Item=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28032" y="2011680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"Sales_Table"]}[Data],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28032" y="220827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4BD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#"Changed Type" =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28032" y="240487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Table.TransformColumnTypes(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828032" y="2601468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Sales_Table,{{"Date",type date},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28032" y="279806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{"Amount",type number}}),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28032" y="2994660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4BD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#"Filtered Rows" =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28032" y="319125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Table.SelectRows(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28032" y="338785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#"Changed Type",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28032" y="3584448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each [Status] = "Active")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828032" y="378104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828032" y="3977640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#"Filtered Rows"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73168" y="4480560"/>
            <a:ext cx="4114800" cy="530352"/>
          </a:xfrm>
          <a:prstGeom prst="rect">
            <a:avLst/>
          </a:prstGeom>
          <a:solidFill>
            <a:srgbClr val="0F2544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64608" y="448056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📋  View → Advanced Editor  to see full M script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You can copy/paste or hand-edit M code directly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256032"/>
            <a:ext cx="2286000" cy="38404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2560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F2544"/>
                </a:solidFill>
              </a:rPr>
              <a:t>PROJECT  EXERCISE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" y="786384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Data Cleaning Project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56032" y="14630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BDAC"/>
                </a:solidFill>
              </a:rPr>
              <a:t>End-to-end Power Query transformation of a real-world messy retail dataset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" y="1920240"/>
            <a:ext cx="8631936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2029968"/>
            <a:ext cx="8631936" cy="1078992"/>
          </a:xfrm>
          <a:prstGeom prst="rect">
            <a:avLst/>
          </a:prstGeom>
          <a:solidFill>
            <a:srgbClr val="1A3A6B"/>
          </a:solidFill>
          <a:ln w="1016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6654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00"/>
                </a:solidFill>
              </a:rPr>
              <a:t>📋  SCENARIO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359152"/>
            <a:ext cx="833932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You are a data analyst at GlobalMart Retail. Your manager sends you a raw Excel export from the ERP system with 3 months of sales transactions. The file is messy — wrong types, duplicates, blanks, inconsistent categories and merged columns. Your job is to clean and shape it in Power Query so it's ready for a regional sales dashboard.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" y="3218688"/>
            <a:ext cx="2011680" cy="9875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" y="327355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2,847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56032" y="38221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A900"/>
                </a:solidFill>
              </a:rPr>
              <a:t>Raw Rows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32304" y="3218688"/>
            <a:ext cx="2011680" cy="9875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32304" y="327355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14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2432304" y="38221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A900"/>
                </a:solidFill>
              </a:rPr>
              <a:t>Columns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08576" y="3218688"/>
            <a:ext cx="2011680" cy="9875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08576" y="327355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6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608576" y="38221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A900"/>
                </a:solidFill>
              </a:rPr>
              <a:t>Issues to Fix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84848" y="3218688"/>
            <a:ext cx="2011680" cy="9875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84848" y="327355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12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784848" y="38221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2A900"/>
                </a:solidFill>
              </a:rPr>
              <a:t>PQ Steps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4315968"/>
            <a:ext cx="8631936" cy="475488"/>
          </a:xfrm>
          <a:prstGeom prst="rect">
            <a:avLst/>
          </a:prstGeom>
          <a:solidFill>
            <a:srgbClr val="0A3A2A"/>
          </a:solidFill>
          <a:ln w="10160">
            <a:solidFill>
              <a:srgbClr val="14BDA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4315968"/>
            <a:ext cx="8449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🎯  DELIVERABLE:  A clean, query-formatted Power BI dataset with correct types, no duplicates, merged region column, and a summary Group By table — ready for DAX measures in S3.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PROJECT — STEP 1: UNDERSTAND THE RAW DATA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DAC"/>
                </a:solidFill>
              </a:rPr>
              <a:t>GlobalMart Retail Dataset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56032" y="822960"/>
            <a:ext cx="8631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544"/>
                </a:solidFill>
              </a:rPr>
              <a:t>RAW DATASET — WHAT WE RECEIVE FROM ERP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115568"/>
            <a:ext cx="594360" cy="29260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11556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2A900"/>
                </a:solidFill>
              </a:rPr>
              <a:t>order_id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850392" y="1115568"/>
            <a:ext cx="548640" cy="292608"/>
          </a:xfrm>
          <a:prstGeom prst="rect">
            <a:avLst/>
          </a:prstGeom>
          <a:solidFill>
            <a:srgbClr val="7B1C1C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1155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B3B3"/>
                </a:solidFill>
              </a:rPr>
              <a:t>DATE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399032" y="1115568"/>
            <a:ext cx="731520" cy="292608"/>
          </a:xfrm>
          <a:prstGeom prst="rect">
            <a:avLst/>
          </a:prstGeom>
          <a:solidFill>
            <a:srgbClr val="7B1C1C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99032" y="111556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B3B3"/>
                </a:solidFill>
              </a:rPr>
              <a:t>cust name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2130552" y="1115568"/>
            <a:ext cx="594360" cy="29260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30552" y="111556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2A900"/>
                </a:solidFill>
              </a:rPr>
              <a:t>REGION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724912" y="1115568"/>
            <a:ext cx="594360" cy="292608"/>
          </a:xfrm>
          <a:prstGeom prst="rect">
            <a:avLst/>
          </a:prstGeom>
          <a:solidFill>
            <a:srgbClr val="7B1C1C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24912" y="111556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B3B3"/>
                </a:solidFill>
              </a:rPr>
              <a:t>sub_region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319272" y="1115568"/>
            <a:ext cx="658368" cy="29260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9272" y="111556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2A900"/>
                </a:solidFill>
              </a:rPr>
              <a:t>product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977640" y="1115568"/>
            <a:ext cx="365760" cy="29260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111556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2A900"/>
                </a:solidFill>
              </a:rPr>
              <a:t>qty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343400" y="1115568"/>
            <a:ext cx="548640" cy="29260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11155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2A900"/>
                </a:solidFill>
              </a:rPr>
              <a:t>unit_price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4892040" y="1115568"/>
            <a:ext cx="548640" cy="292608"/>
          </a:xfrm>
          <a:prstGeom prst="rect">
            <a:avLst/>
          </a:prstGeom>
          <a:solidFill>
            <a:srgbClr val="7B1C1C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115568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B3B3"/>
                </a:solidFill>
              </a:rPr>
              <a:t>discount%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440680" y="1115568"/>
            <a:ext cx="502920" cy="29260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111556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2A900"/>
                </a:solidFill>
              </a:rPr>
              <a:t>total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5943600" y="1115568"/>
            <a:ext cx="530352" cy="29260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1115568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2A900"/>
                </a:solidFill>
              </a:rPr>
              <a:t>status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6473952" y="1115568"/>
            <a:ext cx="530352" cy="29260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3952" y="1115568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2A900"/>
                </a:solidFill>
              </a:rPr>
              <a:t>returned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7004304" y="1115568"/>
            <a:ext cx="594360" cy="29260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04304" y="1115568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2A900"/>
                </a:solidFill>
              </a:rPr>
              <a:t>sales_rep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7598664" y="1115568"/>
            <a:ext cx="429768" cy="292608"/>
          </a:xfrm>
          <a:prstGeom prst="rect">
            <a:avLst/>
          </a:prstGeom>
          <a:solidFill>
            <a:srgbClr val="7B1C1C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98664" y="1115568"/>
            <a:ext cx="429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B3B3"/>
                </a:solidFill>
              </a:rPr>
              <a:t>notes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6032" y="1408176"/>
            <a:ext cx="5943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" y="14081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ORD-001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850392" y="1408176"/>
            <a:ext cx="5486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" y="14081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1/5/2024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1399032" y="1408176"/>
            <a:ext cx="7315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99032" y="14081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john smith 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2130552" y="1408176"/>
            <a:ext cx="5943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30552" y="14081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North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2724912" y="1408176"/>
            <a:ext cx="5943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24912" y="14081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north-east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3319272" y="1408176"/>
            <a:ext cx="65836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19272" y="140817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Laptop Pro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3977640" y="1408176"/>
            <a:ext cx="3657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77640" y="14081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2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4343400" y="1408176"/>
            <a:ext cx="5486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43400" y="14081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1299.99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4892040" y="1408176"/>
            <a:ext cx="5486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14081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10%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5440680" y="1408176"/>
            <a:ext cx="502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40680" y="140817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2339.98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5943600" y="1408176"/>
            <a:ext cx="53035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3600" y="140817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completed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6473952" y="1408176"/>
            <a:ext cx="53035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73952" y="140817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No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7004304" y="1408176"/>
            <a:ext cx="5943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04304" y="140817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Sarah J.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7598664" y="1408176"/>
            <a:ext cx="42976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98664" y="1408176"/>
            <a:ext cx="429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bulk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256032" y="1682496"/>
            <a:ext cx="594360" cy="256032"/>
          </a:xfrm>
          <a:prstGeom prst="rect">
            <a:avLst/>
          </a:prstGeom>
          <a:solidFill>
            <a:srgbClr val="FFF0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56032" y="16824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ORD-001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850392" y="1682496"/>
            <a:ext cx="548640" cy="256032"/>
          </a:xfrm>
          <a:prstGeom prst="rect">
            <a:avLst/>
          </a:prstGeom>
          <a:solidFill>
            <a:srgbClr val="FFF0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50392" y="16824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1/5/2024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1399032" y="1682496"/>
            <a:ext cx="731520" cy="256032"/>
          </a:xfrm>
          <a:prstGeom prst="rect">
            <a:avLst/>
          </a:prstGeom>
          <a:solidFill>
            <a:srgbClr val="FFF0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399032" y="168249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john smith </a:t>
            </a:r>
            <a:endParaRPr lang="en-US" sz="600" dirty="0"/>
          </a:p>
        </p:txBody>
      </p:sp>
      <p:sp>
        <p:nvSpPr>
          <p:cNvPr id="69" name="Shape 67"/>
          <p:cNvSpPr/>
          <p:nvPr/>
        </p:nvSpPr>
        <p:spPr>
          <a:xfrm>
            <a:off x="2130552" y="1682496"/>
            <a:ext cx="594360" cy="256032"/>
          </a:xfrm>
          <a:prstGeom prst="rect">
            <a:avLst/>
          </a:prstGeom>
          <a:solidFill>
            <a:srgbClr val="FFF0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130552" y="16824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North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2724912" y="1682496"/>
            <a:ext cx="594360" cy="256032"/>
          </a:xfrm>
          <a:prstGeom prst="rect">
            <a:avLst/>
          </a:prstGeom>
          <a:solidFill>
            <a:srgbClr val="FFF0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24912" y="16824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north-east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3319272" y="1682496"/>
            <a:ext cx="658368" cy="256032"/>
          </a:xfrm>
          <a:prstGeom prst="rect">
            <a:avLst/>
          </a:prstGeom>
          <a:solidFill>
            <a:srgbClr val="FFF0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19272" y="16824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Laptop Pro</a:t>
            </a:r>
            <a:endParaRPr lang="en-US" sz="600" dirty="0"/>
          </a:p>
        </p:txBody>
      </p:sp>
      <p:sp>
        <p:nvSpPr>
          <p:cNvPr id="75" name="Shape 73"/>
          <p:cNvSpPr/>
          <p:nvPr/>
        </p:nvSpPr>
        <p:spPr>
          <a:xfrm>
            <a:off x="3977640" y="1682496"/>
            <a:ext cx="365760" cy="256032"/>
          </a:xfrm>
          <a:prstGeom prst="rect">
            <a:avLst/>
          </a:prstGeom>
          <a:solidFill>
            <a:srgbClr val="FFF0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977640" y="16824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2</a:t>
            </a:r>
            <a:endParaRPr lang="en-US" sz="600" dirty="0"/>
          </a:p>
        </p:txBody>
      </p:sp>
      <p:sp>
        <p:nvSpPr>
          <p:cNvPr id="77" name="Shape 75"/>
          <p:cNvSpPr/>
          <p:nvPr/>
        </p:nvSpPr>
        <p:spPr>
          <a:xfrm>
            <a:off x="4343400" y="1682496"/>
            <a:ext cx="548640" cy="256032"/>
          </a:xfrm>
          <a:prstGeom prst="rect">
            <a:avLst/>
          </a:prstGeom>
          <a:solidFill>
            <a:srgbClr val="FFF0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343400" y="16824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1299.99</a:t>
            </a:r>
            <a:endParaRPr lang="en-US" sz="600" dirty="0"/>
          </a:p>
        </p:txBody>
      </p:sp>
      <p:sp>
        <p:nvSpPr>
          <p:cNvPr id="79" name="Shape 77"/>
          <p:cNvSpPr/>
          <p:nvPr/>
        </p:nvSpPr>
        <p:spPr>
          <a:xfrm>
            <a:off x="4892040" y="1682496"/>
            <a:ext cx="548640" cy="256032"/>
          </a:xfrm>
          <a:prstGeom prst="rect">
            <a:avLst/>
          </a:prstGeom>
          <a:solidFill>
            <a:srgbClr val="FFF0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892040" y="16824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10%</a:t>
            </a:r>
            <a:endParaRPr lang="en-US" sz="600" dirty="0"/>
          </a:p>
        </p:txBody>
      </p:sp>
      <p:sp>
        <p:nvSpPr>
          <p:cNvPr id="81" name="Shape 79"/>
          <p:cNvSpPr/>
          <p:nvPr/>
        </p:nvSpPr>
        <p:spPr>
          <a:xfrm>
            <a:off x="5440680" y="1682496"/>
            <a:ext cx="502920" cy="256032"/>
          </a:xfrm>
          <a:prstGeom prst="rect">
            <a:avLst/>
          </a:prstGeom>
          <a:solidFill>
            <a:srgbClr val="FFF0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40680" y="16824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2339.98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5943600" y="1682496"/>
            <a:ext cx="530352" cy="256032"/>
          </a:xfrm>
          <a:prstGeom prst="rect">
            <a:avLst/>
          </a:prstGeom>
          <a:solidFill>
            <a:srgbClr val="FFF0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943600" y="168249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completed</a:t>
            </a:r>
            <a:endParaRPr lang="en-US" sz="600" dirty="0"/>
          </a:p>
        </p:txBody>
      </p:sp>
      <p:sp>
        <p:nvSpPr>
          <p:cNvPr id="85" name="Shape 83"/>
          <p:cNvSpPr/>
          <p:nvPr/>
        </p:nvSpPr>
        <p:spPr>
          <a:xfrm>
            <a:off x="6473952" y="1682496"/>
            <a:ext cx="530352" cy="256032"/>
          </a:xfrm>
          <a:prstGeom prst="rect">
            <a:avLst/>
          </a:prstGeom>
          <a:solidFill>
            <a:srgbClr val="FFF0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473952" y="168249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No</a:t>
            </a:r>
            <a:endParaRPr lang="en-US" sz="600" dirty="0"/>
          </a:p>
        </p:txBody>
      </p:sp>
      <p:sp>
        <p:nvSpPr>
          <p:cNvPr id="87" name="Shape 85"/>
          <p:cNvSpPr/>
          <p:nvPr/>
        </p:nvSpPr>
        <p:spPr>
          <a:xfrm>
            <a:off x="7004304" y="1682496"/>
            <a:ext cx="594360" cy="256032"/>
          </a:xfrm>
          <a:prstGeom prst="rect">
            <a:avLst/>
          </a:prstGeom>
          <a:solidFill>
            <a:srgbClr val="FFF0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004304" y="168249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Sarah J.</a:t>
            </a:r>
            <a:endParaRPr lang="en-US" sz="600" dirty="0"/>
          </a:p>
        </p:txBody>
      </p:sp>
      <p:sp>
        <p:nvSpPr>
          <p:cNvPr id="89" name="Shape 87"/>
          <p:cNvSpPr/>
          <p:nvPr/>
        </p:nvSpPr>
        <p:spPr>
          <a:xfrm>
            <a:off x="7598664" y="1682496"/>
            <a:ext cx="429768" cy="256032"/>
          </a:xfrm>
          <a:prstGeom prst="rect">
            <a:avLst/>
          </a:prstGeom>
          <a:solidFill>
            <a:srgbClr val="FFF0F0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598664" y="1682496"/>
            <a:ext cx="429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bulk</a:t>
            </a:r>
            <a:endParaRPr lang="en-US" sz="600" dirty="0"/>
          </a:p>
        </p:txBody>
      </p:sp>
      <p:sp>
        <p:nvSpPr>
          <p:cNvPr id="91" name="Shape 89"/>
          <p:cNvSpPr/>
          <p:nvPr/>
        </p:nvSpPr>
        <p:spPr>
          <a:xfrm>
            <a:off x="256032" y="1956816"/>
            <a:ext cx="5943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56032" y="19568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ORD-003</a:t>
            </a:r>
            <a:endParaRPr lang="en-US" sz="600" dirty="0"/>
          </a:p>
        </p:txBody>
      </p:sp>
      <p:sp>
        <p:nvSpPr>
          <p:cNvPr id="93" name="Shape 91"/>
          <p:cNvSpPr/>
          <p:nvPr/>
        </p:nvSpPr>
        <p:spPr>
          <a:xfrm>
            <a:off x="850392" y="1956816"/>
            <a:ext cx="5486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50392" y="1956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5-Jan-24</a:t>
            </a:r>
            <a:endParaRPr lang="en-US" sz="600" dirty="0"/>
          </a:p>
        </p:txBody>
      </p:sp>
      <p:sp>
        <p:nvSpPr>
          <p:cNvPr id="95" name="Shape 93"/>
          <p:cNvSpPr/>
          <p:nvPr/>
        </p:nvSpPr>
        <p:spPr>
          <a:xfrm>
            <a:off x="1399032" y="1956816"/>
            <a:ext cx="7315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399032" y="195681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Maria  G.</a:t>
            </a:r>
            <a:endParaRPr lang="en-US" sz="600" dirty="0"/>
          </a:p>
        </p:txBody>
      </p:sp>
      <p:sp>
        <p:nvSpPr>
          <p:cNvPr id="97" name="Shape 95"/>
          <p:cNvSpPr/>
          <p:nvPr/>
        </p:nvSpPr>
        <p:spPr>
          <a:xfrm>
            <a:off x="2130552" y="1956816"/>
            <a:ext cx="5943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130552" y="19568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SOUTH</a:t>
            </a:r>
            <a:endParaRPr lang="en-US" sz="600" dirty="0"/>
          </a:p>
        </p:txBody>
      </p:sp>
      <p:sp>
        <p:nvSpPr>
          <p:cNvPr id="99" name="Shape 97"/>
          <p:cNvSpPr/>
          <p:nvPr/>
        </p:nvSpPr>
        <p:spPr>
          <a:xfrm>
            <a:off x="2724912" y="1956816"/>
            <a:ext cx="5943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724912" y="19568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south_west</a:t>
            </a:r>
            <a:endParaRPr lang="en-US" sz="600" dirty="0"/>
          </a:p>
        </p:txBody>
      </p:sp>
      <p:sp>
        <p:nvSpPr>
          <p:cNvPr id="101" name="Shape 99"/>
          <p:cNvSpPr/>
          <p:nvPr/>
        </p:nvSpPr>
        <p:spPr>
          <a:xfrm>
            <a:off x="3319272" y="1956816"/>
            <a:ext cx="65836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319272" y="195681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Monitor</a:t>
            </a:r>
            <a:endParaRPr lang="en-US" sz="600" dirty="0"/>
          </a:p>
        </p:txBody>
      </p:sp>
      <p:sp>
        <p:nvSpPr>
          <p:cNvPr id="103" name="Shape 101"/>
          <p:cNvSpPr/>
          <p:nvPr/>
        </p:nvSpPr>
        <p:spPr>
          <a:xfrm>
            <a:off x="3977640" y="1956816"/>
            <a:ext cx="3657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977640" y="1956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1</a:t>
            </a:r>
            <a:endParaRPr lang="en-US" sz="600" dirty="0"/>
          </a:p>
        </p:txBody>
      </p:sp>
      <p:sp>
        <p:nvSpPr>
          <p:cNvPr id="105" name="Shape 103"/>
          <p:cNvSpPr/>
          <p:nvPr/>
        </p:nvSpPr>
        <p:spPr>
          <a:xfrm>
            <a:off x="4343400" y="1956816"/>
            <a:ext cx="5486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343400" y="1956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349.50</a:t>
            </a:r>
            <a:endParaRPr lang="en-US" sz="600" dirty="0"/>
          </a:p>
        </p:txBody>
      </p:sp>
      <p:sp>
        <p:nvSpPr>
          <p:cNvPr id="107" name="Shape 105"/>
          <p:cNvSpPr/>
          <p:nvPr/>
        </p:nvSpPr>
        <p:spPr>
          <a:xfrm>
            <a:off x="4892040" y="1956816"/>
            <a:ext cx="5486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892040" y="1956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0%</a:t>
            </a:r>
            <a:endParaRPr lang="en-US" sz="600" dirty="0"/>
          </a:p>
        </p:txBody>
      </p:sp>
      <p:sp>
        <p:nvSpPr>
          <p:cNvPr id="109" name="Shape 107"/>
          <p:cNvSpPr/>
          <p:nvPr/>
        </p:nvSpPr>
        <p:spPr>
          <a:xfrm>
            <a:off x="5440680" y="1956816"/>
            <a:ext cx="502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440680" y="195681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349.50</a:t>
            </a:r>
            <a:endParaRPr lang="en-US" sz="600" dirty="0"/>
          </a:p>
        </p:txBody>
      </p:sp>
      <p:sp>
        <p:nvSpPr>
          <p:cNvPr id="111" name="Shape 109"/>
          <p:cNvSpPr/>
          <p:nvPr/>
        </p:nvSpPr>
        <p:spPr>
          <a:xfrm>
            <a:off x="5943600" y="1956816"/>
            <a:ext cx="53035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943600" y="195681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Completed</a:t>
            </a:r>
            <a:endParaRPr lang="en-US" sz="600" dirty="0"/>
          </a:p>
        </p:txBody>
      </p:sp>
      <p:sp>
        <p:nvSpPr>
          <p:cNvPr id="113" name="Shape 111"/>
          <p:cNvSpPr/>
          <p:nvPr/>
        </p:nvSpPr>
        <p:spPr>
          <a:xfrm>
            <a:off x="6473952" y="1956816"/>
            <a:ext cx="53035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473952" y="195681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No</a:t>
            </a:r>
            <a:endParaRPr lang="en-US" sz="600" dirty="0"/>
          </a:p>
        </p:txBody>
      </p:sp>
      <p:sp>
        <p:nvSpPr>
          <p:cNvPr id="115" name="Shape 113"/>
          <p:cNvSpPr/>
          <p:nvPr/>
        </p:nvSpPr>
        <p:spPr>
          <a:xfrm>
            <a:off x="7004304" y="1956816"/>
            <a:ext cx="5943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004304" y="19568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Tom B.</a:t>
            </a:r>
            <a:endParaRPr lang="en-US" sz="600" dirty="0"/>
          </a:p>
        </p:txBody>
      </p:sp>
      <p:sp>
        <p:nvSpPr>
          <p:cNvPr id="117" name="Shape 115"/>
          <p:cNvSpPr/>
          <p:nvPr/>
        </p:nvSpPr>
        <p:spPr>
          <a:xfrm>
            <a:off x="7598664" y="1956816"/>
            <a:ext cx="42976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598664" y="1956816"/>
            <a:ext cx="429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00" dirty="0"/>
          </a:p>
        </p:txBody>
      </p:sp>
      <p:sp>
        <p:nvSpPr>
          <p:cNvPr id="119" name="Shape 117"/>
          <p:cNvSpPr/>
          <p:nvPr/>
        </p:nvSpPr>
        <p:spPr>
          <a:xfrm>
            <a:off x="256032" y="2231136"/>
            <a:ext cx="594360" cy="256032"/>
          </a:xfrm>
          <a:prstGeom prst="rect">
            <a:avLst/>
          </a:prstGeom>
          <a:solidFill>
            <a:srgbClr val="FFF8E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56032" y="223113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ORD-004</a:t>
            </a:r>
            <a:endParaRPr lang="en-US" sz="600" dirty="0"/>
          </a:p>
        </p:txBody>
      </p:sp>
      <p:sp>
        <p:nvSpPr>
          <p:cNvPr id="121" name="Shape 119"/>
          <p:cNvSpPr/>
          <p:nvPr/>
        </p:nvSpPr>
        <p:spPr>
          <a:xfrm>
            <a:off x="850392" y="2231136"/>
            <a:ext cx="548640" cy="256032"/>
          </a:xfrm>
          <a:prstGeom prst="rect">
            <a:avLst/>
          </a:prstGeom>
          <a:solidFill>
            <a:srgbClr val="FFF8E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50392" y="22311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00" dirty="0"/>
          </a:p>
        </p:txBody>
      </p:sp>
      <p:sp>
        <p:nvSpPr>
          <p:cNvPr id="123" name="Shape 121"/>
          <p:cNvSpPr/>
          <p:nvPr/>
        </p:nvSpPr>
        <p:spPr>
          <a:xfrm>
            <a:off x="1399032" y="2231136"/>
            <a:ext cx="731520" cy="256032"/>
          </a:xfrm>
          <a:prstGeom prst="rect">
            <a:avLst/>
          </a:prstGeom>
          <a:solidFill>
            <a:srgbClr val="FFF8E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399032" y="223113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  Bob L.</a:t>
            </a:r>
            <a:endParaRPr lang="en-US" sz="600" dirty="0"/>
          </a:p>
        </p:txBody>
      </p:sp>
      <p:sp>
        <p:nvSpPr>
          <p:cNvPr id="125" name="Shape 123"/>
          <p:cNvSpPr/>
          <p:nvPr/>
        </p:nvSpPr>
        <p:spPr>
          <a:xfrm>
            <a:off x="2130552" y="2231136"/>
            <a:ext cx="594360" cy="256032"/>
          </a:xfrm>
          <a:prstGeom prst="rect">
            <a:avLst/>
          </a:prstGeom>
          <a:solidFill>
            <a:srgbClr val="FFF8E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130552" y="223113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East</a:t>
            </a:r>
            <a:endParaRPr lang="en-US" sz="600" dirty="0"/>
          </a:p>
        </p:txBody>
      </p:sp>
      <p:sp>
        <p:nvSpPr>
          <p:cNvPr id="127" name="Shape 125"/>
          <p:cNvSpPr/>
          <p:nvPr/>
        </p:nvSpPr>
        <p:spPr>
          <a:xfrm>
            <a:off x="2724912" y="2231136"/>
            <a:ext cx="594360" cy="256032"/>
          </a:xfrm>
          <a:prstGeom prst="rect">
            <a:avLst/>
          </a:prstGeom>
          <a:solidFill>
            <a:srgbClr val="FFF8E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724912" y="223113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east</a:t>
            </a:r>
            <a:endParaRPr lang="en-US" sz="600" dirty="0"/>
          </a:p>
        </p:txBody>
      </p:sp>
      <p:sp>
        <p:nvSpPr>
          <p:cNvPr id="129" name="Shape 127"/>
          <p:cNvSpPr/>
          <p:nvPr/>
        </p:nvSpPr>
        <p:spPr>
          <a:xfrm>
            <a:off x="3319272" y="2231136"/>
            <a:ext cx="658368" cy="256032"/>
          </a:xfrm>
          <a:prstGeom prst="rect">
            <a:avLst/>
          </a:prstGeom>
          <a:solidFill>
            <a:srgbClr val="FFF8E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319272" y="223113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Keyboard</a:t>
            </a:r>
            <a:endParaRPr lang="en-US" sz="600" dirty="0"/>
          </a:p>
        </p:txBody>
      </p:sp>
      <p:sp>
        <p:nvSpPr>
          <p:cNvPr id="131" name="Shape 129"/>
          <p:cNvSpPr/>
          <p:nvPr/>
        </p:nvSpPr>
        <p:spPr>
          <a:xfrm>
            <a:off x="3977640" y="2231136"/>
            <a:ext cx="365760" cy="256032"/>
          </a:xfrm>
          <a:prstGeom prst="rect">
            <a:avLst/>
          </a:prstGeom>
          <a:solidFill>
            <a:srgbClr val="FFF8E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977640" y="22311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5</a:t>
            </a:r>
            <a:endParaRPr lang="en-US" sz="600" dirty="0"/>
          </a:p>
        </p:txBody>
      </p:sp>
      <p:sp>
        <p:nvSpPr>
          <p:cNvPr id="133" name="Shape 131"/>
          <p:cNvSpPr/>
          <p:nvPr/>
        </p:nvSpPr>
        <p:spPr>
          <a:xfrm>
            <a:off x="4343400" y="2231136"/>
            <a:ext cx="548640" cy="256032"/>
          </a:xfrm>
          <a:prstGeom prst="rect">
            <a:avLst/>
          </a:prstGeom>
          <a:solidFill>
            <a:srgbClr val="FFF8E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343400" y="22311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89.99</a:t>
            </a:r>
            <a:endParaRPr lang="en-US" sz="600" dirty="0"/>
          </a:p>
        </p:txBody>
      </p:sp>
      <p:sp>
        <p:nvSpPr>
          <p:cNvPr id="135" name="Shape 133"/>
          <p:cNvSpPr/>
          <p:nvPr/>
        </p:nvSpPr>
        <p:spPr>
          <a:xfrm>
            <a:off x="4892040" y="2231136"/>
            <a:ext cx="548640" cy="256032"/>
          </a:xfrm>
          <a:prstGeom prst="rect">
            <a:avLst/>
          </a:prstGeom>
          <a:solidFill>
            <a:srgbClr val="FFF8E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892040" y="22311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5%</a:t>
            </a:r>
            <a:endParaRPr lang="en-US" sz="600" dirty="0"/>
          </a:p>
        </p:txBody>
      </p:sp>
      <p:sp>
        <p:nvSpPr>
          <p:cNvPr id="137" name="Shape 135"/>
          <p:cNvSpPr/>
          <p:nvPr/>
        </p:nvSpPr>
        <p:spPr>
          <a:xfrm>
            <a:off x="5440680" y="2231136"/>
            <a:ext cx="502920" cy="256032"/>
          </a:xfrm>
          <a:prstGeom prst="rect">
            <a:avLst/>
          </a:prstGeom>
          <a:solidFill>
            <a:srgbClr val="FFF8E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440680" y="22311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427.45</a:t>
            </a:r>
            <a:endParaRPr lang="en-US" sz="600" dirty="0"/>
          </a:p>
        </p:txBody>
      </p:sp>
      <p:sp>
        <p:nvSpPr>
          <p:cNvPr id="139" name="Shape 137"/>
          <p:cNvSpPr/>
          <p:nvPr/>
        </p:nvSpPr>
        <p:spPr>
          <a:xfrm>
            <a:off x="5943600" y="2231136"/>
            <a:ext cx="530352" cy="256032"/>
          </a:xfrm>
          <a:prstGeom prst="rect">
            <a:avLst/>
          </a:prstGeom>
          <a:solidFill>
            <a:srgbClr val="FFF8E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943600" y="223113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pending</a:t>
            </a:r>
            <a:endParaRPr lang="en-US" sz="600" dirty="0"/>
          </a:p>
        </p:txBody>
      </p:sp>
      <p:sp>
        <p:nvSpPr>
          <p:cNvPr id="141" name="Shape 139"/>
          <p:cNvSpPr/>
          <p:nvPr/>
        </p:nvSpPr>
        <p:spPr>
          <a:xfrm>
            <a:off x="6473952" y="2231136"/>
            <a:ext cx="530352" cy="256032"/>
          </a:xfrm>
          <a:prstGeom prst="rect">
            <a:avLst/>
          </a:prstGeom>
          <a:solidFill>
            <a:srgbClr val="FFF8E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6473952" y="223113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Yes</a:t>
            </a:r>
            <a:endParaRPr lang="en-US" sz="600" dirty="0"/>
          </a:p>
        </p:txBody>
      </p:sp>
      <p:sp>
        <p:nvSpPr>
          <p:cNvPr id="143" name="Shape 141"/>
          <p:cNvSpPr/>
          <p:nvPr/>
        </p:nvSpPr>
        <p:spPr>
          <a:xfrm>
            <a:off x="7004304" y="2231136"/>
            <a:ext cx="594360" cy="256032"/>
          </a:xfrm>
          <a:prstGeom prst="rect">
            <a:avLst/>
          </a:prstGeom>
          <a:solidFill>
            <a:srgbClr val="FFF8E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004304" y="223113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00" dirty="0"/>
          </a:p>
        </p:txBody>
      </p:sp>
      <p:sp>
        <p:nvSpPr>
          <p:cNvPr id="145" name="Shape 143"/>
          <p:cNvSpPr/>
          <p:nvPr/>
        </p:nvSpPr>
        <p:spPr>
          <a:xfrm>
            <a:off x="7598664" y="2231136"/>
            <a:ext cx="429768" cy="256032"/>
          </a:xfrm>
          <a:prstGeom prst="rect">
            <a:avLst/>
          </a:prstGeom>
          <a:solidFill>
            <a:srgbClr val="FFF8E6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598664" y="2231136"/>
            <a:ext cx="429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00" dirty="0"/>
          </a:p>
        </p:txBody>
      </p:sp>
      <p:sp>
        <p:nvSpPr>
          <p:cNvPr id="147" name="Shape 145"/>
          <p:cNvSpPr/>
          <p:nvPr/>
        </p:nvSpPr>
        <p:spPr>
          <a:xfrm>
            <a:off x="256032" y="2505456"/>
            <a:ext cx="5943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256032" y="250545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ORD-005</a:t>
            </a:r>
            <a:endParaRPr lang="en-US" sz="600" dirty="0"/>
          </a:p>
        </p:txBody>
      </p:sp>
      <p:sp>
        <p:nvSpPr>
          <p:cNvPr id="149" name="Shape 147"/>
          <p:cNvSpPr/>
          <p:nvPr/>
        </p:nvSpPr>
        <p:spPr>
          <a:xfrm>
            <a:off x="850392" y="2505456"/>
            <a:ext cx="5486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850392" y="25054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2024/01/07</a:t>
            </a:r>
            <a:endParaRPr lang="en-US" sz="600" dirty="0"/>
          </a:p>
        </p:txBody>
      </p:sp>
      <p:sp>
        <p:nvSpPr>
          <p:cNvPr id="151" name="Shape 149"/>
          <p:cNvSpPr/>
          <p:nvPr/>
        </p:nvSpPr>
        <p:spPr>
          <a:xfrm>
            <a:off x="1399032" y="2505456"/>
            <a:ext cx="7315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1399032" y="25054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Alice W.</a:t>
            </a:r>
            <a:endParaRPr lang="en-US" sz="600" dirty="0"/>
          </a:p>
        </p:txBody>
      </p:sp>
      <p:sp>
        <p:nvSpPr>
          <p:cNvPr id="153" name="Shape 151"/>
          <p:cNvSpPr/>
          <p:nvPr/>
        </p:nvSpPr>
        <p:spPr>
          <a:xfrm>
            <a:off x="2130552" y="2505456"/>
            <a:ext cx="5943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130552" y="250545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west</a:t>
            </a:r>
            <a:endParaRPr lang="en-US" sz="600" dirty="0"/>
          </a:p>
        </p:txBody>
      </p:sp>
      <p:sp>
        <p:nvSpPr>
          <p:cNvPr id="155" name="Shape 153"/>
          <p:cNvSpPr/>
          <p:nvPr/>
        </p:nvSpPr>
        <p:spPr>
          <a:xfrm>
            <a:off x="2724912" y="2505456"/>
            <a:ext cx="5943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2724912" y="250545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00" dirty="0"/>
          </a:p>
        </p:txBody>
      </p:sp>
      <p:sp>
        <p:nvSpPr>
          <p:cNvPr id="157" name="Shape 155"/>
          <p:cNvSpPr/>
          <p:nvPr/>
        </p:nvSpPr>
        <p:spPr>
          <a:xfrm>
            <a:off x="3319272" y="2505456"/>
            <a:ext cx="65836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3319272" y="250545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Mouse</a:t>
            </a:r>
            <a:endParaRPr lang="en-US" sz="600" dirty="0"/>
          </a:p>
        </p:txBody>
      </p:sp>
      <p:sp>
        <p:nvSpPr>
          <p:cNvPr id="159" name="Shape 157"/>
          <p:cNvSpPr/>
          <p:nvPr/>
        </p:nvSpPr>
        <p:spPr>
          <a:xfrm>
            <a:off x="3977640" y="2505456"/>
            <a:ext cx="3657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3977640" y="250545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3</a:t>
            </a:r>
            <a:endParaRPr lang="en-US" sz="600" dirty="0"/>
          </a:p>
        </p:txBody>
      </p:sp>
      <p:sp>
        <p:nvSpPr>
          <p:cNvPr id="161" name="Shape 159"/>
          <p:cNvSpPr/>
          <p:nvPr/>
        </p:nvSpPr>
        <p:spPr>
          <a:xfrm>
            <a:off x="4343400" y="2505456"/>
            <a:ext cx="5486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4343400" y="25054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29.99</a:t>
            </a:r>
            <a:endParaRPr lang="en-US" sz="600" dirty="0"/>
          </a:p>
        </p:txBody>
      </p:sp>
      <p:sp>
        <p:nvSpPr>
          <p:cNvPr id="163" name="Shape 161"/>
          <p:cNvSpPr/>
          <p:nvPr/>
        </p:nvSpPr>
        <p:spPr>
          <a:xfrm>
            <a:off x="4892040" y="2505456"/>
            <a:ext cx="5486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4892040" y="25054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0%</a:t>
            </a:r>
            <a:endParaRPr lang="en-US" sz="600" dirty="0"/>
          </a:p>
        </p:txBody>
      </p:sp>
      <p:sp>
        <p:nvSpPr>
          <p:cNvPr id="165" name="Shape 163"/>
          <p:cNvSpPr/>
          <p:nvPr/>
        </p:nvSpPr>
        <p:spPr>
          <a:xfrm>
            <a:off x="5440680" y="2505456"/>
            <a:ext cx="502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5440680" y="2505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null</a:t>
            </a:r>
            <a:endParaRPr lang="en-US" sz="600" dirty="0"/>
          </a:p>
        </p:txBody>
      </p:sp>
      <p:sp>
        <p:nvSpPr>
          <p:cNvPr id="167" name="Shape 165"/>
          <p:cNvSpPr/>
          <p:nvPr/>
        </p:nvSpPr>
        <p:spPr>
          <a:xfrm>
            <a:off x="5943600" y="2505456"/>
            <a:ext cx="53035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5943600" y="250545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COMPLETED</a:t>
            </a:r>
            <a:endParaRPr lang="en-US" sz="600" dirty="0"/>
          </a:p>
        </p:txBody>
      </p:sp>
      <p:sp>
        <p:nvSpPr>
          <p:cNvPr id="169" name="Shape 167"/>
          <p:cNvSpPr/>
          <p:nvPr/>
        </p:nvSpPr>
        <p:spPr>
          <a:xfrm>
            <a:off x="6473952" y="2505456"/>
            <a:ext cx="530352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6473952" y="250545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no</a:t>
            </a:r>
            <a:endParaRPr lang="en-US" sz="600" dirty="0"/>
          </a:p>
        </p:txBody>
      </p:sp>
      <p:sp>
        <p:nvSpPr>
          <p:cNvPr id="171" name="Shape 169"/>
          <p:cNvSpPr/>
          <p:nvPr/>
        </p:nvSpPr>
        <p:spPr>
          <a:xfrm>
            <a:off x="7004304" y="2505456"/>
            <a:ext cx="5943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7004304" y="250545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Sarah J.</a:t>
            </a:r>
            <a:endParaRPr lang="en-US" sz="600" dirty="0"/>
          </a:p>
        </p:txBody>
      </p:sp>
      <p:sp>
        <p:nvSpPr>
          <p:cNvPr id="173" name="Shape 171"/>
          <p:cNvSpPr/>
          <p:nvPr/>
        </p:nvSpPr>
        <p:spPr>
          <a:xfrm>
            <a:off x="7598664" y="2505456"/>
            <a:ext cx="42976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7598664" y="2505456"/>
            <a:ext cx="429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D3748"/>
                </a:solidFill>
              </a:rPr>
              <a:t>rush</a:t>
            </a:r>
            <a:endParaRPr lang="en-US" sz="600" dirty="0"/>
          </a:p>
        </p:txBody>
      </p:sp>
      <p:sp>
        <p:nvSpPr>
          <p:cNvPr id="175" name="Shape 173"/>
          <p:cNvSpPr/>
          <p:nvPr/>
        </p:nvSpPr>
        <p:spPr>
          <a:xfrm>
            <a:off x="256032" y="2852928"/>
            <a:ext cx="164592" cy="164592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457200" y="285292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1C1C"/>
                </a:solidFill>
              </a:rPr>
              <a:t>Column with issues</a:t>
            </a:r>
            <a:endParaRPr lang="en-US" sz="850" dirty="0"/>
          </a:p>
        </p:txBody>
      </p:sp>
      <p:sp>
        <p:nvSpPr>
          <p:cNvPr id="177" name="Shape 175"/>
          <p:cNvSpPr/>
          <p:nvPr/>
        </p:nvSpPr>
        <p:spPr>
          <a:xfrm>
            <a:off x="2468880" y="2852928"/>
            <a:ext cx="164592" cy="164592"/>
          </a:xfrm>
          <a:prstGeom prst="rect">
            <a:avLst/>
          </a:prstGeom>
          <a:solidFill>
            <a:srgbClr val="FFF0F0"/>
          </a:solidFill>
          <a:ln w="5080">
            <a:solidFill>
              <a:srgbClr val="7B1C1C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2670048" y="28529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B1C1C"/>
                </a:solidFill>
              </a:rPr>
              <a:t>Duplicate row</a:t>
            </a:r>
            <a:endParaRPr lang="en-US" sz="850" dirty="0"/>
          </a:p>
        </p:txBody>
      </p:sp>
      <p:sp>
        <p:nvSpPr>
          <p:cNvPr id="179" name="Shape 177"/>
          <p:cNvSpPr/>
          <p:nvPr/>
        </p:nvSpPr>
        <p:spPr>
          <a:xfrm>
            <a:off x="4206240" y="2852928"/>
            <a:ext cx="164592" cy="164592"/>
          </a:xfrm>
          <a:prstGeom prst="rect">
            <a:avLst/>
          </a:prstGeom>
          <a:solidFill>
            <a:srgbClr val="FFF8E6"/>
          </a:solidFill>
          <a:ln w="5080">
            <a:solidFill>
              <a:srgbClr val="F2A90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4407408" y="285292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4E00"/>
                </a:solidFill>
              </a:rPr>
              <a:t>Blank / null values</a:t>
            </a:r>
            <a:endParaRPr lang="en-US" sz="850" dirty="0"/>
          </a:p>
        </p:txBody>
      </p:sp>
      <p:sp>
        <p:nvSpPr>
          <p:cNvPr id="181" name="Text 179"/>
          <p:cNvSpPr/>
          <p:nvPr/>
        </p:nvSpPr>
        <p:spPr>
          <a:xfrm>
            <a:off x="256032" y="3108960"/>
            <a:ext cx="8631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544"/>
                </a:solidFill>
              </a:rPr>
              <a:t>6 ISSUES IDENTIFIED — Tasks for Power Query:</a:t>
            </a:r>
            <a:endParaRPr lang="en-US" sz="1200" dirty="0"/>
          </a:p>
        </p:txBody>
      </p:sp>
      <p:sp>
        <p:nvSpPr>
          <p:cNvPr id="182" name="Shape 180"/>
          <p:cNvSpPr/>
          <p:nvPr/>
        </p:nvSpPr>
        <p:spPr>
          <a:xfrm>
            <a:off x="256032" y="3429000"/>
            <a:ext cx="4187952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3" name="Shape 181"/>
          <p:cNvSpPr/>
          <p:nvPr/>
        </p:nvSpPr>
        <p:spPr>
          <a:xfrm>
            <a:off x="256032" y="3429000"/>
            <a:ext cx="256032" cy="45720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56032" y="34290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900"/>
                </a:solidFill>
              </a:rPr>
              <a:t>1</a:t>
            </a:r>
            <a:endParaRPr lang="en-US" sz="1100" dirty="0"/>
          </a:p>
        </p:txBody>
      </p:sp>
      <p:sp>
        <p:nvSpPr>
          <p:cNvPr id="185" name="Shape 183"/>
          <p:cNvSpPr/>
          <p:nvPr/>
        </p:nvSpPr>
        <p:spPr>
          <a:xfrm>
            <a:off x="4023360" y="3429000"/>
            <a:ext cx="420624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4023360" y="342900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Rename Columns</a:t>
            </a:r>
            <a:endParaRPr lang="en-US" sz="700" dirty="0"/>
          </a:p>
        </p:txBody>
      </p:sp>
      <p:sp>
        <p:nvSpPr>
          <p:cNvPr id="187" name="Text 185"/>
          <p:cNvSpPr/>
          <p:nvPr/>
        </p:nvSpPr>
        <p:spPr>
          <a:xfrm>
            <a:off x="566928" y="3456432"/>
            <a:ext cx="3401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544"/>
                </a:solidFill>
              </a:rPr>
              <a:t>Column naming inconsistent</a:t>
            </a:r>
            <a:endParaRPr lang="en-US" sz="1000" dirty="0"/>
          </a:p>
        </p:txBody>
      </p:sp>
      <p:sp>
        <p:nvSpPr>
          <p:cNvPr id="188" name="Text 186"/>
          <p:cNvSpPr/>
          <p:nvPr/>
        </p:nvSpPr>
        <p:spPr>
          <a:xfrm>
            <a:off x="566928" y="3666744"/>
            <a:ext cx="3401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</a:rPr>
              <a:t>Mix of UPPERCASE, lowercase, snake_case, spaces — rename all to consistent PascalCase</a:t>
            </a:r>
            <a:endParaRPr lang="en-US" sz="800" dirty="0"/>
          </a:p>
        </p:txBody>
      </p:sp>
      <p:sp>
        <p:nvSpPr>
          <p:cNvPr id="189" name="Shape 187"/>
          <p:cNvSpPr/>
          <p:nvPr/>
        </p:nvSpPr>
        <p:spPr>
          <a:xfrm>
            <a:off x="4700016" y="3429000"/>
            <a:ext cx="4187952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0" name="Shape 188"/>
          <p:cNvSpPr/>
          <p:nvPr/>
        </p:nvSpPr>
        <p:spPr>
          <a:xfrm>
            <a:off x="4700016" y="3429000"/>
            <a:ext cx="256032" cy="45720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4700016" y="34290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900"/>
                </a:solidFill>
              </a:rPr>
              <a:t>2</a:t>
            </a:r>
            <a:endParaRPr lang="en-US" sz="1100" dirty="0"/>
          </a:p>
        </p:txBody>
      </p:sp>
      <p:sp>
        <p:nvSpPr>
          <p:cNvPr id="192" name="Shape 190"/>
          <p:cNvSpPr/>
          <p:nvPr/>
        </p:nvSpPr>
        <p:spPr>
          <a:xfrm>
            <a:off x="8467344" y="3429000"/>
            <a:ext cx="420624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8467344" y="3429000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Change Type → Date</a:t>
            </a:r>
            <a:endParaRPr lang="en-US" sz="700" dirty="0"/>
          </a:p>
        </p:txBody>
      </p:sp>
      <p:sp>
        <p:nvSpPr>
          <p:cNvPr id="194" name="Text 192"/>
          <p:cNvSpPr/>
          <p:nvPr/>
        </p:nvSpPr>
        <p:spPr>
          <a:xfrm>
            <a:off x="5010912" y="3456432"/>
            <a:ext cx="3401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544"/>
                </a:solidFill>
              </a:rPr>
              <a:t>DATE column — 3 different formats</a:t>
            </a:r>
            <a:endParaRPr lang="en-US" sz="1000" dirty="0"/>
          </a:p>
        </p:txBody>
      </p:sp>
      <p:sp>
        <p:nvSpPr>
          <p:cNvPr id="195" name="Text 193"/>
          <p:cNvSpPr/>
          <p:nvPr/>
        </p:nvSpPr>
        <p:spPr>
          <a:xfrm>
            <a:off x="5010912" y="3666744"/>
            <a:ext cx="3401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</a:rPr>
              <a:t>'1/5/2024', '5-Jan-24', '2024/01/07' — Power BI cannot aggregate mixed formats</a:t>
            </a:r>
            <a:endParaRPr lang="en-US" sz="800" dirty="0"/>
          </a:p>
        </p:txBody>
      </p:sp>
      <p:sp>
        <p:nvSpPr>
          <p:cNvPr id="196" name="Shape 194"/>
          <p:cNvSpPr/>
          <p:nvPr/>
        </p:nvSpPr>
        <p:spPr>
          <a:xfrm>
            <a:off x="256032" y="3959352"/>
            <a:ext cx="4187952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7" name="Shape 195"/>
          <p:cNvSpPr/>
          <p:nvPr/>
        </p:nvSpPr>
        <p:spPr>
          <a:xfrm>
            <a:off x="256032" y="3959352"/>
            <a:ext cx="256032" cy="45720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256032" y="395935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900"/>
                </a:solidFill>
              </a:rPr>
              <a:t>3</a:t>
            </a:r>
            <a:endParaRPr lang="en-US" sz="1100" dirty="0"/>
          </a:p>
        </p:txBody>
      </p:sp>
      <p:sp>
        <p:nvSpPr>
          <p:cNvPr id="199" name="Shape 197"/>
          <p:cNvSpPr/>
          <p:nvPr/>
        </p:nvSpPr>
        <p:spPr>
          <a:xfrm>
            <a:off x="4023360" y="3959352"/>
            <a:ext cx="420624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4023360" y="395935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Remove Duplicates</a:t>
            </a:r>
            <a:endParaRPr lang="en-US" sz="700" dirty="0"/>
          </a:p>
        </p:txBody>
      </p:sp>
      <p:sp>
        <p:nvSpPr>
          <p:cNvPr id="201" name="Text 199"/>
          <p:cNvSpPr/>
          <p:nvPr/>
        </p:nvSpPr>
        <p:spPr>
          <a:xfrm>
            <a:off x="566928" y="3986784"/>
            <a:ext cx="3401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544"/>
                </a:solidFill>
              </a:rPr>
              <a:t>Duplicate rows (ORD-001 appears twice)</a:t>
            </a:r>
            <a:endParaRPr lang="en-US" sz="1000" dirty="0"/>
          </a:p>
        </p:txBody>
      </p:sp>
      <p:sp>
        <p:nvSpPr>
          <p:cNvPr id="202" name="Text 200"/>
          <p:cNvSpPr/>
          <p:nvPr/>
        </p:nvSpPr>
        <p:spPr>
          <a:xfrm>
            <a:off x="566928" y="4197096"/>
            <a:ext cx="3401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</a:rPr>
              <a:t>ERP exports often include duplicates on re-exports — must be removed by OrderID</a:t>
            </a:r>
            <a:endParaRPr lang="en-US" sz="800" dirty="0"/>
          </a:p>
        </p:txBody>
      </p:sp>
      <p:sp>
        <p:nvSpPr>
          <p:cNvPr id="203" name="Shape 201"/>
          <p:cNvSpPr/>
          <p:nvPr/>
        </p:nvSpPr>
        <p:spPr>
          <a:xfrm>
            <a:off x="4700016" y="3959352"/>
            <a:ext cx="4187952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4" name="Shape 202"/>
          <p:cNvSpPr/>
          <p:nvPr/>
        </p:nvSpPr>
        <p:spPr>
          <a:xfrm>
            <a:off x="4700016" y="3959352"/>
            <a:ext cx="256032" cy="45720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4700016" y="395935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900"/>
                </a:solidFill>
              </a:rPr>
              <a:t>4</a:t>
            </a:r>
            <a:endParaRPr lang="en-US" sz="1100" dirty="0"/>
          </a:p>
        </p:txBody>
      </p:sp>
      <p:sp>
        <p:nvSpPr>
          <p:cNvPr id="206" name="Shape 204"/>
          <p:cNvSpPr/>
          <p:nvPr/>
        </p:nvSpPr>
        <p:spPr>
          <a:xfrm>
            <a:off x="8467344" y="3959352"/>
            <a:ext cx="420624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8467344" y="3959352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Trim + Proper Case</a:t>
            </a:r>
            <a:endParaRPr lang="en-US" sz="700" dirty="0"/>
          </a:p>
        </p:txBody>
      </p:sp>
      <p:sp>
        <p:nvSpPr>
          <p:cNvPr id="208" name="Text 206"/>
          <p:cNvSpPr/>
          <p:nvPr/>
        </p:nvSpPr>
        <p:spPr>
          <a:xfrm>
            <a:off x="5010912" y="3986784"/>
            <a:ext cx="3401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544"/>
                </a:solidFill>
              </a:rPr>
              <a:t>Trailing spaces in customer names</a:t>
            </a:r>
            <a:endParaRPr lang="en-US" sz="1000" dirty="0"/>
          </a:p>
        </p:txBody>
      </p:sp>
      <p:sp>
        <p:nvSpPr>
          <p:cNvPr id="209" name="Text 207"/>
          <p:cNvSpPr/>
          <p:nvPr/>
        </p:nvSpPr>
        <p:spPr>
          <a:xfrm>
            <a:off x="5010912" y="4197096"/>
            <a:ext cx="3401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</a:rPr>
              <a:t>'john smith ' has trailing space — causes mismatches in lookups and GROUP BY</a:t>
            </a:r>
            <a:endParaRPr lang="en-US" sz="800" dirty="0"/>
          </a:p>
        </p:txBody>
      </p:sp>
      <p:sp>
        <p:nvSpPr>
          <p:cNvPr id="210" name="Shape 208"/>
          <p:cNvSpPr/>
          <p:nvPr/>
        </p:nvSpPr>
        <p:spPr>
          <a:xfrm>
            <a:off x="256032" y="4489704"/>
            <a:ext cx="4187952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1" name="Shape 209"/>
          <p:cNvSpPr/>
          <p:nvPr/>
        </p:nvSpPr>
        <p:spPr>
          <a:xfrm>
            <a:off x="256032" y="4489704"/>
            <a:ext cx="256032" cy="45720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256032" y="4489704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900"/>
                </a:solidFill>
              </a:rPr>
              <a:t>5</a:t>
            </a:r>
            <a:endParaRPr lang="en-US" sz="1100" dirty="0"/>
          </a:p>
        </p:txBody>
      </p:sp>
      <p:sp>
        <p:nvSpPr>
          <p:cNvPr id="213" name="Shape 211"/>
          <p:cNvSpPr/>
          <p:nvPr/>
        </p:nvSpPr>
        <p:spPr>
          <a:xfrm>
            <a:off x="4023360" y="4489704"/>
            <a:ext cx="420624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4023360" y="4489704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Replace + Merge Columns</a:t>
            </a:r>
            <a:endParaRPr lang="en-US" sz="700" dirty="0"/>
          </a:p>
        </p:txBody>
      </p:sp>
      <p:sp>
        <p:nvSpPr>
          <p:cNvPr id="215" name="Text 213"/>
          <p:cNvSpPr/>
          <p:nvPr/>
        </p:nvSpPr>
        <p:spPr>
          <a:xfrm>
            <a:off x="566928" y="4517136"/>
            <a:ext cx="3401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544"/>
                </a:solidFill>
              </a:rPr>
              <a:t>REGION &amp; SUB_REGION inconsistent case + separator</a:t>
            </a:r>
            <a:endParaRPr lang="en-US" sz="1000" dirty="0"/>
          </a:p>
        </p:txBody>
      </p:sp>
      <p:sp>
        <p:nvSpPr>
          <p:cNvPr id="216" name="Text 214"/>
          <p:cNvSpPr/>
          <p:nvPr/>
        </p:nvSpPr>
        <p:spPr>
          <a:xfrm>
            <a:off x="566928" y="4727448"/>
            <a:ext cx="3401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</a:rPr>
              <a:t>'North', 'SOUTH', 'west' + 'north-east', 'south_west' — merge into single Region column</a:t>
            </a:r>
            <a:endParaRPr lang="en-US" sz="800" dirty="0"/>
          </a:p>
        </p:txBody>
      </p:sp>
      <p:sp>
        <p:nvSpPr>
          <p:cNvPr id="217" name="Shape 215"/>
          <p:cNvSpPr/>
          <p:nvPr/>
        </p:nvSpPr>
        <p:spPr>
          <a:xfrm>
            <a:off x="4700016" y="4489704"/>
            <a:ext cx="4187952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8" name="Shape 216"/>
          <p:cNvSpPr/>
          <p:nvPr/>
        </p:nvSpPr>
        <p:spPr>
          <a:xfrm>
            <a:off x="4700016" y="4489704"/>
            <a:ext cx="256032" cy="457200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219" name="Text 217"/>
          <p:cNvSpPr/>
          <p:nvPr/>
        </p:nvSpPr>
        <p:spPr>
          <a:xfrm>
            <a:off x="4700016" y="4489704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A900"/>
                </a:solidFill>
              </a:rPr>
              <a:t>6</a:t>
            </a:r>
            <a:endParaRPr lang="en-US" sz="1100" dirty="0"/>
          </a:p>
        </p:txBody>
      </p:sp>
      <p:sp>
        <p:nvSpPr>
          <p:cNvPr id="220" name="Shape 218"/>
          <p:cNvSpPr/>
          <p:nvPr/>
        </p:nvSpPr>
        <p:spPr>
          <a:xfrm>
            <a:off x="8467344" y="4489704"/>
            <a:ext cx="420624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8467344" y="4489704"/>
            <a:ext cx="420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Replace + Change Type</a:t>
            </a:r>
            <a:endParaRPr lang="en-US" sz="700" dirty="0"/>
          </a:p>
        </p:txBody>
      </p:sp>
      <p:sp>
        <p:nvSpPr>
          <p:cNvPr id="222" name="Text 220"/>
          <p:cNvSpPr/>
          <p:nvPr/>
        </p:nvSpPr>
        <p:spPr>
          <a:xfrm>
            <a:off x="5010912" y="4517136"/>
            <a:ext cx="3401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544"/>
                </a:solidFill>
              </a:rPr>
              <a:t>Discount% is text, Total has 'null' as text</a:t>
            </a:r>
            <a:endParaRPr lang="en-US" sz="1000" dirty="0"/>
          </a:p>
        </p:txBody>
      </p:sp>
      <p:sp>
        <p:nvSpPr>
          <p:cNvPr id="223" name="Text 221"/>
          <p:cNvSpPr/>
          <p:nvPr/>
        </p:nvSpPr>
        <p:spPr>
          <a:xfrm>
            <a:off x="5010912" y="4727448"/>
            <a:ext cx="34015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</a:rPr>
              <a:t>Discount stored as '10%' string — strip %, convert to decimal. 'null' string ≠ blank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PROJECT — STEP 2: POWER QUERY SOLUTION  (12 APPLIED STEPS)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DAC"/>
                </a:solidFill>
              </a:rPr>
              <a:t>Follow Along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2834640" cy="9875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04672"/>
            <a:ext cx="310896" cy="9875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804672"/>
            <a:ext cx="3108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00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85039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544"/>
                </a:solidFill>
              </a:rPr>
              <a:t>Source + Navigate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1106424"/>
            <a:ext cx="2414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</a:rPr>
              <a:t>Get Data → Excel → select 'Sales_Raw' table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21792" y="1536192"/>
            <a:ext cx="2414016" cy="201168"/>
          </a:xfrm>
          <a:prstGeom prst="rect">
            <a:avLst/>
          </a:prstGeom>
          <a:solidFill>
            <a:srgbClr val="EBF5F5"/>
          </a:solidFill>
          <a:ln w="3810">
            <a:solidFill>
              <a:srgbClr val="14BDA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1545336"/>
            <a:ext cx="23408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→ Navigation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218688" y="804672"/>
            <a:ext cx="2834640" cy="9875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804672"/>
            <a:ext cx="310896" cy="9875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804672"/>
            <a:ext cx="3108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00"/>
                </a:solidFill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84448" y="85039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544"/>
                </a:solidFill>
              </a:rPr>
              <a:t>Rename All Columns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84448" y="1106424"/>
            <a:ext cx="2414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</a:rPr>
              <a:t>Right-click each header → Rename to: OrderID, Date, CustomerName, Region, SubRegion, Product, Qty, UnitPrice, DiscountPct, Total, Status, Returned, SalesRep, Notes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84448" y="1536192"/>
            <a:ext cx="2414016" cy="201168"/>
          </a:xfrm>
          <a:prstGeom prst="rect">
            <a:avLst/>
          </a:prstGeom>
          <a:solidFill>
            <a:srgbClr val="EBF5F5"/>
          </a:solidFill>
          <a:ln w="3810">
            <a:solidFill>
              <a:srgbClr val="14BD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21024" y="1545336"/>
            <a:ext cx="23408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Table.RenameColumns(...)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181344" y="804672"/>
            <a:ext cx="2834640" cy="9875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81344" y="804672"/>
            <a:ext cx="310896" cy="9875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804672"/>
            <a:ext cx="3108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00"/>
                </a:solidFill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47104" y="850392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544"/>
                </a:solidFill>
              </a:rPr>
              <a:t>Change Date Type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47104" y="1106424"/>
            <a:ext cx="2414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</a:rPr>
              <a:t>Select Date column → Data Type → Date  (Power Query auto-normalises all 3 formats)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547104" y="1536192"/>
            <a:ext cx="2414016" cy="201168"/>
          </a:xfrm>
          <a:prstGeom prst="rect">
            <a:avLst/>
          </a:prstGeom>
          <a:solidFill>
            <a:srgbClr val="EBF5F5"/>
          </a:solidFill>
          <a:ln w="3810">
            <a:solidFill>
              <a:srgbClr val="14BD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1545336"/>
            <a:ext cx="23408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Table.TransformColumnTypes(...,{{"Date",type date}})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56032" y="1865376"/>
            <a:ext cx="2834640" cy="9875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1865376"/>
            <a:ext cx="310896" cy="9875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1865376"/>
            <a:ext cx="3108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00"/>
                </a:solidFill>
              </a:rPr>
              <a:t>04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1792" y="1911096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544"/>
                </a:solidFill>
              </a:rPr>
              <a:t>Fix Discount Column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" y="2167128"/>
            <a:ext cx="2414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</a:rPr>
              <a:t>Replace Values: '10%'→'10', '5%'→'5', '0%'→'0' → Change Type → Decimal Number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21792" y="2596896"/>
            <a:ext cx="2414016" cy="201168"/>
          </a:xfrm>
          <a:prstGeom prst="rect">
            <a:avLst/>
          </a:prstGeom>
          <a:solidFill>
            <a:srgbClr val="EBF5F5"/>
          </a:solidFill>
          <a:ln w="3810">
            <a:solidFill>
              <a:srgbClr val="14BD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2606040"/>
            <a:ext cx="23408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Table.ReplaceValue(...) + TransformColumnTypes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218688" y="1865376"/>
            <a:ext cx="2834640" cy="9875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18688" y="1865376"/>
            <a:ext cx="310896" cy="9875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18688" y="1865376"/>
            <a:ext cx="3108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00"/>
                </a:solidFill>
              </a:rPr>
              <a:t>05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584448" y="1911096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544"/>
                </a:solidFill>
              </a:rPr>
              <a:t>Fix Total 'null' text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84448" y="2167128"/>
            <a:ext cx="2414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</a:rPr>
              <a:t>Replace Values: 'null' → null (empty) → Change Type → Decimal Number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584448" y="2596896"/>
            <a:ext cx="2414016" cy="201168"/>
          </a:xfrm>
          <a:prstGeom prst="rect">
            <a:avLst/>
          </a:prstGeom>
          <a:solidFill>
            <a:srgbClr val="EBF5F5"/>
          </a:solidFill>
          <a:ln w="3810">
            <a:solidFill>
              <a:srgbClr val="14BDA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21024" y="2606040"/>
            <a:ext cx="23408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Table.ReplaceValue(#"Step",'null',null,...)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181344" y="1865376"/>
            <a:ext cx="2834640" cy="9875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81344" y="1865376"/>
            <a:ext cx="310896" cy="9875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81344" y="1865376"/>
            <a:ext cx="3108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00"/>
                </a:solidFill>
              </a:rPr>
              <a:t>06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547104" y="1911096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544"/>
                </a:solidFill>
              </a:rPr>
              <a:t>Trim Customer Names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47104" y="2167128"/>
            <a:ext cx="2414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</a:rPr>
              <a:t>Select CustomerName → Transform → Format → Trim  then  Format → Capitalize Each Word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547104" y="2596896"/>
            <a:ext cx="2414016" cy="201168"/>
          </a:xfrm>
          <a:prstGeom prst="rect">
            <a:avLst/>
          </a:prstGeom>
          <a:solidFill>
            <a:srgbClr val="EBF5F5"/>
          </a:solidFill>
          <a:ln w="3810">
            <a:solidFill>
              <a:srgbClr val="14BDA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2606040"/>
            <a:ext cx="23408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Table.TransformColumns(...,{{"CustomerName",Text.Proper}})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256032" y="2926080"/>
            <a:ext cx="2834640" cy="9875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56032" y="2926080"/>
            <a:ext cx="310896" cy="98755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6032" y="2926080"/>
            <a:ext cx="3108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00"/>
                </a:solidFill>
              </a:rPr>
              <a:t>07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21792" y="297180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544"/>
                </a:solidFill>
              </a:rPr>
              <a:t>Standardise Region Case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1792" y="3227832"/>
            <a:ext cx="2414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</a:rPr>
              <a:t>Select Region → Transform → Format → Capitalize Each Word  (fixes SOUTH → South, west → West)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21792" y="3657600"/>
            <a:ext cx="2414016" cy="201168"/>
          </a:xfrm>
          <a:prstGeom prst="rect">
            <a:avLst/>
          </a:prstGeom>
          <a:solidFill>
            <a:srgbClr val="EBF5F5"/>
          </a:solidFill>
          <a:ln w="3810">
            <a:solidFill>
              <a:srgbClr val="14BDA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" y="3666744"/>
            <a:ext cx="23408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Text.Proper([Region])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3218688" y="2926080"/>
            <a:ext cx="2834640" cy="9875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218688" y="2926080"/>
            <a:ext cx="310896" cy="98755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18688" y="2926080"/>
            <a:ext cx="3108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00"/>
                </a:solidFill>
              </a:rPr>
              <a:t>08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3584448" y="297180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544"/>
                </a:solidFill>
              </a:rPr>
              <a:t>Merge Region + SubRegion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584448" y="3227832"/>
            <a:ext cx="2414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</a:rPr>
              <a:t>Ctrl+click Region, SubRegion → Transform → Merge Columns → Separator: ' – ' → name 'FullRegion'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584448" y="3657600"/>
            <a:ext cx="2414016" cy="201168"/>
          </a:xfrm>
          <a:prstGeom prst="rect">
            <a:avLst/>
          </a:prstGeom>
          <a:solidFill>
            <a:srgbClr val="EBF5F5"/>
          </a:solidFill>
          <a:ln w="3810">
            <a:solidFill>
              <a:srgbClr val="14BDA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21024" y="3666744"/>
            <a:ext cx="23408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Table.CombineColumns(...,{"Region","SubRegion"})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6181344" y="2926080"/>
            <a:ext cx="2834640" cy="9875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6181344" y="2926080"/>
            <a:ext cx="310896" cy="98755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81344" y="2926080"/>
            <a:ext cx="3108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00"/>
                </a:solidFill>
              </a:rPr>
              <a:t>09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547104" y="297180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544"/>
                </a:solidFill>
              </a:rPr>
              <a:t>Remove Duplicates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547104" y="3227832"/>
            <a:ext cx="2414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</a:rPr>
              <a:t>Select OrderID column → Home → Remove Rows → Remove Duplicates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547104" y="3657600"/>
            <a:ext cx="2414016" cy="201168"/>
          </a:xfrm>
          <a:prstGeom prst="rect">
            <a:avLst/>
          </a:prstGeom>
          <a:solidFill>
            <a:srgbClr val="EBF5F5"/>
          </a:solidFill>
          <a:ln w="3810">
            <a:solidFill>
              <a:srgbClr val="14BDA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83680" y="3666744"/>
            <a:ext cx="23408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Table.Distinct(#"Step",{"OrderID"})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256032" y="3986784"/>
            <a:ext cx="2834640" cy="9875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256032" y="3986784"/>
            <a:ext cx="310896" cy="98755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56032" y="3986784"/>
            <a:ext cx="3108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00"/>
                </a:solidFill>
              </a:rPr>
              <a:t>10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621792" y="4032504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544"/>
                </a:solidFill>
              </a:rPr>
              <a:t>Remove Notes Column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21792" y="4288536"/>
            <a:ext cx="2414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</a:rPr>
              <a:t>Select Notes column → Home → Remove Columns  (not needed for dashboard)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21792" y="4718304"/>
            <a:ext cx="2414016" cy="201168"/>
          </a:xfrm>
          <a:prstGeom prst="rect">
            <a:avLst/>
          </a:prstGeom>
          <a:solidFill>
            <a:srgbClr val="EBF5F5"/>
          </a:solidFill>
          <a:ln w="3810">
            <a:solidFill>
              <a:srgbClr val="14BDA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8368" y="4727448"/>
            <a:ext cx="23408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Table.RemoveColumns(...,{"Notes"})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3218688" y="3986784"/>
            <a:ext cx="2834640" cy="9875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3218688" y="3986784"/>
            <a:ext cx="310896" cy="98755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18688" y="3986784"/>
            <a:ext cx="3108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00"/>
                </a:solidFill>
              </a:rPr>
              <a:t>11</a:t>
            </a:r>
            <a:endParaRPr lang="en-US" sz="1300" dirty="0"/>
          </a:p>
        </p:txBody>
      </p:sp>
      <p:sp>
        <p:nvSpPr>
          <p:cNvPr id="79" name="Text 77"/>
          <p:cNvSpPr/>
          <p:nvPr/>
        </p:nvSpPr>
        <p:spPr>
          <a:xfrm>
            <a:off x="3584448" y="4032504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544"/>
                </a:solidFill>
              </a:rPr>
              <a:t>Filter Active Orders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3584448" y="4288536"/>
            <a:ext cx="2414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</a:rPr>
              <a:t>Status column dropdown → Text Filters → Equals 'completed' (case insensitive)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584448" y="4718304"/>
            <a:ext cx="2414016" cy="201168"/>
          </a:xfrm>
          <a:prstGeom prst="rect">
            <a:avLst/>
          </a:prstGeom>
          <a:solidFill>
            <a:srgbClr val="EBF5F5"/>
          </a:solidFill>
          <a:ln w="3810">
            <a:solidFill>
              <a:srgbClr val="14BDA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621024" y="4727448"/>
            <a:ext cx="23408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Table.SelectRows(...,each Text.Lower([Status])="completed")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6181344" y="3986784"/>
            <a:ext cx="2834640" cy="9875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6181344" y="3986784"/>
            <a:ext cx="310896" cy="987552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181344" y="3986784"/>
            <a:ext cx="3108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A900"/>
                </a:solidFill>
              </a:rPr>
              <a:t>12</a:t>
            </a:r>
            <a:endParaRPr lang="en-US" sz="1300" dirty="0"/>
          </a:p>
        </p:txBody>
      </p:sp>
      <p:sp>
        <p:nvSpPr>
          <p:cNvPr id="86" name="Text 84"/>
          <p:cNvSpPr/>
          <p:nvPr/>
        </p:nvSpPr>
        <p:spPr>
          <a:xfrm>
            <a:off x="6547104" y="4032504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544"/>
                </a:solidFill>
              </a:rPr>
              <a:t>Group By — Regional Summary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6547104" y="4288536"/>
            <a:ext cx="2414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8096"/>
                </a:solidFill>
              </a:rPr>
              <a:t>Home → Group By → Group by FullRegion → Sum of Total as 'RegionalSales', Count of OrderID as 'OrderCount'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547104" y="4718304"/>
            <a:ext cx="2414016" cy="201168"/>
          </a:xfrm>
          <a:prstGeom prst="rect">
            <a:avLst/>
          </a:prstGeom>
          <a:solidFill>
            <a:srgbClr val="EBF5F5"/>
          </a:solidFill>
          <a:ln w="3810">
            <a:solidFill>
              <a:srgbClr val="14BDA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583680" y="4727448"/>
            <a:ext cx="23408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Table.Group(...,{"FullRegion"},{...})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2544"/>
          </a:solidFill>
          <a:ln w="12700">
            <a:solidFill>
              <a:srgbClr val="0F25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0292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PROJECT — STEP 3: BEFORE vs AFTER RESULTS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4BDAC"/>
                </a:solidFill>
              </a:rPr>
              <a:t>GlobalMart Retail Dataset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3977640" cy="347472"/>
          </a:xfrm>
          <a:prstGeom prst="rect">
            <a:avLst/>
          </a:prstGeom>
          <a:solidFill>
            <a:srgbClr val="7B1C1C"/>
          </a:solidFill>
          <a:ln w="12700">
            <a:solidFill>
              <a:srgbClr val="7B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046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❌  BEFORE — Raw Messy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" y="1188720"/>
            <a:ext cx="566928" cy="256032"/>
          </a:xfrm>
          <a:prstGeom prst="rect">
            <a:avLst/>
          </a:prstGeom>
          <a:solidFill>
            <a:srgbClr val="0F254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1887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2A900"/>
                </a:solidFill>
              </a:rPr>
              <a:t>order_id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22960" y="1188720"/>
            <a:ext cx="566928" cy="256032"/>
          </a:xfrm>
          <a:prstGeom prst="rect">
            <a:avLst/>
          </a:prstGeom>
          <a:solidFill>
            <a:srgbClr val="0F254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1887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2A900"/>
                </a:solidFill>
              </a:rPr>
              <a:t>DATE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389888" y="1188720"/>
            <a:ext cx="658368" cy="256032"/>
          </a:xfrm>
          <a:prstGeom prst="rect">
            <a:avLst/>
          </a:prstGeom>
          <a:solidFill>
            <a:srgbClr val="0F254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9888" y="118872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2A900"/>
                </a:solidFill>
              </a:rPr>
              <a:t>cust name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048256" y="1188720"/>
            <a:ext cx="566928" cy="256032"/>
          </a:xfrm>
          <a:prstGeom prst="rect">
            <a:avLst/>
          </a:prstGeom>
          <a:solidFill>
            <a:srgbClr val="0F254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48256" y="11887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2A900"/>
                </a:solidFill>
              </a:rPr>
              <a:t>REGION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615184" y="1188720"/>
            <a:ext cx="566928" cy="256032"/>
          </a:xfrm>
          <a:prstGeom prst="rect">
            <a:avLst/>
          </a:prstGeom>
          <a:solidFill>
            <a:srgbClr val="0F254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5184" y="11887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2A900"/>
                </a:solidFill>
              </a:rPr>
              <a:t>discount%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182112" y="1188720"/>
            <a:ext cx="566928" cy="256032"/>
          </a:xfrm>
          <a:prstGeom prst="rect">
            <a:avLst/>
          </a:prstGeom>
          <a:solidFill>
            <a:srgbClr val="0F254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11887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2A900"/>
                </a:solidFill>
              </a:rPr>
              <a:t>total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3749040" y="1188720"/>
            <a:ext cx="566928" cy="256032"/>
          </a:xfrm>
          <a:prstGeom prst="rect">
            <a:avLst/>
          </a:prstGeom>
          <a:solidFill>
            <a:srgbClr val="0F254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11887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2A900"/>
                </a:solidFill>
              </a:rPr>
              <a:t>status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256032" y="146304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14630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748"/>
                </a:solidFill>
              </a:rPr>
              <a:t>ORD-001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822960" y="146304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14630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748"/>
                </a:solidFill>
              </a:rPr>
              <a:t>1/5/2024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389888" y="1463040"/>
            <a:ext cx="65836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89888" y="14630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22222"/>
                </a:solidFill>
              </a:rPr>
              <a:t>john smith 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048256" y="146304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48256" y="14630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748"/>
                </a:solidFill>
              </a:rPr>
              <a:t>North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615184" y="146304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15184" y="14630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22222"/>
                </a:solidFill>
              </a:rPr>
              <a:t>10%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182112" y="146304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82112" y="14630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748"/>
                </a:solidFill>
              </a:rPr>
              <a:t>2339.98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749040" y="146304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0" y="14630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748"/>
                </a:solidFill>
              </a:rPr>
              <a:t>completed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56032" y="1737360"/>
            <a:ext cx="566928" cy="256032"/>
          </a:xfrm>
          <a:prstGeom prst="rect">
            <a:avLst/>
          </a:prstGeom>
          <a:solidFill>
            <a:srgbClr val="FFE5E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" y="17373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B1C1C"/>
                </a:solidFill>
              </a:rPr>
              <a:t>ORD-001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22960" y="1737360"/>
            <a:ext cx="566928" cy="256032"/>
          </a:xfrm>
          <a:prstGeom prst="rect">
            <a:avLst/>
          </a:prstGeom>
          <a:solidFill>
            <a:srgbClr val="FFE5E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17373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B1C1C"/>
                </a:solidFill>
              </a:rPr>
              <a:t>1/5/2024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389888" y="1737360"/>
            <a:ext cx="658368" cy="256032"/>
          </a:xfrm>
          <a:prstGeom prst="rect">
            <a:avLst/>
          </a:prstGeom>
          <a:solidFill>
            <a:srgbClr val="FFE5E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89888" y="17373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B1C1C"/>
                </a:solidFill>
              </a:rPr>
              <a:t>john smith 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048256" y="1737360"/>
            <a:ext cx="566928" cy="256032"/>
          </a:xfrm>
          <a:prstGeom prst="rect">
            <a:avLst/>
          </a:prstGeom>
          <a:solidFill>
            <a:srgbClr val="FFE5E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48256" y="17373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B1C1C"/>
                </a:solidFill>
              </a:rPr>
              <a:t>North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615184" y="1737360"/>
            <a:ext cx="566928" cy="256032"/>
          </a:xfrm>
          <a:prstGeom prst="rect">
            <a:avLst/>
          </a:prstGeom>
          <a:solidFill>
            <a:srgbClr val="FFE5E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15184" y="17373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B1C1C"/>
                </a:solidFill>
              </a:rPr>
              <a:t>10%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182112" y="1737360"/>
            <a:ext cx="566928" cy="256032"/>
          </a:xfrm>
          <a:prstGeom prst="rect">
            <a:avLst/>
          </a:prstGeom>
          <a:solidFill>
            <a:srgbClr val="FFE5E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82112" y="17373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B1C1C"/>
                </a:solidFill>
              </a:rPr>
              <a:t>2339.98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749040" y="1737360"/>
            <a:ext cx="566928" cy="256032"/>
          </a:xfrm>
          <a:prstGeom prst="rect">
            <a:avLst/>
          </a:prstGeom>
          <a:solidFill>
            <a:srgbClr val="FFE5E5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0" y="17373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B1C1C"/>
                </a:solidFill>
              </a:rPr>
              <a:t>completed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56032" y="201168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6032" y="20116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748"/>
                </a:solidFill>
              </a:rPr>
              <a:t>ORD-003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822960" y="201168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" y="20116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748"/>
                </a:solidFill>
              </a:rPr>
              <a:t>5-Jan-24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389888" y="2011680"/>
            <a:ext cx="65836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89888" y="20116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748"/>
                </a:solidFill>
              </a:rPr>
              <a:t>Maria  G.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2048256" y="201168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48256" y="20116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22222"/>
                </a:solidFill>
              </a:rPr>
              <a:t>SOUTH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615184" y="201168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15184" y="20116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22222"/>
                </a:solidFill>
              </a:rPr>
              <a:t>0%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3182112" y="201168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182112" y="20116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748"/>
                </a:solidFill>
              </a:rPr>
              <a:t>349.50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3749040" y="201168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749040" y="20116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748"/>
                </a:solidFill>
              </a:rPr>
              <a:t>Completed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256032" y="228600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56032" y="22860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748"/>
                </a:solidFill>
              </a:rPr>
              <a:t>ORD-004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822960" y="228600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2960" y="22860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1389888" y="2286000"/>
            <a:ext cx="65836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89888" y="22860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22222"/>
                </a:solidFill>
              </a:rPr>
              <a:t>  Bob L.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2048256" y="228600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048256" y="22860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748"/>
                </a:solidFill>
              </a:rPr>
              <a:t>East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2615184" y="228600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615184" y="22860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22222"/>
                </a:solidFill>
              </a:rPr>
              <a:t>5%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3182112" y="228600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82112" y="22860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748"/>
                </a:solidFill>
              </a:rPr>
              <a:t>427.45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3749040" y="228600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749040" y="22860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748"/>
                </a:solidFill>
              </a:rPr>
              <a:t>pending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256032" y="256032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56032" y="2560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748"/>
                </a:solidFill>
              </a:rPr>
              <a:t>ORD-005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822960" y="256032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22960" y="2560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748"/>
                </a:solidFill>
              </a:rPr>
              <a:t>2024/01/07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1389888" y="2560320"/>
            <a:ext cx="65836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389888" y="256032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748"/>
                </a:solidFill>
              </a:rPr>
              <a:t>Alice W.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2048256" y="256032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048256" y="2560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22222"/>
                </a:solidFill>
              </a:rPr>
              <a:t>west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2615184" y="256032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615184" y="2560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22222"/>
                </a:solidFill>
              </a:rPr>
              <a:t>0%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3182112" y="256032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182112" y="2560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B22222"/>
                </a:solidFill>
              </a:rPr>
              <a:t>null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3749040" y="256032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749040" y="25603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D3748"/>
                </a:solidFill>
              </a:rPr>
              <a:t>COMPLETED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256032" y="2880360"/>
            <a:ext cx="3977640" cy="347472"/>
          </a:xfrm>
          <a:prstGeom prst="rect">
            <a:avLst/>
          </a:prstGeom>
          <a:solidFill>
            <a:srgbClr val="FFF5F5"/>
          </a:solidFill>
          <a:ln w="5080">
            <a:solidFill>
              <a:srgbClr val="FFB3B3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65760" y="28803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Rows: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2194560" y="28803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1C1C"/>
                </a:solidFill>
              </a:rPr>
              <a:t>2,847</a:t>
            </a:r>
            <a:endParaRPr lang="en-US" sz="1400" dirty="0"/>
          </a:p>
        </p:txBody>
      </p:sp>
      <p:sp>
        <p:nvSpPr>
          <p:cNvPr id="95" name="Shape 93"/>
          <p:cNvSpPr/>
          <p:nvPr/>
        </p:nvSpPr>
        <p:spPr>
          <a:xfrm>
            <a:off x="256032" y="3282696"/>
            <a:ext cx="3977640" cy="347472"/>
          </a:xfrm>
          <a:prstGeom prst="rect">
            <a:avLst/>
          </a:prstGeom>
          <a:solidFill>
            <a:srgbClr val="FFF5F5"/>
          </a:solidFill>
          <a:ln w="5080">
            <a:solidFill>
              <a:srgbClr val="FFB3B3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65760" y="32826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Duplicates:</a:t>
            </a:r>
            <a:endParaRPr lang="en-US" sz="1100" dirty="0"/>
          </a:p>
        </p:txBody>
      </p:sp>
      <p:sp>
        <p:nvSpPr>
          <p:cNvPr id="97" name="Text 95"/>
          <p:cNvSpPr/>
          <p:nvPr/>
        </p:nvSpPr>
        <p:spPr>
          <a:xfrm>
            <a:off x="2194560" y="32826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1C1C"/>
                </a:solidFill>
              </a:rPr>
              <a:t>143</a:t>
            </a:r>
            <a:endParaRPr lang="en-US" sz="1400" dirty="0"/>
          </a:p>
        </p:txBody>
      </p:sp>
      <p:sp>
        <p:nvSpPr>
          <p:cNvPr id="98" name="Shape 96"/>
          <p:cNvSpPr/>
          <p:nvPr/>
        </p:nvSpPr>
        <p:spPr>
          <a:xfrm>
            <a:off x="256032" y="3685032"/>
            <a:ext cx="3977640" cy="347472"/>
          </a:xfrm>
          <a:prstGeom prst="rect">
            <a:avLst/>
          </a:prstGeom>
          <a:solidFill>
            <a:srgbClr val="FFF5F5"/>
          </a:solidFill>
          <a:ln w="5080">
            <a:solidFill>
              <a:srgbClr val="FFB3B3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65760" y="368503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Blank dates: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2194560" y="36850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860B"/>
                </a:solidFill>
              </a:rPr>
              <a:t>67</a:t>
            </a:r>
            <a:endParaRPr lang="en-US" sz="1400" dirty="0"/>
          </a:p>
        </p:txBody>
      </p:sp>
      <p:sp>
        <p:nvSpPr>
          <p:cNvPr id="101" name="Shape 99"/>
          <p:cNvSpPr/>
          <p:nvPr/>
        </p:nvSpPr>
        <p:spPr>
          <a:xfrm>
            <a:off x="256032" y="4087368"/>
            <a:ext cx="3977640" cy="347472"/>
          </a:xfrm>
          <a:prstGeom prst="rect">
            <a:avLst/>
          </a:prstGeom>
          <a:solidFill>
            <a:srgbClr val="FFF5F5"/>
          </a:solidFill>
          <a:ln w="5080">
            <a:solidFill>
              <a:srgbClr val="FFB3B3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65760" y="40873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Type errors: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2194560" y="40873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1C1C"/>
                </a:solidFill>
              </a:rPr>
              <a:t>2 cols</a:t>
            </a:r>
            <a:endParaRPr lang="en-US" sz="1400" dirty="0"/>
          </a:p>
        </p:txBody>
      </p:sp>
      <p:sp>
        <p:nvSpPr>
          <p:cNvPr id="104" name="Shape 102"/>
          <p:cNvSpPr/>
          <p:nvPr/>
        </p:nvSpPr>
        <p:spPr>
          <a:xfrm>
            <a:off x="4910328" y="804672"/>
            <a:ext cx="3977640" cy="34747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910328" y="80467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✅  AFTER — Clean Shaped Data</a:t>
            </a:r>
            <a:endParaRPr lang="en-US" sz="1300" dirty="0"/>
          </a:p>
        </p:txBody>
      </p:sp>
      <p:sp>
        <p:nvSpPr>
          <p:cNvPr id="106" name="Shape 104"/>
          <p:cNvSpPr/>
          <p:nvPr/>
        </p:nvSpPr>
        <p:spPr>
          <a:xfrm>
            <a:off x="4910328" y="1188720"/>
            <a:ext cx="566928" cy="256032"/>
          </a:xfrm>
          <a:prstGeom prst="rect">
            <a:avLst/>
          </a:prstGeom>
          <a:solidFill>
            <a:srgbClr val="0F254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910328" y="11887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2A900"/>
                </a:solidFill>
              </a:rPr>
              <a:t>OrderID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5477256" y="1188720"/>
            <a:ext cx="566928" cy="256032"/>
          </a:xfrm>
          <a:prstGeom prst="rect">
            <a:avLst/>
          </a:prstGeom>
          <a:solidFill>
            <a:srgbClr val="0F254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477256" y="11887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2A900"/>
                </a:solidFill>
              </a:rPr>
              <a:t>Date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6044184" y="1188720"/>
            <a:ext cx="658368" cy="256032"/>
          </a:xfrm>
          <a:prstGeom prst="rect">
            <a:avLst/>
          </a:prstGeom>
          <a:solidFill>
            <a:srgbClr val="0F254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044184" y="118872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2A900"/>
                </a:solidFill>
              </a:rPr>
              <a:t>CustomerName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6702552" y="1188720"/>
            <a:ext cx="822960" cy="256032"/>
          </a:xfrm>
          <a:prstGeom prst="rect">
            <a:avLst/>
          </a:prstGeom>
          <a:solidFill>
            <a:srgbClr val="0F254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702552" y="11887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2A900"/>
                </a:solidFill>
              </a:rPr>
              <a:t>FullRegion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7525512" y="1188720"/>
            <a:ext cx="566928" cy="256032"/>
          </a:xfrm>
          <a:prstGeom prst="rect">
            <a:avLst/>
          </a:prstGeom>
          <a:solidFill>
            <a:srgbClr val="0F254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525512" y="11887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2A900"/>
                </a:solidFill>
              </a:rPr>
              <a:t>DiscountPct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8092440" y="1188720"/>
            <a:ext cx="502920" cy="256032"/>
          </a:xfrm>
          <a:prstGeom prst="rect">
            <a:avLst/>
          </a:prstGeom>
          <a:solidFill>
            <a:srgbClr val="0F254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092440" y="11887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2A900"/>
                </a:solidFill>
              </a:rPr>
              <a:t>Total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8595360" y="1188720"/>
            <a:ext cx="566928" cy="256032"/>
          </a:xfrm>
          <a:prstGeom prst="rect">
            <a:avLst/>
          </a:prstGeom>
          <a:solidFill>
            <a:srgbClr val="0F254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595360" y="118872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2A900"/>
                </a:solidFill>
              </a:rPr>
              <a:t>Status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4910328" y="1463040"/>
            <a:ext cx="566928" cy="256032"/>
          </a:xfrm>
          <a:prstGeom prst="rect">
            <a:avLst/>
          </a:prstGeom>
          <a:solidFill>
            <a:srgbClr val="F0FF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910328" y="14630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B3A"/>
                </a:solidFill>
              </a:rPr>
              <a:t>ORD-001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5477256" y="1463040"/>
            <a:ext cx="566928" cy="256032"/>
          </a:xfrm>
          <a:prstGeom prst="rect">
            <a:avLst/>
          </a:prstGeom>
          <a:solidFill>
            <a:srgbClr val="F0FF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477256" y="14630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B3A"/>
                </a:solidFill>
              </a:rPr>
              <a:t>05/01/2024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6044184" y="1463040"/>
            <a:ext cx="658368" cy="256032"/>
          </a:xfrm>
          <a:prstGeom prst="rect">
            <a:avLst/>
          </a:prstGeom>
          <a:solidFill>
            <a:srgbClr val="F0FF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044184" y="146304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B3A"/>
                </a:solidFill>
              </a:rPr>
              <a:t>John Smith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6702552" y="1463040"/>
            <a:ext cx="822960" cy="256032"/>
          </a:xfrm>
          <a:prstGeom prst="rect">
            <a:avLst/>
          </a:prstGeom>
          <a:solidFill>
            <a:srgbClr val="F0FF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702552" y="14630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B3A"/>
                </a:solidFill>
              </a:rPr>
              <a:t>North – North-East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7525512" y="1463040"/>
            <a:ext cx="566928" cy="256032"/>
          </a:xfrm>
          <a:prstGeom prst="rect">
            <a:avLst/>
          </a:prstGeom>
          <a:solidFill>
            <a:srgbClr val="F0FF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525512" y="14630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B3A"/>
                </a:solidFill>
              </a:rPr>
              <a:t>0.10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8092440" y="1463040"/>
            <a:ext cx="502920" cy="256032"/>
          </a:xfrm>
          <a:prstGeom prst="rect">
            <a:avLst/>
          </a:prstGeom>
          <a:solidFill>
            <a:srgbClr val="F0FF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092440" y="14630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B3A"/>
                </a:solidFill>
              </a:rPr>
              <a:t>2339.98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8595360" y="1463040"/>
            <a:ext cx="566928" cy="256032"/>
          </a:xfrm>
          <a:prstGeom prst="rect">
            <a:avLst/>
          </a:prstGeom>
          <a:solidFill>
            <a:srgbClr val="F0FF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595360" y="146304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B3A"/>
                </a:solidFill>
              </a:rPr>
              <a:t>completed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4910328" y="173736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910328" y="17373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B3A"/>
                </a:solidFill>
              </a:rPr>
              <a:t>ORD-003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5477256" y="173736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5477256" y="17373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B3A"/>
                </a:solidFill>
              </a:rPr>
              <a:t>05/01/2024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6044184" y="1737360"/>
            <a:ext cx="65836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044184" y="17373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B3A"/>
                </a:solidFill>
              </a:rPr>
              <a:t>Maria G.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6702552" y="1737360"/>
            <a:ext cx="8229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702552" y="17373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B3A"/>
                </a:solidFill>
              </a:rPr>
              <a:t>South – South-West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7525512" y="173736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7525512" y="17373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B3A"/>
                </a:solidFill>
              </a:rPr>
              <a:t>0.00</a:t>
            </a:r>
            <a:endParaRPr lang="en-US" sz="700" dirty="0"/>
          </a:p>
        </p:txBody>
      </p:sp>
      <p:sp>
        <p:nvSpPr>
          <p:cNvPr id="144" name="Shape 142"/>
          <p:cNvSpPr/>
          <p:nvPr/>
        </p:nvSpPr>
        <p:spPr>
          <a:xfrm>
            <a:off x="8092440" y="1737360"/>
            <a:ext cx="50292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8092440" y="17373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B3A"/>
                </a:solidFill>
              </a:rPr>
              <a:t>349.50</a:t>
            </a:r>
            <a:endParaRPr lang="en-US" sz="700" dirty="0"/>
          </a:p>
        </p:txBody>
      </p:sp>
      <p:sp>
        <p:nvSpPr>
          <p:cNvPr id="146" name="Shape 144"/>
          <p:cNvSpPr/>
          <p:nvPr/>
        </p:nvSpPr>
        <p:spPr>
          <a:xfrm>
            <a:off x="8595360" y="1737360"/>
            <a:ext cx="566928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8595360" y="173736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B3A"/>
                </a:solidFill>
              </a:rPr>
              <a:t>completed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4910328" y="2011680"/>
            <a:ext cx="566928" cy="256032"/>
          </a:xfrm>
          <a:prstGeom prst="rect">
            <a:avLst/>
          </a:prstGeom>
          <a:solidFill>
            <a:srgbClr val="F0FF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910328" y="20116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B3A"/>
                </a:solidFill>
              </a:rPr>
              <a:t>ORD-005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5477256" y="2011680"/>
            <a:ext cx="566928" cy="256032"/>
          </a:xfrm>
          <a:prstGeom prst="rect">
            <a:avLst/>
          </a:prstGeom>
          <a:solidFill>
            <a:srgbClr val="F0FF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5477256" y="20116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B3A"/>
                </a:solidFill>
              </a:rPr>
              <a:t>07/01/2024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6044184" y="2011680"/>
            <a:ext cx="658368" cy="256032"/>
          </a:xfrm>
          <a:prstGeom prst="rect">
            <a:avLst/>
          </a:prstGeom>
          <a:solidFill>
            <a:srgbClr val="F0FF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6044184" y="20116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B3A"/>
                </a:solidFill>
              </a:rPr>
              <a:t>Alice W.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6702552" y="2011680"/>
            <a:ext cx="822960" cy="256032"/>
          </a:xfrm>
          <a:prstGeom prst="rect">
            <a:avLst/>
          </a:prstGeom>
          <a:solidFill>
            <a:srgbClr val="F0FF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702552" y="20116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B3A"/>
                </a:solidFill>
              </a:rPr>
              <a:t>West – West</a:t>
            </a:r>
            <a:endParaRPr lang="en-US" sz="700" dirty="0"/>
          </a:p>
        </p:txBody>
      </p:sp>
      <p:sp>
        <p:nvSpPr>
          <p:cNvPr id="156" name="Shape 154"/>
          <p:cNvSpPr/>
          <p:nvPr/>
        </p:nvSpPr>
        <p:spPr>
          <a:xfrm>
            <a:off x="7525512" y="2011680"/>
            <a:ext cx="566928" cy="256032"/>
          </a:xfrm>
          <a:prstGeom prst="rect">
            <a:avLst/>
          </a:prstGeom>
          <a:solidFill>
            <a:srgbClr val="F0FF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7525512" y="20116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B3A"/>
                </a:solidFill>
              </a:rPr>
              <a:t>0.00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8092440" y="2011680"/>
            <a:ext cx="502920" cy="256032"/>
          </a:xfrm>
          <a:prstGeom prst="rect">
            <a:avLst/>
          </a:prstGeom>
          <a:solidFill>
            <a:srgbClr val="F0FF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8092440" y="20116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B3A"/>
                </a:solidFill>
              </a:rPr>
              <a:t>(blank)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8595360" y="2011680"/>
            <a:ext cx="566928" cy="256032"/>
          </a:xfrm>
          <a:prstGeom prst="rect">
            <a:avLst/>
          </a:prstGeom>
          <a:solidFill>
            <a:srgbClr val="F0FF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8595360" y="201168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6B3A"/>
                </a:solidFill>
              </a:rPr>
              <a:t>completed</a:t>
            </a:r>
            <a:endParaRPr lang="en-US" sz="700" dirty="0"/>
          </a:p>
        </p:txBody>
      </p:sp>
      <p:sp>
        <p:nvSpPr>
          <p:cNvPr id="162" name="Shape 160"/>
          <p:cNvSpPr/>
          <p:nvPr/>
        </p:nvSpPr>
        <p:spPr>
          <a:xfrm>
            <a:off x="4910328" y="2194560"/>
            <a:ext cx="3977640" cy="2560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4910328" y="21945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A900"/>
                </a:solidFill>
              </a:rPr>
              <a:t>GROUP BY — Regional Summary Table</a:t>
            </a:r>
            <a:endParaRPr lang="en-US" sz="1000" dirty="0"/>
          </a:p>
        </p:txBody>
      </p:sp>
      <p:sp>
        <p:nvSpPr>
          <p:cNvPr id="164" name="Shape 162"/>
          <p:cNvSpPr/>
          <p:nvPr/>
        </p:nvSpPr>
        <p:spPr>
          <a:xfrm>
            <a:off x="4910328" y="2468880"/>
            <a:ext cx="1737360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4910328" y="246888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FullRegion</a:t>
            </a:r>
            <a:endParaRPr lang="en-US" sz="800" dirty="0"/>
          </a:p>
        </p:txBody>
      </p:sp>
      <p:sp>
        <p:nvSpPr>
          <p:cNvPr id="166" name="Shape 164"/>
          <p:cNvSpPr/>
          <p:nvPr/>
        </p:nvSpPr>
        <p:spPr>
          <a:xfrm>
            <a:off x="6647688" y="2468880"/>
            <a:ext cx="1234440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6647688" y="246888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RegionalSales</a:t>
            </a:r>
            <a:endParaRPr lang="en-US" sz="800" dirty="0"/>
          </a:p>
        </p:txBody>
      </p:sp>
      <p:sp>
        <p:nvSpPr>
          <p:cNvPr id="168" name="Shape 166"/>
          <p:cNvSpPr/>
          <p:nvPr/>
        </p:nvSpPr>
        <p:spPr>
          <a:xfrm>
            <a:off x="7882128" y="2468880"/>
            <a:ext cx="1005840" cy="23774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7882128" y="24688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OrderCount</a:t>
            </a:r>
            <a:endParaRPr lang="en-US" sz="800" dirty="0"/>
          </a:p>
        </p:txBody>
      </p:sp>
      <p:sp>
        <p:nvSpPr>
          <p:cNvPr id="170" name="Shape 168"/>
          <p:cNvSpPr/>
          <p:nvPr/>
        </p:nvSpPr>
        <p:spPr>
          <a:xfrm>
            <a:off x="4910328" y="2743200"/>
            <a:ext cx="1737360" cy="228600"/>
          </a:xfrm>
          <a:prstGeom prst="rect">
            <a:avLst/>
          </a:prstGeom>
          <a:solidFill>
            <a:srgbClr val="F0FF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4910328" y="27432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748"/>
                </a:solidFill>
              </a:rPr>
              <a:t>North – North-East</a:t>
            </a:r>
            <a:endParaRPr lang="en-US" sz="800" dirty="0"/>
          </a:p>
        </p:txBody>
      </p:sp>
      <p:sp>
        <p:nvSpPr>
          <p:cNvPr id="172" name="Shape 170"/>
          <p:cNvSpPr/>
          <p:nvPr/>
        </p:nvSpPr>
        <p:spPr>
          <a:xfrm>
            <a:off x="6647688" y="2743200"/>
            <a:ext cx="1234440" cy="228600"/>
          </a:xfrm>
          <a:prstGeom prst="rect">
            <a:avLst/>
          </a:prstGeom>
          <a:solidFill>
            <a:srgbClr val="F0FF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6647688" y="2743200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6B3A"/>
                </a:solidFill>
              </a:rPr>
              <a:t>$284,720</a:t>
            </a:r>
            <a:endParaRPr lang="en-US" sz="800" dirty="0"/>
          </a:p>
        </p:txBody>
      </p:sp>
      <p:sp>
        <p:nvSpPr>
          <p:cNvPr id="174" name="Shape 172"/>
          <p:cNvSpPr/>
          <p:nvPr/>
        </p:nvSpPr>
        <p:spPr>
          <a:xfrm>
            <a:off x="7882128" y="2743200"/>
            <a:ext cx="1005840" cy="228600"/>
          </a:xfrm>
          <a:prstGeom prst="rect">
            <a:avLst/>
          </a:prstGeom>
          <a:solidFill>
            <a:srgbClr val="F0FF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7882128" y="27432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748"/>
                </a:solidFill>
              </a:rPr>
              <a:t>412</a:t>
            </a:r>
            <a:endParaRPr lang="en-US" sz="800" dirty="0"/>
          </a:p>
        </p:txBody>
      </p:sp>
      <p:sp>
        <p:nvSpPr>
          <p:cNvPr id="176" name="Shape 174"/>
          <p:cNvSpPr/>
          <p:nvPr/>
        </p:nvSpPr>
        <p:spPr>
          <a:xfrm>
            <a:off x="4910328" y="2990088"/>
            <a:ext cx="173736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910328" y="29900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748"/>
                </a:solidFill>
              </a:rPr>
              <a:t>South – South-West</a:t>
            </a:r>
            <a:endParaRPr lang="en-US" sz="800" dirty="0"/>
          </a:p>
        </p:txBody>
      </p:sp>
      <p:sp>
        <p:nvSpPr>
          <p:cNvPr id="178" name="Shape 176"/>
          <p:cNvSpPr/>
          <p:nvPr/>
        </p:nvSpPr>
        <p:spPr>
          <a:xfrm>
            <a:off x="6647688" y="2990088"/>
            <a:ext cx="123444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6647688" y="299008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6B3A"/>
                </a:solidFill>
              </a:rPr>
              <a:t>$198,340</a:t>
            </a:r>
            <a:endParaRPr lang="en-US" sz="800" dirty="0"/>
          </a:p>
        </p:txBody>
      </p:sp>
      <p:sp>
        <p:nvSpPr>
          <p:cNvPr id="180" name="Shape 178"/>
          <p:cNvSpPr/>
          <p:nvPr/>
        </p:nvSpPr>
        <p:spPr>
          <a:xfrm>
            <a:off x="7882128" y="2990088"/>
            <a:ext cx="100584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7882128" y="29900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748"/>
                </a:solidFill>
              </a:rPr>
              <a:t>287</a:t>
            </a:r>
            <a:endParaRPr lang="en-US" sz="800" dirty="0"/>
          </a:p>
        </p:txBody>
      </p:sp>
      <p:sp>
        <p:nvSpPr>
          <p:cNvPr id="182" name="Shape 180"/>
          <p:cNvSpPr/>
          <p:nvPr/>
        </p:nvSpPr>
        <p:spPr>
          <a:xfrm>
            <a:off x="4910328" y="3236976"/>
            <a:ext cx="1737360" cy="228600"/>
          </a:xfrm>
          <a:prstGeom prst="rect">
            <a:avLst/>
          </a:prstGeom>
          <a:solidFill>
            <a:srgbClr val="F0FF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4910328" y="323697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748"/>
                </a:solidFill>
              </a:rPr>
              <a:t>East – East</a:t>
            </a:r>
            <a:endParaRPr lang="en-US" sz="800" dirty="0"/>
          </a:p>
        </p:txBody>
      </p:sp>
      <p:sp>
        <p:nvSpPr>
          <p:cNvPr id="184" name="Shape 182"/>
          <p:cNvSpPr/>
          <p:nvPr/>
        </p:nvSpPr>
        <p:spPr>
          <a:xfrm>
            <a:off x="6647688" y="3236976"/>
            <a:ext cx="1234440" cy="228600"/>
          </a:xfrm>
          <a:prstGeom prst="rect">
            <a:avLst/>
          </a:prstGeom>
          <a:solidFill>
            <a:srgbClr val="F0FF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6647688" y="3236976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6B3A"/>
                </a:solidFill>
              </a:rPr>
              <a:t>$167,890</a:t>
            </a:r>
            <a:endParaRPr lang="en-US" sz="800" dirty="0"/>
          </a:p>
        </p:txBody>
      </p:sp>
      <p:sp>
        <p:nvSpPr>
          <p:cNvPr id="186" name="Shape 184"/>
          <p:cNvSpPr/>
          <p:nvPr/>
        </p:nvSpPr>
        <p:spPr>
          <a:xfrm>
            <a:off x="7882128" y="3236976"/>
            <a:ext cx="1005840" cy="228600"/>
          </a:xfrm>
          <a:prstGeom prst="rect">
            <a:avLst/>
          </a:prstGeom>
          <a:solidFill>
            <a:srgbClr val="F0FFF4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7882128" y="323697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748"/>
                </a:solidFill>
              </a:rPr>
              <a:t>254</a:t>
            </a:r>
            <a:endParaRPr lang="en-US" sz="800" dirty="0"/>
          </a:p>
        </p:txBody>
      </p:sp>
      <p:sp>
        <p:nvSpPr>
          <p:cNvPr id="188" name="Shape 186"/>
          <p:cNvSpPr/>
          <p:nvPr/>
        </p:nvSpPr>
        <p:spPr>
          <a:xfrm>
            <a:off x="4910328" y="3483864"/>
            <a:ext cx="173736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4910328" y="34838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748"/>
                </a:solidFill>
              </a:rPr>
              <a:t>West – West</a:t>
            </a:r>
            <a:endParaRPr lang="en-US" sz="800" dirty="0"/>
          </a:p>
        </p:txBody>
      </p:sp>
      <p:sp>
        <p:nvSpPr>
          <p:cNvPr id="190" name="Shape 188"/>
          <p:cNvSpPr/>
          <p:nvPr/>
        </p:nvSpPr>
        <p:spPr>
          <a:xfrm>
            <a:off x="6647688" y="3483864"/>
            <a:ext cx="123444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6647688" y="348386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6B3A"/>
                </a:solidFill>
              </a:rPr>
              <a:t>$221,650</a:t>
            </a:r>
            <a:endParaRPr lang="en-US" sz="800" dirty="0"/>
          </a:p>
        </p:txBody>
      </p:sp>
      <p:sp>
        <p:nvSpPr>
          <p:cNvPr id="192" name="Shape 190"/>
          <p:cNvSpPr/>
          <p:nvPr/>
        </p:nvSpPr>
        <p:spPr>
          <a:xfrm>
            <a:off x="7882128" y="3483864"/>
            <a:ext cx="1005840" cy="22860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7882128" y="34838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D3748"/>
                </a:solidFill>
              </a:rPr>
              <a:t>318</a:t>
            </a:r>
            <a:endParaRPr lang="en-US" sz="800" dirty="0"/>
          </a:p>
        </p:txBody>
      </p:sp>
      <p:sp>
        <p:nvSpPr>
          <p:cNvPr id="194" name="Shape 192"/>
          <p:cNvSpPr/>
          <p:nvPr/>
        </p:nvSpPr>
        <p:spPr>
          <a:xfrm>
            <a:off x="4910328" y="2880360"/>
            <a:ext cx="3977640" cy="347472"/>
          </a:xfrm>
          <a:prstGeom prst="rect">
            <a:avLst/>
          </a:prstGeom>
          <a:solidFill>
            <a:srgbClr val="F0FFF4"/>
          </a:solidFill>
          <a:ln w="5080">
            <a:solidFill>
              <a:srgbClr val="A8D5A2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5020056" y="28803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Clean Rows:</a:t>
            </a:r>
            <a:endParaRPr lang="en-US" sz="1100" dirty="0"/>
          </a:p>
        </p:txBody>
      </p:sp>
      <p:sp>
        <p:nvSpPr>
          <p:cNvPr id="196" name="Text 194"/>
          <p:cNvSpPr/>
          <p:nvPr/>
        </p:nvSpPr>
        <p:spPr>
          <a:xfrm>
            <a:off x="7040880" y="28803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A"/>
                </a:solidFill>
              </a:rPr>
              <a:t>2,704</a:t>
            </a:r>
            <a:endParaRPr lang="en-US" sz="1400" dirty="0"/>
          </a:p>
        </p:txBody>
      </p:sp>
      <p:sp>
        <p:nvSpPr>
          <p:cNvPr id="197" name="Shape 195"/>
          <p:cNvSpPr/>
          <p:nvPr/>
        </p:nvSpPr>
        <p:spPr>
          <a:xfrm>
            <a:off x="4910328" y="3282696"/>
            <a:ext cx="3977640" cy="347472"/>
          </a:xfrm>
          <a:prstGeom prst="rect">
            <a:avLst/>
          </a:prstGeom>
          <a:solidFill>
            <a:srgbClr val="F0FFF4"/>
          </a:solidFill>
          <a:ln w="5080">
            <a:solidFill>
              <a:srgbClr val="A8D5A2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5020056" y="32826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Duplicates:</a:t>
            </a:r>
            <a:endParaRPr lang="en-US" sz="1100" dirty="0"/>
          </a:p>
        </p:txBody>
      </p:sp>
      <p:sp>
        <p:nvSpPr>
          <p:cNvPr id="199" name="Text 197"/>
          <p:cNvSpPr/>
          <p:nvPr/>
        </p:nvSpPr>
        <p:spPr>
          <a:xfrm>
            <a:off x="7040880" y="328269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A"/>
                </a:solidFill>
              </a:rPr>
              <a:t>0</a:t>
            </a:r>
            <a:endParaRPr lang="en-US" sz="1400" dirty="0"/>
          </a:p>
        </p:txBody>
      </p:sp>
      <p:sp>
        <p:nvSpPr>
          <p:cNvPr id="200" name="Shape 198"/>
          <p:cNvSpPr/>
          <p:nvPr/>
        </p:nvSpPr>
        <p:spPr>
          <a:xfrm>
            <a:off x="4910328" y="3685032"/>
            <a:ext cx="3977640" cy="347472"/>
          </a:xfrm>
          <a:prstGeom prst="rect">
            <a:avLst/>
          </a:prstGeom>
          <a:solidFill>
            <a:srgbClr val="F0FFF4"/>
          </a:solidFill>
          <a:ln w="5080">
            <a:solidFill>
              <a:srgbClr val="A8D5A2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5020056" y="368503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Data Types OK:</a:t>
            </a:r>
            <a:endParaRPr lang="en-US" sz="1100" dirty="0"/>
          </a:p>
        </p:txBody>
      </p:sp>
      <p:sp>
        <p:nvSpPr>
          <p:cNvPr id="202" name="Text 200"/>
          <p:cNvSpPr/>
          <p:nvPr/>
        </p:nvSpPr>
        <p:spPr>
          <a:xfrm>
            <a:off x="7040880" y="368503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A"/>
                </a:solidFill>
              </a:rPr>
              <a:t>✔ All</a:t>
            </a:r>
            <a:endParaRPr lang="en-US" sz="1400" dirty="0"/>
          </a:p>
        </p:txBody>
      </p:sp>
      <p:sp>
        <p:nvSpPr>
          <p:cNvPr id="203" name="Shape 201"/>
          <p:cNvSpPr/>
          <p:nvPr/>
        </p:nvSpPr>
        <p:spPr>
          <a:xfrm>
            <a:off x="4910328" y="4087368"/>
            <a:ext cx="3977640" cy="347472"/>
          </a:xfrm>
          <a:prstGeom prst="rect">
            <a:avLst/>
          </a:prstGeom>
          <a:solidFill>
            <a:srgbClr val="F0FFF4"/>
          </a:solidFill>
          <a:ln w="5080">
            <a:solidFill>
              <a:srgbClr val="A8D5A2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5020056" y="40873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</a:rPr>
              <a:t>Ready for DAX:</a:t>
            </a:r>
            <a:endParaRPr lang="en-US" sz="1100" dirty="0"/>
          </a:p>
        </p:txBody>
      </p:sp>
      <p:sp>
        <p:nvSpPr>
          <p:cNvPr id="205" name="Text 203"/>
          <p:cNvSpPr/>
          <p:nvPr/>
        </p:nvSpPr>
        <p:spPr>
          <a:xfrm>
            <a:off x="7040880" y="40873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6B3A"/>
                </a:solidFill>
              </a:rPr>
              <a:t>✔ Yes</a:t>
            </a:r>
            <a:endParaRPr lang="en-US" sz="1400" dirty="0"/>
          </a:p>
        </p:txBody>
      </p:sp>
      <p:sp>
        <p:nvSpPr>
          <p:cNvPr id="206" name="Shape 204"/>
          <p:cNvSpPr/>
          <p:nvPr/>
        </p:nvSpPr>
        <p:spPr>
          <a:xfrm>
            <a:off x="4279392" y="2286000"/>
            <a:ext cx="585216" cy="50292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07" name="Text 205"/>
          <p:cNvSpPr/>
          <p:nvPr/>
        </p:nvSpPr>
        <p:spPr>
          <a:xfrm>
            <a:off x="4279392" y="2286000"/>
            <a:ext cx="5852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544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</a:rPr>
              <a:t>SESSION 2 — KEY TAKEAWAYS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621792"/>
            <a:ext cx="8503920" cy="36576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804672"/>
            <a:ext cx="4187952" cy="1261872"/>
          </a:xfrm>
          <a:prstGeom prst="rect">
            <a:avLst/>
          </a:prstGeom>
          <a:solidFill>
            <a:srgbClr val="1A3A6B"/>
          </a:solidFill>
          <a:ln w="762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04672"/>
            <a:ext cx="4187952" cy="54864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896112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914400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00"/>
                </a:solidFill>
              </a:rPr>
              <a:t>Power Query is your ETL engine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261872"/>
            <a:ext cx="34381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</a:rPr>
              <a:t>All transforms are recorded as M code, auto-replay on refresh, and NEVER touch the source file.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0016" y="804672"/>
            <a:ext cx="4187952" cy="1261872"/>
          </a:xfrm>
          <a:prstGeom prst="rect">
            <a:avLst/>
          </a:prstGeom>
          <a:solidFill>
            <a:srgbClr val="1A3A6B"/>
          </a:solidFill>
          <a:ln w="762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0016" y="804672"/>
            <a:ext cx="4187952" cy="54864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896112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🔢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358384" y="914400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00"/>
                </a:solidFill>
              </a:rPr>
              <a:t>Fix data types FIRST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58384" y="1261872"/>
            <a:ext cx="34381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</a:rPr>
              <a:t>Wrong types cause calculation errors. Always set Date, Number, and Text types before any other operation.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2176272"/>
            <a:ext cx="4187952" cy="1261872"/>
          </a:xfrm>
          <a:prstGeom prst="rect">
            <a:avLst/>
          </a:prstGeom>
          <a:solidFill>
            <a:srgbClr val="1A3A6B"/>
          </a:solidFill>
          <a:ln w="762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176272"/>
            <a:ext cx="4187952" cy="54864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2267712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🧹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14400" y="2286000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00"/>
                </a:solidFill>
              </a:rPr>
              <a:t>Cleaning order matters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2633472"/>
            <a:ext cx="34381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</a:rPr>
              <a:t>Sequence: Types → Trim/Clean → Remove Duplicates → Replace Values → Fill Down → Filter.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0016" y="2176272"/>
            <a:ext cx="4187952" cy="1261872"/>
          </a:xfrm>
          <a:prstGeom prst="rect">
            <a:avLst/>
          </a:prstGeom>
          <a:solidFill>
            <a:srgbClr val="1A3A6B"/>
          </a:solidFill>
          <a:ln w="762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0016" y="2176272"/>
            <a:ext cx="4187952" cy="54864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0016" y="2267712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📐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358384" y="2286000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00"/>
                </a:solidFill>
              </a:rPr>
              <a:t>Pivot &amp; Unpivot are power tools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58384" y="2633472"/>
            <a:ext cx="34381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</a:rPr>
              <a:t>Most Excel reports are wide-format. Unpivot them to long-format for proper Power BI aggregation.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3547872"/>
            <a:ext cx="4187952" cy="1261872"/>
          </a:xfrm>
          <a:prstGeom prst="rect">
            <a:avLst/>
          </a:prstGeom>
          <a:solidFill>
            <a:srgbClr val="1A3A6B"/>
          </a:solidFill>
          <a:ln w="762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3547872"/>
            <a:ext cx="4187952" cy="54864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3639312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14400" y="3657600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00"/>
                </a:solidFill>
              </a:rPr>
              <a:t>Group By creates summary tables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4005072"/>
            <a:ext cx="34381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</a:rPr>
              <a:t>Use Group By to create aggregate reference tables — perfect for KPI cards and dashboard metrics.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0016" y="3547872"/>
            <a:ext cx="4187952" cy="1261872"/>
          </a:xfrm>
          <a:prstGeom prst="rect">
            <a:avLst/>
          </a:prstGeom>
          <a:solidFill>
            <a:srgbClr val="1A3A6B"/>
          </a:solidFill>
          <a:ln w="762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1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0016" y="3547872"/>
            <a:ext cx="4187952" cy="54864"/>
          </a:xfrm>
          <a:prstGeom prst="rect">
            <a:avLst/>
          </a:prstGeom>
          <a:solidFill>
            <a:srgbClr val="14BDAC"/>
          </a:solidFill>
          <a:ln w="12700">
            <a:solidFill>
              <a:srgbClr val="14BD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0016" y="3639312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🏗️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5358384" y="3657600"/>
            <a:ext cx="34381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900"/>
                </a:solidFill>
              </a:rPr>
              <a:t>Applied Steps = your audit trail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58384" y="4005072"/>
            <a:ext cx="34381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</a:rPr>
              <a:t>Every step is named and reversible. Click any step to inspect the data at that point in the pipeline.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6032" y="4700016"/>
            <a:ext cx="8631936" cy="3383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700016"/>
            <a:ext cx="844905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NEXT →  S3: Building your first report — visuals, slicers &amp; simple relationships  |  Cross-ref: W10 Python-based cleaning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2801</Words>
  <Application>Microsoft Office PowerPoint</Application>
  <PresentationFormat>On-screen Show (16:9)</PresentationFormat>
  <Paragraphs>541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Query Editor — Transformations, Data Shaping &amp; Cleaning</dc:title>
  <dc:subject>PptxGenJS Presentation</dc:subject>
  <dc:creator>PptxGenJS</dc:creator>
  <cp:lastModifiedBy>Prachi Kabra</cp:lastModifiedBy>
  <cp:revision>1</cp:revision>
  <dcterms:created xsi:type="dcterms:W3CDTF">2026-05-15T07:26:21Z</dcterms:created>
  <dcterms:modified xsi:type="dcterms:W3CDTF">2026-05-15T09:19:11Z</dcterms:modified>
</cp:coreProperties>
</file>